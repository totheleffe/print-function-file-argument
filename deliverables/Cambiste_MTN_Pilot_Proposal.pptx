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osal" id="{2ccee7ad-c590-b1ee-1d16-80144a8c4e9b}">
          <p14:sldIdLst>
            <p14:sldId id="256"/>
            <p14:sldId id="257"/>
          </p14:sldIdLst>
        </p14:section>
        <p14:section name="Operating model" id="{765d96e9-836e-3b6d-f17a-ad94340596ea}">
          <p14:sldIdLst>
            <p14:sldId id="258"/>
            <p14:sldId id="259"/>
          </p14:sldIdLst>
        </p14:section>
        <p14:section name="Value &amp; pilot" id="{801e499d-c406-c7c7-f094-19887a649e77}">
          <p14:sldIdLst>
            <p14:sldId id="260"/>
            <p14:sldId id="261"/>
          </p14:sldIdLst>
        </p14:section>
        <p14:section name="Next steps" id="{0eb2b529-45c4-cb0a-fe8d-73fc88ac6fce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open a discussion, not announce a product. This is a pilot proposal to be built together with MTN.
Sensitive points: nothing is launched, licensed, integrated or contracted yet. Ripple is the envisaged partner for the target architecture; the Cambiste–Ripple distribution partnership is still being formalised. Do not use 'powered by Ripple' or imply a joint brand. Customers only ever handle fiat.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 from the customer's point of view: initiate, review quote and beneficiary, pay in local currency, track delivery.
Sensitive points: this journey is a target to design together. Do not suggest any of these screens or functions already exist in the MTN app. Individuals and SMEs are target segments only; eligibility (KYC level, limits, corridors) will be defined with MTN and the licensed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flow left to right. Solid arrows are funds; dashed lines are instructions and data from Cambiste.
Key message: fiat in, fiat out. The stablecoin is only an institutional settlement rail between participants; customers never hold or see it.
Sensitive points: Cambiste sits above the flow and never touches funds. MTN holds no crypto-assets and offers no crypto product. RLUSD is an option to validate, not a requirement; the asset, network, licensed partner and Ripple entities per corridor are all to be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row per participant: what it does, and where its responsibility stops.
Sensitive points: this separation does NOT exempt any participant from its own regulatory obligations. We are not proposing who performs KYC/AML, sanctions screening, monitoring, reporting or complaints handling — that allocation must be agreed between the parties. Do not attribute custody to Cambiste. Ripple entities and licences are subject to what is actually available per corridor.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value levers for MTN: new transaction revenue, better payment economics, more wallet usage, and a scalable route to international bank payouts.
Sensitive points: no price, revenue share, margin gain or saving is quoted — the economic model (service fee, conversion/liquidity cost, payout cost, participant remuneration) is to be agreed and measured in the pilot. 24/7 is a processing target, not a promise of instant credit: actual credit time depends on the corridor and the receiving banks.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country workstreams, each subject to its own local validation (entity, licensed partner, regulatory requirements). A shared design: a few destination corridors chosen together, an agreed customer cohort and agreed limits.
Sequence: readiness validation, end-to-end testing, then a controlled opening.
Sensitive points: the 90 days is a proposal and starts only once operational readiness is validated. No volumes, regulatory limits or available destinations are assumed — they will be set together. KPIs are listed without targets for the same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concrete alignment: five decisions to open the pilot workstreams, and one next step — a joint scoping workshop.
Sensitive points: Ripple's participation in the workshop is a proposal, subject to Ripple's availability and agreement; the Cambiste–Ripple partnership is still being formalised. Do not commit dates, pricing or regulatory outcomes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mbiste 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234440"/>
            <a:ext cx="4480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697480"/>
            <a:ext cx="4206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mbiste 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Cambiste  |  Pilot proposal  |  For discussion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mbiste Closing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Cambiste  |  Pilot proposal  |  For discussion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"/>
          <p:cNvSpPr txBox="1"/>
          <p:nvPr/>
        </p:nvSpPr>
        <p:spPr>
          <a:xfrm>
            <a:off x="45720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CAMBISTE</a:t>
            </a:r>
            <a:endParaRPr lang="en-US" sz="1400" dirty="0"/>
          </a:p>
        </p:txBody>
      </p:sp>
      <p:sp>
        <p:nvSpPr>
          <p:cNvPr id="3" name="Tagline"/>
          <p:cNvSpPr txBox="1"/>
          <p:nvPr/>
        </p:nvSpPr>
        <p:spPr>
          <a:xfrm>
            <a:off x="457200" y="685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Connecting African wallets to Global Banking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123444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From MTN wallets to global bank accounts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457200" y="2697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 proposed pilot for outbound international payments from Nigeria and Ghana</a:t>
            </a:r>
            <a:endParaRPr lang="en-US" sz="1500" dirty="0"/>
          </a:p>
        </p:txBody>
      </p:sp>
      <p:sp>
        <p:nvSpPr>
          <p:cNvPr id="6" name="Status mention"/>
          <p:cNvSpPr txBox="1"/>
          <p:nvPr/>
        </p:nvSpPr>
        <p:spPr>
          <a:xfrm>
            <a:off x="45720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Pilot proposal  |  For discussion</a:t>
            </a:r>
            <a:endParaRPr lang="en-US" sz="1100" dirty="0"/>
          </a:p>
        </p:txBody>
      </p:sp>
      <p:sp>
        <p:nvSpPr>
          <p:cNvPr id="7" name="Visual panel"/>
          <p:cNvSpPr/>
          <p:nvPr/>
        </p:nvSpPr>
        <p:spPr>
          <a:xfrm>
            <a:off x="5074920" y="914400"/>
            <a:ext cx="3611880" cy="3291840"/>
          </a:xfrm>
          <a:prstGeom prst="roundRect">
            <a:avLst>
              <a:gd name="adj" fmla="val 4167"/>
            </a:avLst>
          </a:prstGeom>
          <a:solidFill>
            <a:schemeClr val="accent4"/>
          </a:solidFill>
          <a:ln/>
        </p:spPr>
      </p:sp>
      <p:sp>
        <p:nvSpPr>
          <p:cNvPr id="8" name="Wallet circle"/>
          <p:cNvSpPr/>
          <p:nvPr/>
        </p:nvSpPr>
        <p:spPr>
          <a:xfrm>
            <a:off x="5349240" y="1600200"/>
            <a:ext cx="1051560" cy="10515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9" name="Walle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3161" y="1884121"/>
            <a:ext cx="483718" cy="483718"/>
          </a:xfrm>
          <a:prstGeom prst="rect">
            <a:avLst/>
          </a:prstGeom>
        </p:spPr>
      </p:pic>
      <p:sp>
        <p:nvSpPr>
          <p:cNvPr id="10" name="Bank circle"/>
          <p:cNvSpPr/>
          <p:nvPr/>
        </p:nvSpPr>
        <p:spPr>
          <a:xfrm>
            <a:off x="7360920" y="1600200"/>
            <a:ext cx="1051560" cy="1051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Ban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841" y="1884121"/>
            <a:ext cx="483718" cy="483718"/>
          </a:xfrm>
          <a:prstGeom prst="rect">
            <a:avLst/>
          </a:prstGeom>
        </p:spPr>
      </p:pic>
      <p:sp>
        <p:nvSpPr>
          <p:cNvPr id="12" name="Flow arrow"/>
          <p:cNvSpPr/>
          <p:nvPr/>
        </p:nvSpPr>
        <p:spPr>
          <a:xfrm>
            <a:off x="6492240" y="2125980"/>
            <a:ext cx="77724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Orchestration label"/>
          <p:cNvSpPr txBox="1"/>
          <p:nvPr/>
        </p:nvSpPr>
        <p:spPr>
          <a:xfrm>
            <a:off x="6263640" y="16916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Cambiste</a:t>
            </a:r>
            <a:endParaRPr lang="en-US" sz="1000" dirty="0"/>
          </a:p>
        </p:txBody>
      </p:sp>
      <p:sp>
        <p:nvSpPr>
          <p:cNvPr id="14" name="Wallet label"/>
          <p:cNvSpPr txBox="1"/>
          <p:nvPr/>
        </p:nvSpPr>
        <p:spPr>
          <a:xfrm>
            <a:off x="5212080" y="2788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MTN mobile money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Nigeria · Ghana</a:t>
            </a:r>
            <a:endParaRPr lang="en-US" sz="1100" dirty="0"/>
          </a:p>
        </p:txBody>
      </p:sp>
      <p:sp>
        <p:nvSpPr>
          <p:cNvPr id="15" name="Bank label"/>
          <p:cNvSpPr txBox="1"/>
          <p:nvPr/>
        </p:nvSpPr>
        <p:spPr>
          <a:xfrm>
            <a:off x="7178040" y="2788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Overseas bank account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Beneficiary</a:t>
            </a:r>
            <a:endParaRPr lang="en-US" sz="1100" dirty="0"/>
          </a:p>
        </p:txBody>
      </p:sp>
      <p:sp>
        <p:nvSpPr>
          <p:cNvPr id="16" name="Fiat note"/>
          <p:cNvSpPr txBox="1"/>
          <p:nvPr/>
        </p:nvSpPr>
        <p:spPr>
          <a:xfrm>
            <a:off x="5212080" y="3611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Customer pays in local fiat · beneficiary receives fiat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Unlock a new international payment use case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target customer journey, to be designed with MTN</a:t>
            </a:r>
            <a:endParaRPr lang="en-US" sz="1400" dirty="0"/>
          </a:p>
        </p:txBody>
      </p:sp>
      <p:sp>
        <p:nvSpPr>
          <p:cNvPr id="4" name="Step 1 card"/>
          <p:cNvSpPr/>
          <p:nvPr/>
        </p:nvSpPr>
        <p:spPr>
          <a:xfrm>
            <a:off x="457200" y="1371600"/>
            <a:ext cx="1828800" cy="2103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5" name="Step 1 circle"/>
          <p:cNvSpPr/>
          <p:nvPr/>
        </p:nvSpPr>
        <p:spPr>
          <a:xfrm>
            <a:off x="640080" y="1572768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51" y="1725839"/>
            <a:ext cx="260787" cy="260787"/>
          </a:xfrm>
          <a:prstGeom prst="rect">
            <a:avLst/>
          </a:prstGeom>
        </p:spPr>
      </p:pic>
      <p:sp>
        <p:nvSpPr>
          <p:cNvPr id="7" name="Step 1 number"/>
          <p:cNvSpPr txBox="1"/>
          <p:nvPr/>
        </p:nvSpPr>
        <p:spPr>
          <a:xfrm>
            <a:off x="1645920" y="1627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Step 1 title"/>
          <p:cNvSpPr txBox="1"/>
          <p:nvPr/>
        </p:nvSpPr>
        <p:spPr>
          <a:xfrm>
            <a:off x="64008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Initiate</a:t>
            </a:r>
            <a:endParaRPr lang="en-US" sz="1600" dirty="0"/>
          </a:p>
        </p:txBody>
      </p:sp>
      <p:sp>
        <p:nvSpPr>
          <p:cNvPr id="9" name="Step 1 text"/>
          <p:cNvSpPr txBox="1"/>
          <p:nvPr/>
        </p:nvSpPr>
        <p:spPr>
          <a:xfrm>
            <a:off x="640080" y="26334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Start an international transfer through the MTN experience</a:t>
            </a:r>
            <a:endParaRPr lang="en-US" sz="1200" dirty="0"/>
          </a:p>
        </p:txBody>
      </p:sp>
      <p:sp>
        <p:nvSpPr>
          <p:cNvPr id="10" name="Step 1 arrow"/>
          <p:cNvSpPr/>
          <p:nvPr/>
        </p:nvSpPr>
        <p:spPr>
          <a:xfrm>
            <a:off x="2340864" y="1856232"/>
            <a:ext cx="194767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Step 2 card"/>
          <p:cNvSpPr/>
          <p:nvPr/>
        </p:nvSpPr>
        <p:spPr>
          <a:xfrm>
            <a:off x="2590495" y="1371600"/>
            <a:ext cx="1828800" cy="2103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Step 2 circle"/>
          <p:cNvSpPr/>
          <p:nvPr/>
        </p:nvSpPr>
        <p:spPr>
          <a:xfrm>
            <a:off x="2773375" y="1572768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446" y="1725839"/>
            <a:ext cx="260787" cy="260787"/>
          </a:xfrm>
          <a:prstGeom prst="rect">
            <a:avLst/>
          </a:prstGeom>
        </p:spPr>
      </p:pic>
      <p:sp>
        <p:nvSpPr>
          <p:cNvPr id="14" name="Step 2 number"/>
          <p:cNvSpPr txBox="1"/>
          <p:nvPr/>
        </p:nvSpPr>
        <p:spPr>
          <a:xfrm>
            <a:off x="3779215" y="1627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Step 2 title"/>
          <p:cNvSpPr txBox="1"/>
          <p:nvPr/>
        </p:nvSpPr>
        <p:spPr>
          <a:xfrm>
            <a:off x="2773375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</a:t>
            </a:r>
            <a:endParaRPr lang="en-US" sz="1600" dirty="0"/>
          </a:p>
        </p:txBody>
      </p:sp>
      <p:sp>
        <p:nvSpPr>
          <p:cNvPr id="16" name="Step 2 text"/>
          <p:cNvSpPr txBox="1"/>
          <p:nvPr/>
        </p:nvSpPr>
        <p:spPr>
          <a:xfrm>
            <a:off x="2773375" y="26334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Check the quote and beneficiary details before confirming</a:t>
            </a:r>
            <a:endParaRPr lang="en-US" sz="1200" dirty="0"/>
          </a:p>
        </p:txBody>
      </p:sp>
      <p:sp>
        <p:nvSpPr>
          <p:cNvPr id="17" name="Step 2 arrow"/>
          <p:cNvSpPr/>
          <p:nvPr/>
        </p:nvSpPr>
        <p:spPr>
          <a:xfrm>
            <a:off x="4474159" y="1856232"/>
            <a:ext cx="194767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tep 3 card"/>
          <p:cNvSpPr/>
          <p:nvPr/>
        </p:nvSpPr>
        <p:spPr>
          <a:xfrm>
            <a:off x="4723790" y="1371600"/>
            <a:ext cx="1828800" cy="2103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tep 3 circle"/>
          <p:cNvSpPr/>
          <p:nvPr/>
        </p:nvSpPr>
        <p:spPr>
          <a:xfrm>
            <a:off x="4906670" y="1572768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741" y="1725839"/>
            <a:ext cx="260787" cy="260787"/>
          </a:xfrm>
          <a:prstGeom prst="rect">
            <a:avLst/>
          </a:prstGeom>
        </p:spPr>
      </p:pic>
      <p:sp>
        <p:nvSpPr>
          <p:cNvPr id="21" name="Step 3 number"/>
          <p:cNvSpPr txBox="1"/>
          <p:nvPr/>
        </p:nvSpPr>
        <p:spPr>
          <a:xfrm>
            <a:off x="5912510" y="1627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Step 3 title"/>
          <p:cNvSpPr txBox="1"/>
          <p:nvPr/>
        </p:nvSpPr>
        <p:spPr>
          <a:xfrm>
            <a:off x="490667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</a:t>
            </a:r>
            <a:endParaRPr lang="en-US" sz="1600" dirty="0"/>
          </a:p>
        </p:txBody>
      </p:sp>
      <p:sp>
        <p:nvSpPr>
          <p:cNvPr id="23" name="Step 3 text"/>
          <p:cNvSpPr txBox="1"/>
          <p:nvPr/>
        </p:nvSpPr>
        <p:spPr>
          <a:xfrm>
            <a:off x="4906670" y="26334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Pay in local currency from the mobile money wallet</a:t>
            </a:r>
            <a:endParaRPr lang="en-US" sz="1200" dirty="0"/>
          </a:p>
        </p:txBody>
      </p:sp>
      <p:sp>
        <p:nvSpPr>
          <p:cNvPr id="24" name="Step 3 arrow"/>
          <p:cNvSpPr/>
          <p:nvPr/>
        </p:nvSpPr>
        <p:spPr>
          <a:xfrm>
            <a:off x="6607454" y="1856232"/>
            <a:ext cx="194767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Step 4 card"/>
          <p:cNvSpPr/>
          <p:nvPr/>
        </p:nvSpPr>
        <p:spPr>
          <a:xfrm>
            <a:off x="6857086" y="1371600"/>
            <a:ext cx="1828800" cy="2103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6" name="Step 4 circle"/>
          <p:cNvSpPr/>
          <p:nvPr/>
        </p:nvSpPr>
        <p:spPr>
          <a:xfrm>
            <a:off x="7039966" y="1572768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036" y="1725839"/>
            <a:ext cx="260787" cy="260787"/>
          </a:xfrm>
          <a:prstGeom prst="rect">
            <a:avLst/>
          </a:prstGeom>
        </p:spPr>
      </p:pic>
      <p:sp>
        <p:nvSpPr>
          <p:cNvPr id="28" name="Step 4 number"/>
          <p:cNvSpPr txBox="1"/>
          <p:nvPr/>
        </p:nvSpPr>
        <p:spPr>
          <a:xfrm>
            <a:off x="8045806" y="1627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29" name="Step 4 title"/>
          <p:cNvSpPr txBox="1"/>
          <p:nvPr/>
        </p:nvSpPr>
        <p:spPr>
          <a:xfrm>
            <a:off x="7039966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Track</a:t>
            </a:r>
            <a:endParaRPr lang="en-US" sz="1600" dirty="0"/>
          </a:p>
        </p:txBody>
      </p:sp>
      <p:sp>
        <p:nvSpPr>
          <p:cNvPr id="30" name="Step 4 text"/>
          <p:cNvSpPr txBox="1"/>
          <p:nvPr/>
        </p:nvSpPr>
        <p:spPr>
          <a:xfrm>
            <a:off x="7039966" y="26334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Follow delivery to the overseas bank account</a:t>
            </a:r>
            <a:endParaRPr lang="en-US" sz="1200" dirty="0"/>
          </a:p>
        </p:txBody>
      </p:sp>
      <p:sp>
        <p:nvSpPr>
          <p:cNvPr id="31" name="Users circle"/>
          <p:cNvSpPr/>
          <p:nvPr/>
        </p:nvSpPr>
        <p:spPr>
          <a:xfrm>
            <a:off x="457200" y="3767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User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" y="3890772"/>
            <a:ext cx="210312" cy="210312"/>
          </a:xfrm>
          <a:prstGeom prst="rect">
            <a:avLst/>
          </a:prstGeom>
        </p:spPr>
      </p:pic>
      <p:sp>
        <p:nvSpPr>
          <p:cNvPr id="33" name="Target users"/>
          <p:cNvSpPr txBox="1"/>
          <p:nvPr/>
        </p:nvSpPr>
        <p:spPr>
          <a:xfrm>
            <a:off x="1051560" y="3767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Target users: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individuals and SMEs, subject to eligibility</a:t>
            </a:r>
            <a:endParaRPr lang="en-US" sz="1400" dirty="0"/>
          </a:p>
        </p:txBody>
      </p:sp>
      <p:sp>
        <p:nvSpPr>
          <p:cNvPr id="34" name="Journey assumption"/>
          <p:cNvSpPr txBox="1"/>
          <p:nvPr/>
        </p:nvSpPr>
        <p:spPr>
          <a:xfrm>
            <a:off x="5212080" y="37673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Assumption: illustrative journey. No existing MTN app feature or integration is implied.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clear operating model</a:t>
            </a:r>
            <a:endParaRPr lang="en-US" sz="2800" dirty="0"/>
          </a:p>
        </p:txBody>
      </p:sp>
      <p:sp>
        <p:nvSpPr>
          <p:cNvPr id="3" name="Cambiste layer"/>
          <p:cNvSpPr/>
          <p:nvPr/>
        </p:nvSpPr>
        <p:spPr>
          <a:xfrm>
            <a:off x="457200" y="1024128"/>
            <a:ext cx="822960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</p:sp>
      <p:sp>
        <p:nvSpPr>
          <p:cNvPr id="4" name="Cambiste layer text"/>
          <p:cNvSpPr txBox="1"/>
          <p:nvPr/>
        </p:nvSpPr>
        <p:spPr>
          <a:xfrm>
            <a:off x="685800" y="10241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CAMBISTE  ·  Technology layer (TSP)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API orchestration  ·  Routing  ·  Instruction transmission  ·  Status tracking  ·  Reconciliation</a:t>
            </a:r>
            <a:endParaRPr lang="en-US" sz="1400" dirty="0"/>
          </a:p>
        </p:txBody>
      </p:sp>
      <p:sp>
        <p:nvSpPr>
          <p:cNvPr id="5" name="Participant 1"/>
          <p:cNvSpPr/>
          <p:nvPr/>
        </p:nvSpPr>
        <p:spPr>
          <a:xfrm>
            <a:off x="457200" y="2157984"/>
            <a:ext cx="1426464" cy="148132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6" name="Participant 1 badge"/>
          <p:cNvSpPr/>
          <p:nvPr/>
        </p:nvSpPr>
        <p:spPr>
          <a:xfrm>
            <a:off x="566928" y="226771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articipant 1 number"/>
          <p:cNvSpPr txBox="1"/>
          <p:nvPr/>
        </p:nvSpPr>
        <p:spPr>
          <a:xfrm>
            <a:off x="56692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Participant 1 name"/>
          <p:cNvSpPr txBox="1"/>
          <p:nvPr/>
        </p:nvSpPr>
        <p:spPr>
          <a:xfrm>
            <a:off x="566928" y="2596896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MTN / Mobile Money Operator</a:t>
            </a:r>
            <a:endParaRPr lang="en-US" sz="1100" dirty="0"/>
          </a:p>
        </p:txBody>
      </p:sp>
      <p:sp>
        <p:nvSpPr>
          <p:cNvPr id="9" name="Participant 1 role"/>
          <p:cNvSpPr txBox="1"/>
          <p:nvPr/>
        </p:nvSpPr>
        <p:spPr>
          <a:xfrm>
            <a:off x="566928" y="325526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Customer interface · local collection</a:t>
            </a:r>
            <a:endParaRPr lang="en-US" sz="950" dirty="0"/>
          </a:p>
        </p:txBody>
      </p:sp>
      <p:sp>
        <p:nvSpPr>
          <p:cNvPr id="10" name="API link 1"/>
          <p:cNvSpPr/>
          <p:nvPr/>
        </p:nvSpPr>
        <p:spPr>
          <a:xfrm>
            <a:off x="1170432" y="1700784"/>
            <a:ext cx="0" cy="43891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headEnd type="oval"/>
            <a:tailEnd type="oval"/>
          </a:ln>
        </p:spPr>
      </p:sp>
      <p:sp>
        <p:nvSpPr>
          <p:cNvPr id="11" name="Funds arrow 1"/>
          <p:cNvSpPr/>
          <p:nvPr/>
        </p:nvSpPr>
        <p:spPr>
          <a:xfrm>
            <a:off x="1901952" y="2898648"/>
            <a:ext cx="237744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Participant 2"/>
          <p:cNvSpPr/>
          <p:nvPr/>
        </p:nvSpPr>
        <p:spPr>
          <a:xfrm>
            <a:off x="2157984" y="2157984"/>
            <a:ext cx="1426464" cy="148132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3" name="Participant 2 badge"/>
          <p:cNvSpPr/>
          <p:nvPr/>
        </p:nvSpPr>
        <p:spPr>
          <a:xfrm>
            <a:off x="2267712" y="226771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Participant 2 number"/>
          <p:cNvSpPr txBox="1"/>
          <p:nvPr/>
        </p:nvSpPr>
        <p:spPr>
          <a:xfrm>
            <a:off x="2267712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Participant 2 name"/>
          <p:cNvSpPr txBox="1"/>
          <p:nvPr/>
        </p:nvSpPr>
        <p:spPr>
          <a:xfrm>
            <a:off x="2267712" y="2596896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Licensed Collection &amp; Conversion Partner</a:t>
            </a:r>
            <a:endParaRPr lang="en-US" sz="1100" dirty="0"/>
          </a:p>
        </p:txBody>
      </p:sp>
      <p:sp>
        <p:nvSpPr>
          <p:cNvPr id="16" name="Participant 2 role"/>
          <p:cNvSpPr txBox="1"/>
          <p:nvPr/>
        </p:nvSpPr>
        <p:spPr>
          <a:xfrm>
            <a:off x="2267712" y="325526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Local settlement · conversion</a:t>
            </a:r>
            <a:endParaRPr lang="en-US" sz="950" dirty="0"/>
          </a:p>
        </p:txBody>
      </p:sp>
      <p:sp>
        <p:nvSpPr>
          <p:cNvPr id="17" name="API link 2"/>
          <p:cNvSpPr/>
          <p:nvPr/>
        </p:nvSpPr>
        <p:spPr>
          <a:xfrm>
            <a:off x="2871216" y="1700784"/>
            <a:ext cx="0" cy="43891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headEnd type="oval"/>
            <a:tailEnd type="oval"/>
          </a:ln>
        </p:spPr>
      </p:sp>
      <p:sp>
        <p:nvSpPr>
          <p:cNvPr id="18" name="Funds arrow 2"/>
          <p:cNvSpPr/>
          <p:nvPr/>
        </p:nvSpPr>
        <p:spPr>
          <a:xfrm>
            <a:off x="3602736" y="2898648"/>
            <a:ext cx="237744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Participant 3"/>
          <p:cNvSpPr/>
          <p:nvPr/>
        </p:nvSpPr>
        <p:spPr>
          <a:xfrm>
            <a:off x="3858768" y="2157984"/>
            <a:ext cx="1426464" cy="148132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Participant 3 badge"/>
          <p:cNvSpPr/>
          <p:nvPr/>
        </p:nvSpPr>
        <p:spPr>
          <a:xfrm>
            <a:off x="3968496" y="226771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Participant 3 number"/>
          <p:cNvSpPr txBox="1"/>
          <p:nvPr/>
        </p:nvSpPr>
        <p:spPr>
          <a:xfrm>
            <a:off x="3968496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Participant 3 name"/>
          <p:cNvSpPr txBox="1"/>
          <p:nvPr/>
        </p:nvSpPr>
        <p:spPr>
          <a:xfrm>
            <a:off x="3968496" y="2596896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Ripple Custody</a:t>
            </a:r>
            <a:endParaRPr lang="en-US" sz="1100" dirty="0"/>
          </a:p>
        </p:txBody>
      </p:sp>
      <p:sp>
        <p:nvSpPr>
          <p:cNvPr id="23" name="Participant 3 role"/>
          <p:cNvSpPr txBox="1"/>
          <p:nvPr/>
        </p:nvSpPr>
        <p:spPr>
          <a:xfrm>
            <a:off x="3968496" y="325526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Institutional custody · treasury</a:t>
            </a:r>
            <a:endParaRPr lang="en-US" sz="950" dirty="0"/>
          </a:p>
        </p:txBody>
      </p:sp>
      <p:sp>
        <p:nvSpPr>
          <p:cNvPr id="24" name="API link 3"/>
          <p:cNvSpPr/>
          <p:nvPr/>
        </p:nvSpPr>
        <p:spPr>
          <a:xfrm>
            <a:off x="4572000" y="1700784"/>
            <a:ext cx="0" cy="43891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headEnd type="oval"/>
            <a:tailEnd type="oval"/>
          </a:ln>
        </p:spPr>
      </p:sp>
      <p:sp>
        <p:nvSpPr>
          <p:cNvPr id="25" name="Funds arrow 3"/>
          <p:cNvSpPr/>
          <p:nvPr/>
        </p:nvSpPr>
        <p:spPr>
          <a:xfrm>
            <a:off x="5303520" y="2898648"/>
            <a:ext cx="237744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6" name="Participant 4"/>
          <p:cNvSpPr/>
          <p:nvPr/>
        </p:nvSpPr>
        <p:spPr>
          <a:xfrm>
            <a:off x="5559552" y="2157984"/>
            <a:ext cx="1426464" cy="148132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7" name="Participant 4 badge"/>
          <p:cNvSpPr/>
          <p:nvPr/>
        </p:nvSpPr>
        <p:spPr>
          <a:xfrm>
            <a:off x="5669280" y="226771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Participant 4 number"/>
          <p:cNvSpPr txBox="1"/>
          <p:nvPr/>
        </p:nvSpPr>
        <p:spPr>
          <a:xfrm>
            <a:off x="566928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Participant 4 name"/>
          <p:cNvSpPr txBox="1"/>
          <p:nvPr/>
        </p:nvSpPr>
        <p:spPr>
          <a:xfrm>
            <a:off x="5669280" y="2596896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Ripple Payments</a:t>
            </a:r>
            <a:endParaRPr lang="en-US" sz="1100" dirty="0"/>
          </a:p>
        </p:txBody>
      </p:sp>
      <p:sp>
        <p:nvSpPr>
          <p:cNvPr id="30" name="Participant 4 role"/>
          <p:cNvSpPr txBox="1"/>
          <p:nvPr/>
        </p:nvSpPr>
        <p:spPr>
          <a:xfrm>
            <a:off x="5669280" y="325526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FX · cross-border settlement · bank payout</a:t>
            </a:r>
            <a:endParaRPr lang="en-US" sz="950" dirty="0"/>
          </a:p>
        </p:txBody>
      </p:sp>
      <p:sp>
        <p:nvSpPr>
          <p:cNvPr id="31" name="API link 4"/>
          <p:cNvSpPr/>
          <p:nvPr/>
        </p:nvSpPr>
        <p:spPr>
          <a:xfrm>
            <a:off x="6272784" y="1700784"/>
            <a:ext cx="0" cy="43891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headEnd type="oval"/>
            <a:tailEnd type="oval"/>
          </a:ln>
        </p:spPr>
      </p:sp>
      <p:sp>
        <p:nvSpPr>
          <p:cNvPr id="32" name="Funds arrow 4"/>
          <p:cNvSpPr/>
          <p:nvPr/>
        </p:nvSpPr>
        <p:spPr>
          <a:xfrm>
            <a:off x="7004304" y="2898648"/>
            <a:ext cx="237744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3" name="Participant 5"/>
          <p:cNvSpPr/>
          <p:nvPr/>
        </p:nvSpPr>
        <p:spPr>
          <a:xfrm>
            <a:off x="7260336" y="2157984"/>
            <a:ext cx="1426464" cy="1481328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4" name="Participant 5 badge"/>
          <p:cNvSpPr/>
          <p:nvPr/>
        </p:nvSpPr>
        <p:spPr>
          <a:xfrm>
            <a:off x="7370064" y="226771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Participant 5 number"/>
          <p:cNvSpPr txBox="1"/>
          <p:nvPr/>
        </p:nvSpPr>
        <p:spPr>
          <a:xfrm>
            <a:off x="7370064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Participant 5 name"/>
          <p:cNvSpPr txBox="1"/>
          <p:nvPr/>
        </p:nvSpPr>
        <p:spPr>
          <a:xfrm>
            <a:off x="7370064" y="2596896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Beneficiary Bank Account</a:t>
            </a:r>
            <a:endParaRPr lang="en-US" sz="1100" dirty="0"/>
          </a:p>
        </p:txBody>
      </p:sp>
      <p:sp>
        <p:nvSpPr>
          <p:cNvPr id="37" name="Participant 5 role"/>
          <p:cNvSpPr txBox="1"/>
          <p:nvPr/>
        </p:nvSpPr>
        <p:spPr>
          <a:xfrm>
            <a:off x="7370064" y="325526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Credited in destination fiat</a:t>
            </a:r>
            <a:endParaRPr lang="en-US" sz="950" dirty="0"/>
          </a:p>
        </p:txBody>
      </p:sp>
      <p:sp>
        <p:nvSpPr>
          <p:cNvPr id="38" name="Fiat in band"/>
          <p:cNvSpPr/>
          <p:nvPr/>
        </p:nvSpPr>
        <p:spPr>
          <a:xfrm>
            <a:off x="457200" y="3767328"/>
            <a:ext cx="237744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</p:sp>
      <p:sp>
        <p:nvSpPr>
          <p:cNvPr id="39" name="Fiat in band text"/>
          <p:cNvSpPr txBox="1"/>
          <p:nvPr/>
        </p:nvSpPr>
        <p:spPr>
          <a:xfrm>
            <a:off x="530352" y="37673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Fiat in · NGN / GHS</a:t>
            </a:r>
            <a:endParaRPr lang="en-US" sz="1000" dirty="0"/>
          </a:p>
        </p:txBody>
      </p:sp>
      <p:sp>
        <p:nvSpPr>
          <p:cNvPr id="40" name="Rail band"/>
          <p:cNvSpPr/>
          <p:nvPr/>
        </p:nvSpPr>
        <p:spPr>
          <a:xfrm>
            <a:off x="2907792" y="3767328"/>
            <a:ext cx="3328416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</p:sp>
      <p:sp>
        <p:nvSpPr>
          <p:cNvPr id="41" name="Rail band text"/>
          <p:cNvSpPr txBox="1"/>
          <p:nvPr/>
        </p:nvSpPr>
        <p:spPr>
          <a:xfrm>
            <a:off x="2980944" y="376732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Institutional rail · approved stablecoin (e.g. RLUSD, to be validated)</a:t>
            </a:r>
            <a:endParaRPr lang="en-US" sz="1000" dirty="0"/>
          </a:p>
        </p:txBody>
      </p:sp>
      <p:sp>
        <p:nvSpPr>
          <p:cNvPr id="42" name="Fiat out band"/>
          <p:cNvSpPr/>
          <p:nvPr/>
        </p:nvSpPr>
        <p:spPr>
          <a:xfrm>
            <a:off x="6309360" y="3767328"/>
            <a:ext cx="237744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</p:sp>
      <p:sp>
        <p:nvSpPr>
          <p:cNvPr id="43" name="Fiat out band text"/>
          <p:cNvSpPr txBox="1"/>
          <p:nvPr/>
        </p:nvSpPr>
        <p:spPr>
          <a:xfrm>
            <a:off x="6382512" y="37673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Fiat out · destination currency</a:t>
            </a:r>
            <a:endParaRPr lang="en-US" sz="1000" dirty="0"/>
          </a:p>
        </p:txBody>
      </p:sp>
      <p:sp>
        <p:nvSpPr>
          <p:cNvPr id="44" name="Legend funds"/>
          <p:cNvSpPr/>
          <p:nvPr/>
        </p:nvSpPr>
        <p:spPr>
          <a:xfrm>
            <a:off x="457200" y="4434840"/>
            <a:ext cx="411480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5" name="Legend funds text"/>
          <p:cNvSpPr txBox="1"/>
          <p:nvPr/>
        </p:nvSpPr>
        <p:spPr>
          <a:xfrm>
            <a:off x="960120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Funds movement</a:t>
            </a:r>
            <a:endParaRPr lang="en-US" sz="1000" dirty="0"/>
          </a:p>
        </p:txBody>
      </p:sp>
      <p:sp>
        <p:nvSpPr>
          <p:cNvPr id="46" name="Legend API"/>
          <p:cNvSpPr/>
          <p:nvPr/>
        </p:nvSpPr>
        <p:spPr>
          <a:xfrm>
            <a:off x="2377440" y="4434840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47" name="Legend API text"/>
          <p:cNvSpPr txBox="1"/>
          <p:nvPr/>
        </p:nvSpPr>
        <p:spPr>
          <a:xfrm>
            <a:off x="2880360" y="4325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Instructions &amp; data (API)</a:t>
            </a:r>
            <a:endParaRPr lang="en-US" sz="1000" dirty="0"/>
          </a:p>
        </p:txBody>
      </p:sp>
      <p:sp>
        <p:nvSpPr>
          <p:cNvPr id="48" name="Rail assumption"/>
          <p:cNvSpPr txBox="1"/>
          <p:nvPr/>
        </p:nvSpPr>
        <p:spPr>
          <a:xfrm>
            <a:off x="4754880" y="42428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The stablecoin is a settlement rail between institutional participants only. Asset, network and entities to be validated.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Clear roles. Defined accountability.</a:t>
            </a:r>
            <a:endParaRPr lang="en-US" sz="2800" dirty="0"/>
          </a:p>
        </p:txBody>
      </p:sp>
      <p:graphicFrame>
        <p:nvGraphicFramePr>
          <p:cNvPr id="5" name="Roles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Responsibility boundary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MTN / local entity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interface and local fiat collection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its own authorisations and applicable agreements. Holds no crypto-assets; offers no crypto product to customers.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Licensed collection &amp; conversion partner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settlement and conversion to an approved stablecoin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within its authorisations for the country, activity and corridor concerned.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Ripple infrastructure &amp; relevant entities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custody and treasury; FX, cross-border settlement and bank payout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the entities, licences, configuration and corridors actually available and agreed.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Cambiste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orchestration: APIs, routing, status tracking, reconciliation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collection, no custody of customer funds or stablecoins, no proprietary conversion.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Validation circle"/>
          <p:cNvSpPr/>
          <p:nvPr/>
        </p:nvSpPr>
        <p:spPr>
          <a:xfrm>
            <a:off x="457200" y="39502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Valida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68" y="4063776"/>
            <a:ext cx="193487" cy="193487"/>
          </a:xfrm>
          <a:prstGeom prst="rect">
            <a:avLst/>
          </a:prstGeom>
        </p:spPr>
      </p:pic>
      <p:sp>
        <p:nvSpPr>
          <p:cNvPr id="6" name="Validation note"/>
          <p:cNvSpPr txBox="1"/>
          <p:nvPr/>
        </p:nvSpPr>
        <p:spPr>
          <a:xfrm>
            <a:off x="1005840" y="3886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Final responsibilities and regulatory requirements to be validated for each entity and corridor before launch.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KYC/AML, sanctions, monitoring, reporting and complaints allocation to be agreed between the parties. Each participant keeps its own obligations.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Commercial value for MTN</a:t>
            </a:r>
            <a:endParaRPr lang="en-US" sz="2800" dirty="0"/>
          </a:p>
        </p:txBody>
      </p:sp>
      <p:sp>
        <p:nvSpPr>
          <p:cNvPr id="3" name="Benefit 1 card"/>
          <p:cNvSpPr/>
          <p:nvPr/>
        </p:nvSpPr>
        <p:spPr>
          <a:xfrm>
            <a:off x="457200" y="1024128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D2136">
                <a:alpha val="12000"/>
              </a:srgbClr>
            </a:outerShdw>
          </a:effectLst>
        </p:spPr>
      </p:sp>
      <p:sp>
        <p:nvSpPr>
          <p:cNvPr id="4" name="Benefit 1 circle"/>
          <p:cNvSpPr/>
          <p:nvPr/>
        </p:nvSpPr>
        <p:spPr>
          <a:xfrm>
            <a:off x="640080" y="11887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Benefi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648" y="1302288"/>
            <a:ext cx="193487" cy="193487"/>
          </a:xfrm>
          <a:prstGeom prst="rect">
            <a:avLst/>
          </a:prstGeom>
        </p:spPr>
      </p:pic>
      <p:sp>
        <p:nvSpPr>
          <p:cNvPr id="6" name="Benefit 1 text"/>
          <p:cNvSpPr txBox="1"/>
          <p:nvPr/>
        </p:nvSpPr>
        <p:spPr>
          <a:xfrm>
            <a:off x="640080" y="17099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New transaction revenue opportunities</a:t>
            </a:r>
            <a:endParaRPr lang="en-US" sz="1300" dirty="0"/>
          </a:p>
        </p:txBody>
      </p:sp>
      <p:sp>
        <p:nvSpPr>
          <p:cNvPr id="7" name="Benefit 2 card"/>
          <p:cNvSpPr/>
          <p:nvPr/>
        </p:nvSpPr>
        <p:spPr>
          <a:xfrm>
            <a:off x="2590495" y="1024128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D2136">
                <a:alpha val="12000"/>
              </a:srgbClr>
            </a:outerShdw>
          </a:effectLst>
        </p:spPr>
      </p:sp>
      <p:sp>
        <p:nvSpPr>
          <p:cNvPr id="8" name="Benefit 2 circle"/>
          <p:cNvSpPr/>
          <p:nvPr/>
        </p:nvSpPr>
        <p:spPr>
          <a:xfrm>
            <a:off x="2773375" y="11887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9" name="Benefi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944" y="1302288"/>
            <a:ext cx="193487" cy="193487"/>
          </a:xfrm>
          <a:prstGeom prst="rect">
            <a:avLst/>
          </a:prstGeom>
        </p:spPr>
      </p:pic>
      <p:sp>
        <p:nvSpPr>
          <p:cNvPr id="10" name="Benefit 2 text"/>
          <p:cNvSpPr txBox="1"/>
          <p:nvPr/>
        </p:nvSpPr>
        <p:spPr>
          <a:xfrm>
            <a:off x="2773375" y="17099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Improved payment economics</a:t>
            </a:r>
            <a:endParaRPr lang="en-US" sz="1300" dirty="0"/>
          </a:p>
        </p:txBody>
      </p:sp>
      <p:sp>
        <p:nvSpPr>
          <p:cNvPr id="11" name="Benefit 3 card"/>
          <p:cNvSpPr/>
          <p:nvPr/>
        </p:nvSpPr>
        <p:spPr>
          <a:xfrm>
            <a:off x="4723790" y="1024128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D2136">
                <a:alpha val="12000"/>
              </a:srgbClr>
            </a:outerShdw>
          </a:effectLst>
        </p:spPr>
      </p:sp>
      <p:sp>
        <p:nvSpPr>
          <p:cNvPr id="12" name="Benefit 3 circle"/>
          <p:cNvSpPr/>
          <p:nvPr/>
        </p:nvSpPr>
        <p:spPr>
          <a:xfrm>
            <a:off x="4906670" y="11887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Benefi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39" y="1302288"/>
            <a:ext cx="193487" cy="193487"/>
          </a:xfrm>
          <a:prstGeom prst="rect">
            <a:avLst/>
          </a:prstGeom>
        </p:spPr>
      </p:pic>
      <p:sp>
        <p:nvSpPr>
          <p:cNvPr id="14" name="Benefit 3 text"/>
          <p:cNvSpPr txBox="1"/>
          <p:nvPr/>
        </p:nvSpPr>
        <p:spPr>
          <a:xfrm>
            <a:off x="4906670" y="17099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Greater wallet utility and engagement</a:t>
            </a:r>
            <a:endParaRPr lang="en-US" sz="1300" dirty="0"/>
          </a:p>
        </p:txBody>
      </p:sp>
      <p:sp>
        <p:nvSpPr>
          <p:cNvPr id="15" name="Benefit 4 card"/>
          <p:cNvSpPr/>
          <p:nvPr/>
        </p:nvSpPr>
        <p:spPr>
          <a:xfrm>
            <a:off x="6857086" y="1024128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D2136">
                <a:alpha val="12000"/>
              </a:srgbClr>
            </a:outerShdw>
          </a:effectLst>
        </p:spPr>
      </p:sp>
      <p:sp>
        <p:nvSpPr>
          <p:cNvPr id="16" name="Benefit 4 circle"/>
          <p:cNvSpPr/>
          <p:nvPr/>
        </p:nvSpPr>
        <p:spPr>
          <a:xfrm>
            <a:off x="7039966" y="11887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Benefi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534" y="1302288"/>
            <a:ext cx="193487" cy="193487"/>
          </a:xfrm>
          <a:prstGeom prst="rect">
            <a:avLst/>
          </a:prstGeom>
        </p:spPr>
      </p:pic>
      <p:sp>
        <p:nvSpPr>
          <p:cNvPr id="18" name="Benefit 4 text"/>
          <p:cNvSpPr txBox="1"/>
          <p:nvPr/>
        </p:nvSpPr>
        <p:spPr>
          <a:xfrm>
            <a:off x="7039966" y="17099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Scalable access to international bank payouts</a:t>
            </a:r>
            <a:endParaRPr lang="en-US" sz="1300" dirty="0"/>
          </a:p>
        </p:txBody>
      </p:sp>
      <p:sp>
        <p:nvSpPr>
          <p:cNvPr id="19" name="Economics panel"/>
          <p:cNvSpPr/>
          <p:nvPr/>
        </p:nvSpPr>
        <p:spPr>
          <a:xfrm>
            <a:off x="457200" y="2743200"/>
            <a:ext cx="544068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</p:sp>
      <p:sp>
        <p:nvSpPr>
          <p:cNvPr id="20" name="Economics title"/>
          <p:cNvSpPr txBox="1"/>
          <p:nvPr/>
        </p:nvSpPr>
        <p:spPr>
          <a:xfrm>
            <a:off x="685800" y="28620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Transaction economics, to be agreed together</a:t>
            </a:r>
            <a:endParaRPr lang="en-US" sz="1400" dirty="0"/>
          </a:p>
        </p:txBody>
      </p:sp>
      <p:sp>
        <p:nvSpPr>
          <p:cNvPr id="21" name="Economics chip 1"/>
          <p:cNvSpPr/>
          <p:nvPr/>
        </p:nvSpPr>
        <p:spPr>
          <a:xfrm>
            <a:off x="685800" y="3273552"/>
            <a:ext cx="1097280" cy="658368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Economics chip 1 text"/>
          <p:cNvSpPr txBox="1"/>
          <p:nvPr/>
        </p:nvSpPr>
        <p:spPr>
          <a:xfrm>
            <a:off x="740664" y="3273552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Customer service fee</a:t>
            </a:r>
            <a:endParaRPr lang="en-US" sz="1050" dirty="0"/>
          </a:p>
        </p:txBody>
      </p:sp>
      <p:sp>
        <p:nvSpPr>
          <p:cNvPr id="23" name="Economics minus 1"/>
          <p:cNvSpPr txBox="1"/>
          <p:nvPr/>
        </p:nvSpPr>
        <p:spPr>
          <a:xfrm>
            <a:off x="1783080" y="3273552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−</a:t>
            </a:r>
            <a:endParaRPr lang="en-US" sz="1600" dirty="0"/>
          </a:p>
        </p:txBody>
      </p:sp>
      <p:sp>
        <p:nvSpPr>
          <p:cNvPr id="24" name="Economics chip 2"/>
          <p:cNvSpPr/>
          <p:nvPr/>
        </p:nvSpPr>
        <p:spPr>
          <a:xfrm>
            <a:off x="1965960" y="3273552"/>
            <a:ext cx="109728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Economics chip 2 text"/>
          <p:cNvSpPr txBox="1"/>
          <p:nvPr/>
        </p:nvSpPr>
        <p:spPr>
          <a:xfrm>
            <a:off x="2020824" y="3273552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Conversion &amp; liquidity cost</a:t>
            </a:r>
            <a:endParaRPr lang="en-US" sz="1050" dirty="0"/>
          </a:p>
        </p:txBody>
      </p:sp>
      <p:sp>
        <p:nvSpPr>
          <p:cNvPr id="26" name="Economics minus 2"/>
          <p:cNvSpPr txBox="1"/>
          <p:nvPr/>
        </p:nvSpPr>
        <p:spPr>
          <a:xfrm>
            <a:off x="3063240" y="3273552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−</a:t>
            </a:r>
            <a:endParaRPr lang="en-US" sz="1600" dirty="0"/>
          </a:p>
        </p:txBody>
      </p:sp>
      <p:sp>
        <p:nvSpPr>
          <p:cNvPr id="27" name="Economics chip 3"/>
          <p:cNvSpPr/>
          <p:nvPr/>
        </p:nvSpPr>
        <p:spPr>
          <a:xfrm>
            <a:off x="3246120" y="3273552"/>
            <a:ext cx="109728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Economics chip 3 text"/>
          <p:cNvSpPr txBox="1"/>
          <p:nvPr/>
        </p:nvSpPr>
        <p:spPr>
          <a:xfrm>
            <a:off x="3300984" y="3273552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Payout cost</a:t>
            </a:r>
            <a:endParaRPr lang="en-US" sz="1050" dirty="0"/>
          </a:p>
        </p:txBody>
      </p:sp>
      <p:sp>
        <p:nvSpPr>
          <p:cNvPr id="29" name="Economics minus 3"/>
          <p:cNvSpPr txBox="1"/>
          <p:nvPr/>
        </p:nvSpPr>
        <p:spPr>
          <a:xfrm>
            <a:off x="4343400" y="3273552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−</a:t>
            </a:r>
            <a:endParaRPr lang="en-US" sz="1600" dirty="0"/>
          </a:p>
        </p:txBody>
      </p:sp>
      <p:sp>
        <p:nvSpPr>
          <p:cNvPr id="30" name="Economics chip 4"/>
          <p:cNvSpPr/>
          <p:nvPr/>
        </p:nvSpPr>
        <p:spPr>
          <a:xfrm>
            <a:off x="4526280" y="3273552"/>
            <a:ext cx="109728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Economics chip 4 text"/>
          <p:cNvSpPr txBox="1"/>
          <p:nvPr/>
        </p:nvSpPr>
        <p:spPr>
          <a:xfrm>
            <a:off x="4581144" y="3273552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Participant remuneration</a:t>
            </a:r>
            <a:endParaRPr lang="en-US" sz="1050" dirty="0"/>
          </a:p>
        </p:txBody>
      </p:sp>
      <p:sp>
        <p:nvSpPr>
          <p:cNvPr id="32" name="Economics assumption"/>
          <p:cNvSpPr txBox="1"/>
          <p:nvPr/>
        </p:nvSpPr>
        <p:spPr>
          <a:xfrm>
            <a:off x="685800" y="40507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No pricing, revenue share or savings figures until validated with pilot data.</a:t>
            </a:r>
            <a:endParaRPr lang="en-US" sz="1050" dirty="0"/>
          </a:p>
        </p:txBody>
      </p:sp>
      <p:sp>
        <p:nvSpPr>
          <p:cNvPr id="33" name="Availability panel"/>
          <p:cNvSpPr/>
          <p:nvPr/>
        </p:nvSpPr>
        <p:spPr>
          <a:xfrm>
            <a:off x="6172200" y="2743200"/>
            <a:ext cx="2514600" cy="1783080"/>
          </a:xfrm>
          <a:prstGeom prst="roundRect">
            <a:avLst>
              <a:gd name="adj" fmla="val 5128"/>
            </a:avLst>
          </a:prstGeom>
          <a:solidFill>
            <a:schemeClr val="tx1"/>
          </a:solidFill>
          <a:ln/>
        </p:spPr>
      </p:sp>
      <p:sp>
        <p:nvSpPr>
          <p:cNvPr id="34" name="Availability stat"/>
          <p:cNvSpPr txBox="1"/>
          <p:nvPr/>
        </p:nvSpPr>
        <p:spPr>
          <a:xfrm>
            <a:off x="64008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24/7</a:t>
            </a:r>
            <a:endParaRPr lang="en-US" sz="3600" dirty="0"/>
          </a:p>
        </p:txBody>
      </p:sp>
      <p:sp>
        <p:nvSpPr>
          <p:cNvPr id="35" name="Availability label"/>
          <p:cNvSpPr txBox="1"/>
          <p:nvPr/>
        </p:nvSpPr>
        <p:spPr>
          <a:xfrm>
            <a:off x="6400800" y="3383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Processing target</a:t>
            </a:r>
            <a:endParaRPr lang="en-US" sz="1200" dirty="0"/>
          </a:p>
        </p:txBody>
      </p:sp>
      <p:sp>
        <p:nvSpPr>
          <p:cNvPr id="36" name="Availability caveat"/>
          <p:cNvSpPr txBox="1"/>
          <p:nvPr/>
        </p:nvSpPr>
        <p:spPr>
          <a:xfrm>
            <a:off x="6400800" y="3703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Bank credit time depends on the corridor and the receiving banking systems.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focused pilot: Nigeria &amp; Ghana</a:t>
            </a:r>
            <a:endParaRPr lang="en-US" sz="2800" dirty="0"/>
          </a:p>
        </p:txBody>
      </p:sp>
      <p:sp>
        <p:nvSpPr>
          <p:cNvPr id="3" name="Phase 1"/>
          <p:cNvSpPr/>
          <p:nvPr/>
        </p:nvSpPr>
        <p:spPr>
          <a:xfrm>
            <a:off x="457200" y="1005840"/>
            <a:ext cx="1993392" cy="749808"/>
          </a:xfrm>
          <a:prstGeom prst="chevron">
            <a:avLst/>
          </a:prstGeom>
          <a:solidFill>
            <a:schemeClr val="bg2"/>
          </a:solidFill>
          <a:ln/>
        </p:spPr>
      </p:sp>
      <p:sp>
        <p:nvSpPr>
          <p:cNvPr id="4" name="Phase 1 text"/>
          <p:cNvSpPr txBox="1"/>
          <p:nvPr/>
        </p:nvSpPr>
        <p:spPr>
          <a:xfrm>
            <a:off x="786384" y="1005840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Readiness validation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Entities, partners, contracts</a:t>
            </a:r>
            <a:endParaRPr lang="en-US" sz="1400" dirty="0"/>
          </a:p>
        </p:txBody>
      </p:sp>
      <p:sp>
        <p:nvSpPr>
          <p:cNvPr id="5" name="Phase 2"/>
          <p:cNvSpPr/>
          <p:nvPr/>
        </p:nvSpPr>
        <p:spPr>
          <a:xfrm>
            <a:off x="2532888" y="1005840"/>
            <a:ext cx="1993392" cy="749808"/>
          </a:xfrm>
          <a:prstGeom prst="chevron">
            <a:avLst/>
          </a:prstGeom>
          <a:solidFill>
            <a:schemeClr val="bg2"/>
          </a:solidFill>
          <a:ln/>
        </p:spPr>
      </p:sp>
      <p:sp>
        <p:nvSpPr>
          <p:cNvPr id="6" name="Phase 2 text"/>
          <p:cNvSpPr txBox="1"/>
          <p:nvPr/>
        </p:nvSpPr>
        <p:spPr>
          <a:xfrm>
            <a:off x="2862072" y="1005840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End-to-end testing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Funds, data and reconciliation flows</a:t>
            </a:r>
            <a:endParaRPr lang="en-US" sz="1400" dirty="0"/>
          </a:p>
        </p:txBody>
      </p:sp>
      <p:sp>
        <p:nvSpPr>
          <p:cNvPr id="7" name="Phase 3"/>
          <p:cNvSpPr/>
          <p:nvPr/>
        </p:nvSpPr>
        <p:spPr>
          <a:xfrm>
            <a:off x="4608576" y="1005840"/>
            <a:ext cx="1993392" cy="749808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8" name="Phase 3 text"/>
          <p:cNvSpPr txBox="1"/>
          <p:nvPr/>
        </p:nvSpPr>
        <p:spPr>
          <a:xfrm>
            <a:off x="4937760" y="1005840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Controlled opening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Indicative 90 days after readiness</a:t>
            </a:r>
            <a:endParaRPr lang="en-US" sz="1400" dirty="0"/>
          </a:p>
        </p:txBody>
      </p:sp>
      <p:sp>
        <p:nvSpPr>
          <p:cNvPr id="9" name="Phase 4"/>
          <p:cNvSpPr/>
          <p:nvPr/>
        </p:nvSpPr>
        <p:spPr>
          <a:xfrm>
            <a:off x="6684264" y="1005840"/>
            <a:ext cx="1993392" cy="749808"/>
          </a:xfrm>
          <a:prstGeom prst="chevron">
            <a:avLst/>
          </a:prstGeom>
          <a:solidFill>
            <a:schemeClr val="bg2"/>
          </a:solidFill>
          <a:ln/>
        </p:spPr>
      </p:sp>
      <p:sp>
        <p:nvSpPr>
          <p:cNvPr id="10" name="Phase 4 text"/>
          <p:cNvSpPr txBox="1"/>
          <p:nvPr/>
        </p:nvSpPr>
        <p:spPr>
          <a:xfrm>
            <a:off x="7013448" y="1005840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Review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Go / no-go on KPIs</a:t>
            </a:r>
            <a:endParaRPr lang="en-US" sz="1400" dirty="0"/>
          </a:p>
        </p:txBody>
      </p:sp>
      <p:sp>
        <p:nvSpPr>
          <p:cNvPr id="11" name="Nigeria card"/>
          <p:cNvSpPr/>
          <p:nvPr/>
        </p:nvSpPr>
        <p:spPr>
          <a:xfrm>
            <a:off x="457200" y="1938528"/>
            <a:ext cx="23317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Nigeria card badge"/>
          <p:cNvSpPr/>
          <p:nvPr/>
        </p:nvSpPr>
        <p:spPr>
          <a:xfrm>
            <a:off x="621792" y="2103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Nigeria card code"/>
          <p:cNvSpPr txBox="1"/>
          <p:nvPr/>
        </p:nvSpPr>
        <p:spPr>
          <a:xfrm>
            <a:off x="62179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NG</a:t>
            </a:r>
            <a:endParaRPr lang="en-US" sz="1200" dirty="0"/>
          </a:p>
        </p:txBody>
      </p:sp>
      <p:sp>
        <p:nvSpPr>
          <p:cNvPr id="14" name="Nigeria card name"/>
          <p:cNvSpPr txBox="1"/>
          <p:nvPr/>
        </p:nvSpPr>
        <p:spPr>
          <a:xfrm>
            <a:off x="118872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Nigeria</a:t>
            </a:r>
            <a:endParaRPr lang="en-US" sz="1600" dirty="0"/>
          </a:p>
        </p:txBody>
      </p:sp>
      <p:sp>
        <p:nvSpPr>
          <p:cNvPr id="15" name="Nigeria card text"/>
          <p:cNvSpPr txBox="1"/>
          <p:nvPr/>
        </p:nvSpPr>
        <p:spPr>
          <a:xfrm>
            <a:off x="621792" y="26700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Separate workstream. Local entity, partner and regulatory validation.</a:t>
            </a:r>
            <a:endParaRPr lang="en-US" sz="1050" dirty="0"/>
          </a:p>
        </p:txBody>
      </p:sp>
      <p:sp>
        <p:nvSpPr>
          <p:cNvPr id="16" name="Shared scope card"/>
          <p:cNvSpPr/>
          <p:nvPr/>
        </p:nvSpPr>
        <p:spPr>
          <a:xfrm>
            <a:off x="3017520" y="1938528"/>
            <a:ext cx="3108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7" name="Shared scope title"/>
          <p:cNvSpPr txBox="1"/>
          <p:nvPr/>
        </p:nvSpPr>
        <p:spPr>
          <a:xfrm>
            <a:off x="3200400" y="2075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Shared pilot scope</a:t>
            </a:r>
            <a:endParaRPr lang="en-US" sz="1300" dirty="0"/>
          </a:p>
        </p:txBody>
      </p:sp>
      <p:sp>
        <p:nvSpPr>
          <p:cNvPr id="18" name="Shared scope list"/>
          <p:cNvSpPr txBox="1"/>
          <p:nvPr/>
        </p:nvSpPr>
        <p:spPr>
          <a:xfrm>
            <a:off x="3200400" y="23957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Limited destination corridors, selected together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Agreed customer cohort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Agreed transaction limits</a:t>
            </a:r>
            <a:endParaRPr lang="en-US" sz="1100" dirty="0"/>
          </a:p>
        </p:txBody>
      </p:sp>
      <p:sp>
        <p:nvSpPr>
          <p:cNvPr id="19" name="Ghana card"/>
          <p:cNvSpPr/>
          <p:nvPr/>
        </p:nvSpPr>
        <p:spPr>
          <a:xfrm>
            <a:off x="6355080" y="1938528"/>
            <a:ext cx="23317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Ghana card badge"/>
          <p:cNvSpPr/>
          <p:nvPr/>
        </p:nvSpPr>
        <p:spPr>
          <a:xfrm>
            <a:off x="6519672" y="2103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Ghana card code"/>
          <p:cNvSpPr txBox="1"/>
          <p:nvPr/>
        </p:nvSpPr>
        <p:spPr>
          <a:xfrm>
            <a:off x="651967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GH</a:t>
            </a:r>
            <a:endParaRPr lang="en-US" sz="1200" dirty="0"/>
          </a:p>
        </p:txBody>
      </p:sp>
      <p:sp>
        <p:nvSpPr>
          <p:cNvPr id="22" name="Ghana card name"/>
          <p:cNvSpPr txBox="1"/>
          <p:nvPr/>
        </p:nvSpPr>
        <p:spPr>
          <a:xfrm>
            <a:off x="708660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Ghana</a:t>
            </a:r>
            <a:endParaRPr lang="en-US" sz="1600" dirty="0"/>
          </a:p>
        </p:txBody>
      </p:sp>
      <p:sp>
        <p:nvSpPr>
          <p:cNvPr id="23" name="Ghana card text"/>
          <p:cNvSpPr txBox="1"/>
          <p:nvPr/>
        </p:nvSpPr>
        <p:spPr>
          <a:xfrm>
            <a:off x="6519672" y="26700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Separate workstream. Local entity, partner and regulatory validation.</a:t>
            </a:r>
            <a:endParaRPr lang="en-US" sz="1050" dirty="0"/>
          </a:p>
        </p:txBody>
      </p:sp>
      <p:sp>
        <p:nvSpPr>
          <p:cNvPr id="24" name="KPI title"/>
          <p:cNvSpPr txBox="1"/>
          <p:nvPr/>
        </p:nvSpPr>
        <p:spPr>
          <a:xfrm>
            <a:off x="45720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Pilot indicators</a:t>
            </a:r>
            <a:endParaRPr lang="en-US" sz="1300" dirty="0"/>
          </a:p>
        </p:txBody>
      </p:sp>
      <p:sp>
        <p:nvSpPr>
          <p:cNvPr id="25" name="KPI 1"/>
          <p:cNvSpPr/>
          <p:nvPr/>
        </p:nvSpPr>
        <p:spPr>
          <a:xfrm>
            <a:off x="457200" y="3794760"/>
            <a:ext cx="19888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KPI 1 text"/>
          <p:cNvSpPr txBox="1"/>
          <p:nvPr/>
        </p:nvSpPr>
        <p:spPr>
          <a:xfrm>
            <a:off x="457200" y="3794760"/>
            <a:ext cx="1988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Success rate</a:t>
            </a:r>
            <a:endParaRPr lang="en-US" sz="1100" dirty="0"/>
          </a:p>
        </p:txBody>
      </p:sp>
      <p:sp>
        <p:nvSpPr>
          <p:cNvPr id="27" name="KPI 2"/>
          <p:cNvSpPr/>
          <p:nvPr/>
        </p:nvSpPr>
        <p:spPr>
          <a:xfrm>
            <a:off x="2537460" y="3794760"/>
            <a:ext cx="19888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KPI 2 text"/>
          <p:cNvSpPr txBox="1"/>
          <p:nvPr/>
        </p:nvSpPr>
        <p:spPr>
          <a:xfrm>
            <a:off x="2537460" y="3794760"/>
            <a:ext cx="1988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Time to credit</a:t>
            </a:r>
            <a:endParaRPr lang="en-US" sz="1100" dirty="0"/>
          </a:p>
        </p:txBody>
      </p:sp>
      <p:sp>
        <p:nvSpPr>
          <p:cNvPr id="29" name="KPI 3"/>
          <p:cNvSpPr/>
          <p:nvPr/>
        </p:nvSpPr>
        <p:spPr>
          <a:xfrm>
            <a:off x="4617720" y="3794760"/>
            <a:ext cx="19888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KPI 3 text"/>
          <p:cNvSpPr txBox="1"/>
          <p:nvPr/>
        </p:nvSpPr>
        <p:spPr>
          <a:xfrm>
            <a:off x="4617720" y="3794760"/>
            <a:ext cx="1988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All-in cost per transaction</a:t>
            </a:r>
            <a:endParaRPr lang="en-US" sz="1100" dirty="0"/>
          </a:p>
        </p:txBody>
      </p:sp>
      <p:sp>
        <p:nvSpPr>
          <p:cNvPr id="31" name="KPI 4"/>
          <p:cNvSpPr/>
          <p:nvPr/>
        </p:nvSpPr>
        <p:spPr>
          <a:xfrm>
            <a:off x="6697980" y="3794760"/>
            <a:ext cx="19888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KPI 4 text"/>
          <p:cNvSpPr txBox="1"/>
          <p:nvPr/>
        </p:nvSpPr>
        <p:spPr>
          <a:xfrm>
            <a:off x="6697980" y="3794760"/>
            <a:ext cx="1988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Contribution margin</a:t>
            </a:r>
            <a:endParaRPr lang="en-US" sz="1100" dirty="0"/>
          </a:p>
        </p:txBody>
      </p:sp>
      <p:sp>
        <p:nvSpPr>
          <p:cNvPr id="33" name="KPI 5"/>
          <p:cNvSpPr/>
          <p:nvPr/>
        </p:nvSpPr>
        <p:spPr>
          <a:xfrm>
            <a:off x="457200" y="4178808"/>
            <a:ext cx="19888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KPI 5 text"/>
          <p:cNvSpPr txBox="1"/>
          <p:nvPr/>
        </p:nvSpPr>
        <p:spPr>
          <a:xfrm>
            <a:off x="457200" y="4178808"/>
            <a:ext cx="1988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Reconciliation rate</a:t>
            </a:r>
            <a:endParaRPr lang="en-US" sz="1100" dirty="0"/>
          </a:p>
        </p:txBody>
      </p:sp>
      <p:sp>
        <p:nvSpPr>
          <p:cNvPr id="35" name="KPI 6"/>
          <p:cNvSpPr/>
          <p:nvPr/>
        </p:nvSpPr>
        <p:spPr>
          <a:xfrm>
            <a:off x="2537460" y="4178808"/>
            <a:ext cx="19888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KPI 6 text"/>
          <p:cNvSpPr txBox="1"/>
          <p:nvPr/>
        </p:nvSpPr>
        <p:spPr>
          <a:xfrm>
            <a:off x="2537460" y="4178808"/>
            <a:ext cx="1988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Complaints</a:t>
            </a:r>
            <a:endParaRPr lang="en-US" sz="1100" dirty="0"/>
          </a:p>
        </p:txBody>
      </p:sp>
      <p:sp>
        <p:nvSpPr>
          <p:cNvPr id="37" name="KPI 7"/>
          <p:cNvSpPr/>
          <p:nvPr/>
        </p:nvSpPr>
        <p:spPr>
          <a:xfrm>
            <a:off x="4617720" y="4178808"/>
            <a:ext cx="19888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KPI 7 text"/>
          <p:cNvSpPr txBox="1"/>
          <p:nvPr/>
        </p:nvSpPr>
        <p:spPr>
          <a:xfrm>
            <a:off x="4617720" y="4178808"/>
            <a:ext cx="1988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Compliance incidents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Align on the pilot workstreams</a:t>
            </a:r>
            <a:endParaRPr lang="en-US" sz="2800" dirty="0"/>
          </a:p>
        </p:txBody>
      </p:sp>
      <p:sp>
        <p:nvSpPr>
          <p:cNvPr id="3" name="Decisions intro"/>
          <p:cNvSpPr txBox="1"/>
          <p:nvPr/>
        </p:nvSpPr>
        <p:spPr>
          <a:xfrm>
            <a:off x="457200" y="914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Decisions we propose to take together</a:t>
            </a:r>
            <a:endParaRPr lang="en-US" sz="1400" dirty="0"/>
          </a:p>
        </p:txBody>
      </p:sp>
      <p:sp>
        <p:nvSpPr>
          <p:cNvPr id="4" name="Decision 1 circle"/>
          <p:cNvSpPr/>
          <p:nvPr/>
        </p:nvSpPr>
        <p:spPr>
          <a:xfrm>
            <a:off x="457200" y="132588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ecis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06" y="1444386"/>
            <a:ext cx="201900" cy="201900"/>
          </a:xfrm>
          <a:prstGeom prst="rect">
            <a:avLst/>
          </a:prstGeom>
        </p:spPr>
      </p:pic>
      <p:sp>
        <p:nvSpPr>
          <p:cNvPr id="6" name="Decision 1 text"/>
          <p:cNvSpPr txBox="1"/>
          <p:nvPr/>
        </p:nvSpPr>
        <p:spPr>
          <a:xfrm>
            <a:off x="1051560" y="13258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Name business, product, technical and compliance leads</a:t>
            </a:r>
            <a:endParaRPr lang="en-US" sz="1400" dirty="0"/>
          </a:p>
        </p:txBody>
      </p:sp>
      <p:sp>
        <p:nvSpPr>
          <p:cNvPr id="7" name="Decision 2 circle"/>
          <p:cNvSpPr/>
          <p:nvPr/>
        </p:nvSpPr>
        <p:spPr>
          <a:xfrm>
            <a:off x="457200" y="194767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Decis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06" y="2066178"/>
            <a:ext cx="201900" cy="201900"/>
          </a:xfrm>
          <a:prstGeom prst="rect">
            <a:avLst/>
          </a:prstGeom>
        </p:spPr>
      </p:pic>
      <p:sp>
        <p:nvSpPr>
          <p:cNvPr id="9" name="Decision 2 text"/>
          <p:cNvSpPr txBox="1"/>
          <p:nvPr/>
        </p:nvSpPr>
        <p:spPr>
          <a:xfrm>
            <a:off x="1051560" y="19476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Confirm participating entities in Nigeria and Ghana</a:t>
            </a:r>
            <a:endParaRPr lang="en-US" sz="1400" dirty="0"/>
          </a:p>
        </p:txBody>
      </p:sp>
      <p:sp>
        <p:nvSpPr>
          <p:cNvPr id="10" name="Decision 3 circle"/>
          <p:cNvSpPr/>
          <p:nvPr/>
        </p:nvSpPr>
        <p:spPr>
          <a:xfrm>
            <a:off x="457200" y="25694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Decis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06" y="2687970"/>
            <a:ext cx="201900" cy="201900"/>
          </a:xfrm>
          <a:prstGeom prst="rect">
            <a:avLst/>
          </a:prstGeom>
        </p:spPr>
      </p:pic>
      <p:sp>
        <p:nvSpPr>
          <p:cNvPr id="12" name="Decision 3 text"/>
          <p:cNvSpPr txBox="1"/>
          <p:nvPr/>
        </p:nvSpPr>
        <p:spPr>
          <a:xfrm>
            <a:off x="1051560" y="256946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Select priority corridors and use cases</a:t>
            </a:r>
            <a:endParaRPr lang="en-US" sz="1400" dirty="0"/>
          </a:p>
        </p:txBody>
      </p:sp>
      <p:sp>
        <p:nvSpPr>
          <p:cNvPr id="13" name="Decision 4 circle"/>
          <p:cNvSpPr/>
          <p:nvPr/>
        </p:nvSpPr>
        <p:spPr>
          <a:xfrm>
            <a:off x="457200" y="3191256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Decis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06" y="3309762"/>
            <a:ext cx="201900" cy="201900"/>
          </a:xfrm>
          <a:prstGeom prst="rect">
            <a:avLst/>
          </a:prstGeom>
        </p:spPr>
      </p:pic>
      <p:sp>
        <p:nvSpPr>
          <p:cNvPr id="15" name="Decision 4 text"/>
          <p:cNvSpPr txBox="1"/>
          <p:nvPr/>
        </p:nvSpPr>
        <p:spPr>
          <a:xfrm>
            <a:off x="1051560" y="319125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Validate local partners, contract framework and responsibilities</a:t>
            </a:r>
            <a:endParaRPr lang="en-US" sz="1400" dirty="0"/>
          </a:p>
        </p:txBody>
      </p:sp>
      <p:sp>
        <p:nvSpPr>
          <p:cNvPr id="16" name="Decision 5 circle"/>
          <p:cNvSpPr/>
          <p:nvPr/>
        </p:nvSpPr>
        <p:spPr>
          <a:xfrm>
            <a:off x="457200" y="381304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Decision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06" y="3931554"/>
            <a:ext cx="201900" cy="201900"/>
          </a:xfrm>
          <a:prstGeom prst="rect">
            <a:avLst/>
          </a:prstGeom>
        </p:spPr>
      </p:pic>
      <p:sp>
        <p:nvSpPr>
          <p:cNvPr id="18" name="Decision 5 text"/>
          <p:cNvSpPr txBox="1"/>
          <p:nvPr/>
        </p:nvSpPr>
        <p:spPr>
          <a:xfrm>
            <a:off x="1051560" y="38130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Define commercial terms and launch criteria</a:t>
            </a:r>
            <a:endParaRPr lang="en-US" sz="1400" dirty="0"/>
          </a:p>
        </p:txBody>
      </p:sp>
      <p:sp>
        <p:nvSpPr>
          <p:cNvPr id="19" name="Next step card"/>
          <p:cNvSpPr/>
          <p:nvPr/>
        </p:nvSpPr>
        <p:spPr>
          <a:xfrm>
            <a:off x="5669280" y="1051560"/>
            <a:ext cx="3017520" cy="34290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</p:spPr>
      </p:sp>
      <p:sp>
        <p:nvSpPr>
          <p:cNvPr id="20" name="Workshop circle"/>
          <p:cNvSpPr/>
          <p:nvPr/>
        </p:nvSpPr>
        <p:spPr>
          <a:xfrm>
            <a:off x="5943600" y="132588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1" name="Workshop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6422" y="1498702"/>
            <a:ext cx="294437" cy="294437"/>
          </a:xfrm>
          <a:prstGeom prst="rect">
            <a:avLst/>
          </a:prstGeom>
        </p:spPr>
      </p:pic>
      <p:sp>
        <p:nvSpPr>
          <p:cNvPr id="22" name="Next step label"/>
          <p:cNvSpPr txBox="1"/>
          <p:nvPr/>
        </p:nvSpPr>
        <p:spPr>
          <a:xfrm>
            <a:off x="5943600" y="2148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PROPOSED NEXT STEP</a:t>
            </a:r>
            <a:endParaRPr lang="en-US" sz="1000" dirty="0"/>
          </a:p>
        </p:txBody>
      </p:sp>
      <p:sp>
        <p:nvSpPr>
          <p:cNvPr id="23" name="Next step title"/>
          <p:cNvSpPr txBox="1"/>
          <p:nvPr/>
        </p:nvSpPr>
        <p:spPr>
          <a:xfrm>
            <a:off x="5943600" y="2423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Joint scoping workshop</a:t>
            </a:r>
            <a:endParaRPr lang="en-US" sz="2000" dirty="0"/>
          </a:p>
        </p:txBody>
      </p:sp>
      <p:sp>
        <p:nvSpPr>
          <p:cNvPr id="24" name="Next step parties"/>
          <p:cNvSpPr txBox="1"/>
          <p:nvPr/>
        </p:nvSpPr>
        <p:spPr>
          <a:xfrm>
            <a:off x="5943600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MTN · Cambiste · Ripple</a:t>
            </a:r>
            <a:endParaRPr lang="en-US" sz="1400" dirty="0"/>
          </a:p>
        </p:txBody>
      </p:sp>
      <p:sp>
        <p:nvSpPr>
          <p:cNvPr id="25" name="Next step caveat"/>
          <p:cNvSpPr txBox="1"/>
          <p:nvPr/>
        </p:nvSpPr>
        <p:spPr>
          <a:xfrm>
            <a:off x="5943600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 frame the pilot, subject to the availability and agreement of all parties.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biste">
  <a:themeElements>
    <a:clrScheme name="Cambiste">
      <a:dk1>
        <a:srgbClr val="16324F"/>
      </a:dk1>
      <a:lt1>
        <a:srgbClr val="FFFFFF"/>
      </a:lt1>
      <a:dk2>
        <a:srgbClr val="4A5563"/>
      </a:dk2>
      <a:lt2>
        <a:srgbClr val="EEF3F8"/>
      </a:lt2>
      <a:accent1>
        <a:srgbClr val="2F6FB0"/>
      </a:accent1>
      <a:accent2>
        <a:srgbClr val="1C8C7A"/>
      </a:accent2>
      <a:accent3>
        <a:srgbClr val="C9D6E2"/>
      </a:accent3>
      <a:accent4>
        <a:srgbClr val="0D2136"/>
      </a:accent4>
      <a:accent5>
        <a:srgbClr val="D99A2B"/>
      </a:accent5>
      <a:accent6>
        <a:srgbClr val="8A94A3"/>
      </a:accent6>
      <a:hlink>
        <a:srgbClr val="2F6FB0"/>
      </a:hlink>
      <a:folHlink>
        <a:srgbClr val="4A5563"/>
      </a:folHlink>
    </a:clrScheme>
    <a:fontScheme name="Cambis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Cambiste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MTN wallets to global bank accounts — Pilot proposal</dc:title>
  <dc:subject>PptxGenJS Presentation</dc:subject>
  <dc:creator>Cambiste</dc:creator>
  <cp:lastModifiedBy>Cambiste</cp:lastModifiedBy>
  <cp:revision>1</cp:revision>
  <dcterms:created xsi:type="dcterms:W3CDTF">2026-10-16T23:38:15Z</dcterms:created>
  <dcterms:modified xsi:type="dcterms:W3CDTF">2026-10-16T23:38:15Z</dcterms:modified>
</cp:coreProperties>
</file>