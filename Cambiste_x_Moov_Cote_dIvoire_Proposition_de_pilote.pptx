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de la présentation : obtenir un accord de principe pour passer au cadrage d'un pilote encadré de paiements transfrontaliers avec Moov Côte d'Ivoire.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bénéfices seulement, sans donnée chiffrée : l'objectif est de cadrer l'opportunité, pas de la quantifier avant le pilote.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schéma doit être compris en moins de dix secondes. Cambiste apparaît comme couche d'orchestration, jamais comme détenteur de fonds.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fonctions, une seule intégration côté Moov. Cambiste est un fournisseur de services techniques : orchestration, contrôles applicatifs, rapprochement.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centrale du deck. Message : la conformité n'est pas ajoutée après coup, elle conditionne l'exécution. Aucune affirmation d'agrément ou de certification n'est faite.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acteur reste dans son périmètre. Cambiste n'assume aucun rôle réglementé et ne se substitue à aucun acteur agréé.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pilote est présenté comme un mécanisme de réduction du risque : périmètre borné, volumes contrôlés, décision d'extension conditionnée aux résultats.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Aucun seuil chiffré n'est avancé à ce stade : les cibles sont fixées conjointement pendant le cadrage.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la maîtrise méthodologique : passer d'une discussion commerciale à un pilote opérationnel selon une séquence éprouvée. Aucun délai n'est avancé.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Décision attendue à l'issue de la présentation : accord de principe pour passer au cadrage du pilote Cambiste x Moov Côte d'Ivoire.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43E"/>
        </a:solidFill>
      </p:bgPr>
    </p:bg>
    <p:spTree>
      <p:nvGrpSpPr>
        <p:cNvPr id="1" name=""/>
        <p:cNvGrpSpPr/>
        <p:nvPr/>
      </p:nvGrpSpPr>
      <p:grpSpPr>
        <a:xfrm>
          <a:off x="0" y="0"/>
          <a:ext cx="0" cy="0"/>
          <a:chOff x="0" y="0"/>
          <a:chExt cx="0" cy="0"/>
        </a:xfrm>
      </p:grpSpPr>
      <p:sp>
        <p:nvSpPr>
          <p:cNvPr id="2" name="Shape 0"/>
          <p:cNvSpPr/>
          <p:nvPr/>
        </p:nvSpPr>
        <p:spPr>
          <a:xfrm>
            <a:off x="8366760" y="-1417320"/>
            <a:ext cx="5669280" cy="5669280"/>
          </a:xfrm>
          <a:prstGeom prst="roundRect">
            <a:avLst>
              <a:gd name="adj" fmla="val 27419"/>
            </a:avLst>
          </a:prstGeom>
          <a:solidFill>
            <a:srgbClr val="12304F"/>
          </a:solidFill>
          <a:ln/>
        </p:spPr>
      </p:sp>
      <p:sp>
        <p:nvSpPr>
          <p:cNvPr id="3" name="Shape 1"/>
          <p:cNvSpPr/>
          <p:nvPr/>
        </p:nvSpPr>
        <p:spPr>
          <a:xfrm>
            <a:off x="9829800" y="3063240"/>
            <a:ext cx="4023360" cy="4023360"/>
          </a:xfrm>
          <a:prstGeom prst="roundRect">
            <a:avLst>
              <a:gd name="adj" fmla="val 28409"/>
            </a:avLst>
          </a:prstGeom>
          <a:solidFill>
            <a:srgbClr val="0BB165">
              <a:alpha val="12000"/>
            </a:srgbClr>
          </a:solidFill>
          <a:ln/>
        </p:spPr>
      </p:sp>
      <p:pic>
        <p:nvPicPr>
          <p:cNvPr id="4" name="Image 0" descr="/home/user/print-function-file-argument/deck/assets/logo_light.png">    </p:cNvPr>
          <p:cNvPicPr>
            <a:picLocks noChangeAspect="1"/>
          </p:cNvPicPr>
          <p:nvPr/>
        </p:nvPicPr>
        <p:blipFill>
          <a:blip r:embed="rId1"/>
          <a:stretch>
            <a:fillRect/>
          </a:stretch>
        </p:blipFill>
        <p:spPr>
          <a:xfrm>
            <a:off x="685800" y="658368"/>
            <a:ext cx="2148840" cy="332842"/>
          </a:xfrm>
          <a:prstGeom prst="rect">
            <a:avLst/>
          </a:prstGeom>
        </p:spPr>
      </p:pic>
      <p:sp>
        <p:nvSpPr>
          <p:cNvPr id="5" name="Text 2"/>
          <p:cNvSpPr/>
          <p:nvPr/>
        </p:nvSpPr>
        <p:spPr>
          <a:xfrm>
            <a:off x="685800" y="1014984"/>
            <a:ext cx="2743200" cy="219456"/>
          </a:xfrm>
          <a:prstGeom prst="rect">
            <a:avLst/>
          </a:prstGeom>
          <a:noFill/>
          <a:ln/>
        </p:spPr>
        <p:txBody>
          <a:bodyPr wrap="square" lIns="0" tIns="0" rIns="0" bIns="0" rtlCol="0" anchor="ctr"/>
          <a:lstStyle/>
          <a:p>
            <a:pPr indent="0" marL="0">
              <a:buNone/>
            </a:pPr>
            <a:r>
              <a:rPr lang="en-US" sz="950" b="1" spc="120" kern="0" dirty="0">
                <a:solidFill>
                  <a:srgbClr val="93A9BF"/>
                </a:solidFill>
                <a:latin typeface="Arial" pitchFamily="34" charset="0"/>
                <a:ea typeface="Arial" pitchFamily="34" charset="-122"/>
                <a:cs typeface="Arial" pitchFamily="34" charset="-120"/>
              </a:rPr>
              <a:t>Limitless Africa</a:t>
            </a:r>
            <a:endParaRPr lang="en-US" sz="950" dirty="0"/>
          </a:p>
        </p:txBody>
      </p:sp>
      <p:sp>
        <p:nvSpPr>
          <p:cNvPr id="6" name="Text 3"/>
          <p:cNvSpPr/>
          <p:nvPr/>
        </p:nvSpPr>
        <p:spPr>
          <a:xfrm>
            <a:off x="685800" y="2487168"/>
            <a:ext cx="7315200" cy="237744"/>
          </a:xfrm>
          <a:prstGeom prst="rect">
            <a:avLst/>
          </a:prstGeom>
          <a:noFill/>
          <a:ln/>
        </p:spPr>
        <p:txBody>
          <a:bodyPr wrap="square" lIns="0" tIns="0" rIns="0" bIns="0" rtlCol="0" anchor="ctr"/>
          <a:lstStyle/>
          <a:p>
            <a:pPr indent="0" marL="0">
              <a:buNone/>
            </a:pPr>
            <a:r>
              <a:rPr lang="en-US" sz="1050" b="1" spc="200" kern="0" dirty="0">
                <a:solidFill>
                  <a:srgbClr val="0BB165"/>
                </a:solidFill>
                <a:latin typeface="Arial" pitchFamily="34" charset="0"/>
                <a:ea typeface="Arial" pitchFamily="34" charset="-122"/>
                <a:cs typeface="Arial" pitchFamily="34" charset="-120"/>
              </a:rPr>
              <a:t>PROPOSITION DE PILOTE  —  CÔTE D'IVOIRE</a:t>
            </a:r>
            <a:endParaRPr lang="en-US" sz="1050" dirty="0"/>
          </a:p>
        </p:txBody>
      </p:sp>
      <p:sp>
        <p:nvSpPr>
          <p:cNvPr id="7" name="Text 4"/>
          <p:cNvSpPr/>
          <p:nvPr/>
        </p:nvSpPr>
        <p:spPr>
          <a:xfrm>
            <a:off x="685800" y="2852928"/>
            <a:ext cx="8595360" cy="868680"/>
          </a:xfrm>
          <a:prstGeom prst="rect">
            <a:avLst/>
          </a:prstGeom>
          <a:noFill/>
          <a:ln/>
        </p:spPr>
        <p:txBody>
          <a:bodyPr wrap="square" lIns="0" tIns="0" rIns="0" bIns="0" rtlCol="0" anchor="ctr"/>
          <a:lstStyle/>
          <a:p>
            <a:pPr indent="0" marL="0">
              <a:buNone/>
            </a:pPr>
            <a:r>
              <a:rPr lang="en-US" sz="4200" b="1" spc="-80" kern="0" dirty="0">
                <a:solidFill>
                  <a:srgbClr val="FFFFFF"/>
                </a:solidFill>
                <a:latin typeface="Arial" pitchFamily="34" charset="0"/>
                <a:ea typeface="Arial" pitchFamily="34" charset="-122"/>
                <a:cs typeface="Arial" pitchFamily="34" charset="-120"/>
              </a:rPr>
              <a:t>Cambiste × Moov Côte d'Ivoire</a:t>
            </a:r>
            <a:endParaRPr lang="en-US" sz="4200" dirty="0"/>
          </a:p>
        </p:txBody>
      </p:sp>
      <p:sp>
        <p:nvSpPr>
          <p:cNvPr id="8" name="Text 5"/>
          <p:cNvSpPr/>
          <p:nvPr/>
        </p:nvSpPr>
        <p:spPr>
          <a:xfrm>
            <a:off x="685800" y="3794760"/>
            <a:ext cx="7498080" cy="731520"/>
          </a:xfrm>
          <a:prstGeom prst="rect">
            <a:avLst/>
          </a:prstGeom>
          <a:noFill/>
          <a:ln/>
        </p:spPr>
        <p:txBody>
          <a:bodyPr wrap="square" lIns="0" tIns="0" rIns="0" bIns="0" rtlCol="0" anchor="t"/>
          <a:lstStyle/>
          <a:p>
            <a:pPr indent="0" marL="0">
              <a:lnSpc>
                <a:spcPts val="2500"/>
              </a:lnSpc>
              <a:buNone/>
            </a:pPr>
            <a:r>
              <a:rPr lang="en-US" sz="1650" dirty="0">
                <a:solidFill>
                  <a:srgbClr val="93A9BF"/>
                </a:solidFill>
                <a:latin typeface="Arial" pitchFamily="34" charset="0"/>
                <a:ea typeface="Arial" pitchFamily="34" charset="-122"/>
                <a:cs typeface="Arial" pitchFamily="34" charset="-120"/>
              </a:rPr>
              <a:t>Étendre les possibilités du Mobile Money aux paiements transfrontaliers</a:t>
            </a:r>
            <a:endParaRPr lang="en-US" sz="1650" dirty="0"/>
          </a:p>
        </p:txBody>
      </p:sp>
      <p:sp>
        <p:nvSpPr>
          <p:cNvPr id="9" name="Text 6"/>
          <p:cNvSpPr/>
          <p:nvPr/>
        </p:nvSpPr>
        <p:spPr>
          <a:xfrm>
            <a:off x="685800" y="6053328"/>
            <a:ext cx="7772400" cy="256032"/>
          </a:xfrm>
          <a:prstGeom prst="rect">
            <a:avLst/>
          </a:prstGeom>
          <a:noFill/>
          <a:ln/>
        </p:spPr>
        <p:txBody>
          <a:bodyPr wrap="square" lIns="0" tIns="0" rIns="0" bIns="0" rtlCol="0" anchor="ctr"/>
          <a:lstStyle/>
          <a:p>
            <a:pPr indent="0" marL="0">
              <a:buNone/>
            </a:pPr>
            <a:r>
              <a:rPr lang="en-US" sz="950" dirty="0">
                <a:solidFill>
                  <a:srgbClr val="6C8299"/>
                </a:solidFill>
                <a:latin typeface="Arial" pitchFamily="34" charset="0"/>
                <a:ea typeface="Arial" pitchFamily="34" charset="-122"/>
                <a:cs typeface="Arial" pitchFamily="34" charset="-120"/>
              </a:rPr>
              <a:t>Document confidentiel — destiné à la Direction Générale de Moov Côte d'Ivoire</a:t>
            </a:r>
            <a:endParaRPr lang="en-US" sz="950" dirty="0"/>
          </a:p>
        </p:txBody>
      </p:sp>
      <p:sp>
        <p:nvSpPr>
          <p:cNvPr id="10" name="Text 7"/>
          <p:cNvSpPr/>
          <p:nvPr/>
        </p:nvSpPr>
        <p:spPr>
          <a:xfrm>
            <a:off x="9494215" y="6053328"/>
            <a:ext cx="2011680" cy="256032"/>
          </a:xfrm>
          <a:prstGeom prst="rect">
            <a:avLst/>
          </a:prstGeom>
          <a:noFill/>
          <a:ln/>
        </p:spPr>
        <p:txBody>
          <a:bodyPr wrap="square" lIns="0" tIns="0" rIns="0" bIns="0" rtlCol="0" anchor="ctr"/>
          <a:lstStyle/>
          <a:p>
            <a:pPr algn="r" indent="0" marL="0">
              <a:buNone/>
            </a:pPr>
            <a:r>
              <a:rPr lang="en-US" sz="950" b="1" dirty="0">
                <a:solidFill>
                  <a:srgbClr val="6C8299"/>
                </a:solidFill>
                <a:latin typeface="Arial" pitchFamily="34" charset="0"/>
                <a:ea typeface="Arial" pitchFamily="34" charset="-122"/>
                <a:cs typeface="Arial" pitchFamily="34" charset="-120"/>
              </a:rPr>
              <a:t>Août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66928"/>
            <a:ext cx="5486400" cy="237744"/>
          </a:xfrm>
          <a:prstGeom prst="rect">
            <a:avLst/>
          </a:prstGeom>
          <a:noFill/>
          <a:ln/>
        </p:spPr>
        <p:txBody>
          <a:bodyPr wrap="square" lIns="0" tIns="0" rIns="0" bIns="0" rtlCol="0" anchor="ctr"/>
          <a:lstStyle/>
          <a:p>
            <a:pPr indent="0" marL="0">
              <a:buNone/>
            </a:pPr>
            <a:r>
              <a:rPr lang="en-US" sz="1050" b="1" spc="200" kern="0" dirty="0">
                <a:solidFill>
                  <a:srgbClr val="0BB165"/>
                </a:solidFill>
                <a:latin typeface="Arial" pitchFamily="34" charset="0"/>
                <a:ea typeface="Arial" pitchFamily="34" charset="-122"/>
                <a:cs typeface="Arial" pitchFamily="34" charset="-120"/>
              </a:rPr>
              <a:t>L'OPPORTUNITÉ</a:t>
            </a:r>
            <a:endParaRPr lang="en-US" sz="1050" dirty="0"/>
          </a:p>
        </p:txBody>
      </p:sp>
      <p:sp>
        <p:nvSpPr>
          <p:cNvPr id="3" name="Text 1"/>
          <p:cNvSpPr/>
          <p:nvPr/>
        </p:nvSpPr>
        <p:spPr>
          <a:xfrm>
            <a:off x="685800" y="868680"/>
            <a:ext cx="9692640" cy="777240"/>
          </a:xfrm>
          <a:prstGeom prst="rect">
            <a:avLst/>
          </a:prstGeom>
          <a:noFill/>
          <a:ln/>
        </p:spPr>
        <p:txBody>
          <a:bodyPr wrap="square" lIns="0" tIns="0" rIns="0" bIns="0" rtlCol="0" anchor="ctr"/>
          <a:lstStyle/>
          <a:p>
            <a:pPr indent="0" marL="0">
              <a:buNone/>
            </a:pPr>
            <a:r>
              <a:rPr lang="en-US" sz="3200" b="1" spc="-30" kern="0" dirty="0">
                <a:solidFill>
                  <a:srgbClr val="0B243E"/>
                </a:solidFill>
                <a:latin typeface="Arial" pitchFamily="34" charset="0"/>
                <a:ea typeface="Arial" pitchFamily="34" charset="-122"/>
                <a:cs typeface="Arial" pitchFamily="34" charset="-120"/>
              </a:rPr>
              <a:t>Une nouvelle opportunité pour Moov Money</a:t>
            </a:r>
            <a:endParaRPr lang="en-US" sz="3200" dirty="0"/>
          </a:p>
        </p:txBody>
      </p:sp>
      <p:sp>
        <p:nvSpPr>
          <p:cNvPr id="4" name="Text 2"/>
          <p:cNvSpPr/>
          <p:nvPr/>
        </p:nvSpPr>
        <p:spPr>
          <a:xfrm>
            <a:off x="685800" y="1755648"/>
            <a:ext cx="9509760" cy="822960"/>
          </a:xfrm>
          <a:prstGeom prst="rect">
            <a:avLst/>
          </a:prstGeom>
          <a:noFill/>
          <a:ln/>
        </p:spPr>
        <p:txBody>
          <a:bodyPr wrap="square" lIns="0" tIns="0" rIns="0" bIns="0" rtlCol="0" anchor="t"/>
          <a:lstStyle/>
          <a:p>
            <a:pPr indent="0" marL="0">
              <a:lnSpc>
                <a:spcPts val="1800"/>
              </a:lnSpc>
              <a:buNone/>
            </a:pPr>
            <a:r>
              <a:rPr lang="en-US" sz="1250" dirty="0">
                <a:solidFill>
                  <a:srgbClr val="5C7186"/>
                </a:solidFill>
                <a:latin typeface="Arial" pitchFamily="34" charset="0"/>
                <a:ea typeface="Arial" pitchFamily="34" charset="-122"/>
                <a:cs typeface="Arial" pitchFamily="34" charset="-120"/>
              </a:rPr>
              <a:t>Moov Money constitue déjà un point d'accès essentiel aux services financiers numériques en Côte d'Ivoire. Cambiste propose d'étendre progressivement cette utilité vers de nouveaux usages transfrontaliers, dans un cadre limité et contrôlé.</a:t>
            </a:r>
            <a:endParaRPr lang="en-US" sz="1250" dirty="0"/>
          </a:p>
        </p:txBody>
      </p:sp>
      <p:sp>
        <p:nvSpPr>
          <p:cNvPr id="5" name="Shape 3"/>
          <p:cNvSpPr/>
          <p:nvPr/>
        </p:nvSpPr>
        <p:spPr>
          <a:xfrm>
            <a:off x="685800" y="2880360"/>
            <a:ext cx="3301898" cy="2560320"/>
          </a:xfrm>
          <a:prstGeom prst="roundRect">
            <a:avLst>
              <a:gd name="adj" fmla="val 5714"/>
            </a:avLst>
          </a:prstGeom>
          <a:solidFill>
            <a:srgbClr val="F5F8FA"/>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6" name="Shape 4"/>
          <p:cNvSpPr/>
          <p:nvPr/>
        </p:nvSpPr>
        <p:spPr>
          <a:xfrm>
            <a:off x="1069848" y="3291840"/>
            <a:ext cx="457200" cy="457200"/>
          </a:xfrm>
          <a:prstGeom prst="roundRect">
            <a:avLst>
              <a:gd name="adj" fmla="val 30000"/>
            </a:avLst>
          </a:prstGeom>
          <a:solidFill>
            <a:srgbClr val="0BB165"/>
          </a:solidFill>
          <a:ln/>
        </p:spPr>
      </p:sp>
      <p:sp>
        <p:nvSpPr>
          <p:cNvPr id="7" name="Text 5"/>
          <p:cNvSpPr/>
          <p:nvPr/>
        </p:nvSpPr>
        <p:spPr>
          <a:xfrm>
            <a:off x="1069848" y="32918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01</a:t>
            </a:r>
            <a:endParaRPr lang="en-US" sz="1200" dirty="0"/>
          </a:p>
        </p:txBody>
      </p:sp>
      <p:sp>
        <p:nvSpPr>
          <p:cNvPr id="8" name="Text 6"/>
          <p:cNvSpPr/>
          <p:nvPr/>
        </p:nvSpPr>
        <p:spPr>
          <a:xfrm>
            <a:off x="1069848" y="3931920"/>
            <a:ext cx="2533802" cy="566928"/>
          </a:xfrm>
          <a:prstGeom prst="rect">
            <a:avLst/>
          </a:prstGeom>
          <a:noFill/>
          <a:ln/>
        </p:spPr>
        <p:txBody>
          <a:bodyPr wrap="square" lIns="0" tIns="0" rIns="0" bIns="0" rtlCol="0" anchor="t"/>
          <a:lstStyle/>
          <a:p>
            <a:pPr indent="0" marL="0">
              <a:lnSpc>
                <a:spcPts val="1900"/>
              </a:lnSpc>
              <a:buNone/>
            </a:pPr>
            <a:r>
              <a:rPr lang="en-US" sz="1400" b="1" dirty="0">
                <a:solidFill>
                  <a:srgbClr val="0B243E"/>
                </a:solidFill>
                <a:latin typeface="Arial" pitchFamily="34" charset="0"/>
                <a:ea typeface="Arial" pitchFamily="34" charset="-122"/>
                <a:cs typeface="Arial" pitchFamily="34" charset="-120"/>
              </a:rPr>
              <a:t>PLUS D'USAGES</a:t>
            </a:r>
            <a:endParaRPr lang="en-US" sz="1400" dirty="0"/>
          </a:p>
        </p:txBody>
      </p:sp>
      <p:sp>
        <p:nvSpPr>
          <p:cNvPr id="9" name="Text 7"/>
          <p:cNvSpPr/>
          <p:nvPr/>
        </p:nvSpPr>
        <p:spPr>
          <a:xfrm>
            <a:off x="1069848" y="4526280"/>
            <a:ext cx="2533802" cy="685800"/>
          </a:xfrm>
          <a:prstGeom prst="rect">
            <a:avLst/>
          </a:prstGeom>
          <a:noFill/>
          <a:ln/>
        </p:spPr>
        <p:txBody>
          <a:bodyPr wrap="square" lIns="0" tIns="0" rIns="0" bIns="0" rtlCol="0" anchor="t"/>
          <a:lstStyle/>
          <a:p>
            <a:pPr indent="0" marL="0">
              <a:lnSpc>
                <a:spcPts val="1500"/>
              </a:lnSpc>
              <a:buNone/>
            </a:pPr>
            <a:r>
              <a:rPr lang="en-US" sz="1100" dirty="0">
                <a:solidFill>
                  <a:srgbClr val="5C7186"/>
                </a:solidFill>
                <a:latin typeface="Arial" pitchFamily="34" charset="0"/>
                <a:ea typeface="Arial" pitchFamily="34" charset="-122"/>
                <a:cs typeface="Arial" pitchFamily="34" charset="-120"/>
              </a:rPr>
              <a:t>Enrichir les possibilités offertes depuis l'environnement Moov Money.</a:t>
            </a:r>
            <a:endParaRPr lang="en-US" sz="1100" dirty="0"/>
          </a:p>
        </p:txBody>
      </p:sp>
      <p:sp>
        <p:nvSpPr>
          <p:cNvPr id="10" name="Shape 8"/>
          <p:cNvSpPr/>
          <p:nvPr/>
        </p:nvSpPr>
        <p:spPr>
          <a:xfrm>
            <a:off x="4444898" y="2880360"/>
            <a:ext cx="3301898" cy="2560320"/>
          </a:xfrm>
          <a:prstGeom prst="roundRect">
            <a:avLst>
              <a:gd name="adj" fmla="val 5714"/>
            </a:avLst>
          </a:prstGeom>
          <a:solidFill>
            <a:srgbClr val="F5F8FA"/>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11" name="Shape 9"/>
          <p:cNvSpPr/>
          <p:nvPr/>
        </p:nvSpPr>
        <p:spPr>
          <a:xfrm>
            <a:off x="4828946" y="3291840"/>
            <a:ext cx="457200" cy="457200"/>
          </a:xfrm>
          <a:prstGeom prst="roundRect">
            <a:avLst>
              <a:gd name="adj" fmla="val 30000"/>
            </a:avLst>
          </a:prstGeom>
          <a:solidFill>
            <a:srgbClr val="0BB165"/>
          </a:solidFill>
          <a:ln/>
        </p:spPr>
      </p:sp>
      <p:sp>
        <p:nvSpPr>
          <p:cNvPr id="12" name="Text 10"/>
          <p:cNvSpPr/>
          <p:nvPr/>
        </p:nvSpPr>
        <p:spPr>
          <a:xfrm>
            <a:off x="4828946" y="32918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02</a:t>
            </a:r>
            <a:endParaRPr lang="en-US" sz="1200" dirty="0"/>
          </a:p>
        </p:txBody>
      </p:sp>
      <p:sp>
        <p:nvSpPr>
          <p:cNvPr id="13" name="Text 11"/>
          <p:cNvSpPr/>
          <p:nvPr/>
        </p:nvSpPr>
        <p:spPr>
          <a:xfrm>
            <a:off x="4828946" y="3931920"/>
            <a:ext cx="2533802" cy="566928"/>
          </a:xfrm>
          <a:prstGeom prst="rect">
            <a:avLst/>
          </a:prstGeom>
          <a:noFill/>
          <a:ln/>
        </p:spPr>
        <p:txBody>
          <a:bodyPr wrap="square" lIns="0" tIns="0" rIns="0" bIns="0" rtlCol="0" anchor="t"/>
          <a:lstStyle/>
          <a:p>
            <a:pPr indent="0" marL="0">
              <a:lnSpc>
                <a:spcPts val="1900"/>
              </a:lnSpc>
              <a:buNone/>
            </a:pPr>
            <a:r>
              <a:rPr lang="en-US" sz="1400" b="1" dirty="0">
                <a:solidFill>
                  <a:srgbClr val="0B243E"/>
                </a:solidFill>
                <a:latin typeface="Arial" pitchFamily="34" charset="0"/>
                <a:ea typeface="Arial" pitchFamily="34" charset="-122"/>
                <a:cs typeface="Arial" pitchFamily="34" charset="-120"/>
              </a:rPr>
              <a:t>PLUS DE TRANSACTIONS</a:t>
            </a:r>
            <a:endParaRPr lang="en-US" sz="1400" dirty="0"/>
          </a:p>
        </p:txBody>
      </p:sp>
      <p:sp>
        <p:nvSpPr>
          <p:cNvPr id="14" name="Text 12"/>
          <p:cNvSpPr/>
          <p:nvPr/>
        </p:nvSpPr>
        <p:spPr>
          <a:xfrm>
            <a:off x="4828946" y="4526280"/>
            <a:ext cx="2533802" cy="685800"/>
          </a:xfrm>
          <a:prstGeom prst="rect">
            <a:avLst/>
          </a:prstGeom>
          <a:noFill/>
          <a:ln/>
        </p:spPr>
        <p:txBody>
          <a:bodyPr wrap="square" lIns="0" tIns="0" rIns="0" bIns="0" rtlCol="0" anchor="t"/>
          <a:lstStyle/>
          <a:p>
            <a:pPr indent="0" marL="0">
              <a:lnSpc>
                <a:spcPts val="1500"/>
              </a:lnSpc>
              <a:buNone/>
            </a:pPr>
            <a:r>
              <a:rPr lang="en-US" sz="1100" dirty="0">
                <a:solidFill>
                  <a:srgbClr val="5C7186"/>
                </a:solidFill>
                <a:latin typeface="Arial" pitchFamily="34" charset="0"/>
                <a:ea typeface="Arial" pitchFamily="34" charset="-122"/>
                <a:cs typeface="Arial" pitchFamily="34" charset="-120"/>
              </a:rPr>
              <a:t>Créer de nouvelles occasions d'utilisation du wallet.</a:t>
            </a:r>
            <a:endParaRPr lang="en-US" sz="1100" dirty="0"/>
          </a:p>
        </p:txBody>
      </p:sp>
      <p:sp>
        <p:nvSpPr>
          <p:cNvPr id="15" name="Shape 13"/>
          <p:cNvSpPr/>
          <p:nvPr/>
        </p:nvSpPr>
        <p:spPr>
          <a:xfrm>
            <a:off x="8203997" y="2880360"/>
            <a:ext cx="3301898" cy="2560320"/>
          </a:xfrm>
          <a:prstGeom prst="roundRect">
            <a:avLst>
              <a:gd name="adj" fmla="val 5714"/>
            </a:avLst>
          </a:prstGeom>
          <a:solidFill>
            <a:srgbClr val="F5F8FA"/>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16" name="Shape 14"/>
          <p:cNvSpPr/>
          <p:nvPr/>
        </p:nvSpPr>
        <p:spPr>
          <a:xfrm>
            <a:off x="8588045" y="3291840"/>
            <a:ext cx="457200" cy="457200"/>
          </a:xfrm>
          <a:prstGeom prst="roundRect">
            <a:avLst>
              <a:gd name="adj" fmla="val 30000"/>
            </a:avLst>
          </a:prstGeom>
          <a:solidFill>
            <a:srgbClr val="0BB165"/>
          </a:solidFill>
          <a:ln/>
        </p:spPr>
      </p:sp>
      <p:sp>
        <p:nvSpPr>
          <p:cNvPr id="17" name="Text 15"/>
          <p:cNvSpPr/>
          <p:nvPr/>
        </p:nvSpPr>
        <p:spPr>
          <a:xfrm>
            <a:off x="8588045" y="32918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03</a:t>
            </a:r>
            <a:endParaRPr lang="en-US" sz="1200" dirty="0"/>
          </a:p>
        </p:txBody>
      </p:sp>
      <p:sp>
        <p:nvSpPr>
          <p:cNvPr id="18" name="Text 16"/>
          <p:cNvSpPr/>
          <p:nvPr/>
        </p:nvSpPr>
        <p:spPr>
          <a:xfrm>
            <a:off x="8588045" y="3931920"/>
            <a:ext cx="2533802" cy="566928"/>
          </a:xfrm>
          <a:prstGeom prst="rect">
            <a:avLst/>
          </a:prstGeom>
          <a:noFill/>
          <a:ln/>
        </p:spPr>
        <p:txBody>
          <a:bodyPr wrap="square" lIns="0" tIns="0" rIns="0" bIns="0" rtlCol="0" anchor="t"/>
          <a:lstStyle/>
          <a:p>
            <a:pPr indent="0" marL="0">
              <a:lnSpc>
                <a:spcPts val="1900"/>
              </a:lnSpc>
              <a:buNone/>
            </a:pPr>
            <a:r>
              <a:rPr lang="en-US" sz="1400" b="1" dirty="0">
                <a:solidFill>
                  <a:srgbClr val="0B243E"/>
                </a:solidFill>
                <a:latin typeface="Arial" pitchFamily="34" charset="0"/>
                <a:ea typeface="Arial" pitchFamily="34" charset="-122"/>
                <a:cs typeface="Arial" pitchFamily="34" charset="-120"/>
              </a:rPr>
              <a:t>NOUVELLES SOURCES DE REVENUS</a:t>
            </a:r>
            <a:endParaRPr lang="en-US" sz="1400" dirty="0"/>
          </a:p>
        </p:txBody>
      </p:sp>
      <p:sp>
        <p:nvSpPr>
          <p:cNvPr id="19" name="Text 17"/>
          <p:cNvSpPr/>
          <p:nvPr/>
        </p:nvSpPr>
        <p:spPr>
          <a:xfrm>
            <a:off x="8588045" y="4526280"/>
            <a:ext cx="2533802" cy="685800"/>
          </a:xfrm>
          <a:prstGeom prst="rect">
            <a:avLst/>
          </a:prstGeom>
          <a:noFill/>
          <a:ln/>
        </p:spPr>
        <p:txBody>
          <a:bodyPr wrap="square" lIns="0" tIns="0" rIns="0" bIns="0" rtlCol="0" anchor="t"/>
          <a:lstStyle/>
          <a:p>
            <a:pPr indent="0" marL="0">
              <a:lnSpc>
                <a:spcPts val="1500"/>
              </a:lnSpc>
              <a:buNone/>
            </a:pPr>
            <a:r>
              <a:rPr lang="en-US" sz="1100" dirty="0">
                <a:solidFill>
                  <a:srgbClr val="5C7186"/>
                </a:solidFill>
                <a:latin typeface="Arial" pitchFamily="34" charset="0"/>
                <a:ea typeface="Arial" pitchFamily="34" charset="-122"/>
                <a:cs typeface="Arial" pitchFamily="34" charset="-120"/>
              </a:rPr>
              <a:t>Créer de nouvelles opportunités de revenus transactionnels.</a:t>
            </a:r>
            <a:endParaRPr lang="en-US" sz="1100" dirty="0"/>
          </a:p>
        </p:txBody>
      </p:sp>
      <p:sp>
        <p:nvSpPr>
          <p:cNvPr id="20" name="Text 18"/>
          <p:cNvSpPr/>
          <p:nvPr/>
        </p:nvSpPr>
        <p:spPr>
          <a:xfrm>
            <a:off x="685800" y="6327648"/>
            <a:ext cx="7772400" cy="256032"/>
          </a:xfrm>
          <a:prstGeom prst="rect">
            <a:avLst/>
          </a:prstGeom>
          <a:noFill/>
          <a:ln/>
        </p:spPr>
        <p:txBody>
          <a:bodyPr wrap="square" lIns="0" tIns="0" rIns="0" bIns="0" rtlCol="0" anchor="ctr"/>
          <a:lstStyle/>
          <a:p>
            <a:pPr indent="0" marL="0">
              <a:buNone/>
            </a:pPr>
            <a:r>
              <a:rPr lang="en-US" sz="850" dirty="0">
                <a:solidFill>
                  <a:srgbClr val="9AAABA"/>
                </a:solidFill>
                <a:latin typeface="Arial" pitchFamily="34" charset="0"/>
                <a:ea typeface="Arial" pitchFamily="34" charset="-122"/>
                <a:cs typeface="Arial" pitchFamily="34" charset="-120"/>
              </a:rPr>
              <a:t>Cambiste × Moov Côte d'Ivoire  —  Proposition de pilote  —  Document confidentiel</a:t>
            </a:r>
            <a:endParaRPr lang="en-US" sz="850" dirty="0"/>
          </a:p>
        </p:txBody>
      </p:sp>
      <p:sp>
        <p:nvSpPr>
          <p:cNvPr id="21" name="Text 19"/>
          <p:cNvSpPr/>
          <p:nvPr/>
        </p:nvSpPr>
        <p:spPr>
          <a:xfrm>
            <a:off x="10591495" y="6327648"/>
            <a:ext cx="914400" cy="256032"/>
          </a:xfrm>
          <a:prstGeom prst="rect">
            <a:avLst/>
          </a:prstGeom>
          <a:noFill/>
          <a:ln/>
        </p:spPr>
        <p:txBody>
          <a:bodyPr wrap="square" lIns="0" tIns="0" rIns="0" bIns="0" rtlCol="0" anchor="ctr"/>
          <a:lstStyle/>
          <a:p>
            <a:pPr algn="r" indent="0" marL="0">
              <a:buNone/>
            </a:pPr>
            <a:r>
              <a:rPr lang="en-US" sz="850" b="1" dirty="0">
                <a:solidFill>
                  <a:srgbClr val="9AAABA"/>
                </a:solidFill>
                <a:latin typeface="Arial" pitchFamily="34" charset="0"/>
                <a:ea typeface="Arial" pitchFamily="34" charset="-122"/>
                <a:cs typeface="Arial" pitchFamily="34" charset="-120"/>
              </a:rPr>
              <a:t>02</a:t>
            </a:r>
            <a:endParaRPr lang="en-US" sz="850" dirty="0"/>
          </a:p>
        </p:txBody>
      </p:sp>
      <p:pic>
        <p:nvPicPr>
          <p:cNvPr id="22" name="Image 0" descr="/home/user/print-function-file-argument/deck/assets/mark.png">    </p:cNvPr>
          <p:cNvPicPr>
            <a:picLocks noChangeAspect="1"/>
          </p:cNvPicPr>
          <p:nvPr/>
        </p:nvPicPr>
        <p:blipFill>
          <a:blip r:embed="rId1"/>
          <a:stretch>
            <a:fillRect/>
          </a:stretch>
        </p:blipFill>
        <p:spPr>
          <a:xfrm>
            <a:off x="11213287" y="457200"/>
            <a:ext cx="292608" cy="228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66928"/>
            <a:ext cx="5486400" cy="237744"/>
          </a:xfrm>
          <a:prstGeom prst="rect">
            <a:avLst/>
          </a:prstGeom>
          <a:noFill/>
          <a:ln/>
        </p:spPr>
        <p:txBody>
          <a:bodyPr wrap="square" lIns="0" tIns="0" rIns="0" bIns="0" rtlCol="0" anchor="ctr"/>
          <a:lstStyle/>
          <a:p>
            <a:pPr indent="0" marL="0">
              <a:buNone/>
            </a:pPr>
            <a:r>
              <a:rPr lang="en-US" sz="1050" b="1" spc="200" kern="0" dirty="0">
                <a:solidFill>
                  <a:srgbClr val="0BB165"/>
                </a:solidFill>
                <a:latin typeface="Arial" pitchFamily="34" charset="0"/>
                <a:ea typeface="Arial" pitchFamily="34" charset="-122"/>
                <a:cs typeface="Arial" pitchFamily="34" charset="-120"/>
              </a:rPr>
              <a:t>PARCOURS</a:t>
            </a:r>
            <a:endParaRPr lang="en-US" sz="1050" dirty="0"/>
          </a:p>
        </p:txBody>
      </p:sp>
      <p:sp>
        <p:nvSpPr>
          <p:cNvPr id="3" name="Text 1"/>
          <p:cNvSpPr/>
          <p:nvPr/>
        </p:nvSpPr>
        <p:spPr>
          <a:xfrm>
            <a:off x="685800" y="868680"/>
            <a:ext cx="9692640" cy="777240"/>
          </a:xfrm>
          <a:prstGeom prst="rect">
            <a:avLst/>
          </a:prstGeom>
          <a:noFill/>
          <a:ln/>
        </p:spPr>
        <p:txBody>
          <a:bodyPr wrap="square" lIns="0" tIns="0" rIns="0" bIns="0" rtlCol="0" anchor="ctr"/>
          <a:lstStyle/>
          <a:p>
            <a:pPr indent="0" marL="0">
              <a:buNone/>
            </a:pPr>
            <a:r>
              <a:rPr lang="en-US" sz="3200" b="1" spc="-30" kern="0" dirty="0">
                <a:solidFill>
                  <a:srgbClr val="0B243E"/>
                </a:solidFill>
                <a:latin typeface="Arial" pitchFamily="34" charset="0"/>
                <a:ea typeface="Arial" pitchFamily="34" charset="-122"/>
                <a:cs typeface="Arial" pitchFamily="34" charset="-120"/>
              </a:rPr>
              <a:t>Du wallet Moov Money au bénéficiaire international</a:t>
            </a:r>
            <a:endParaRPr lang="en-US" sz="3200" dirty="0"/>
          </a:p>
        </p:txBody>
      </p:sp>
      <p:sp>
        <p:nvSpPr>
          <p:cNvPr id="4" name="Shape 2"/>
          <p:cNvSpPr/>
          <p:nvPr/>
        </p:nvSpPr>
        <p:spPr>
          <a:xfrm>
            <a:off x="685800" y="2395728"/>
            <a:ext cx="1847088" cy="1481328"/>
          </a:xfrm>
          <a:prstGeom prst="roundRect">
            <a:avLst>
              <a:gd name="adj" fmla="val 9877"/>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5" name="Text 3"/>
          <p:cNvSpPr/>
          <p:nvPr/>
        </p:nvSpPr>
        <p:spPr>
          <a:xfrm>
            <a:off x="813816" y="2395728"/>
            <a:ext cx="1591056" cy="1481328"/>
          </a:xfrm>
          <a:prstGeom prst="rect">
            <a:avLst/>
          </a:prstGeom>
          <a:noFill/>
          <a:ln/>
        </p:spPr>
        <p:txBody>
          <a:bodyPr wrap="square" lIns="0" tIns="0" rIns="0" bIns="0" rtlCol="0" anchor="ctr"/>
          <a:lstStyle/>
          <a:p>
            <a:pPr algn="ctr" indent="0" marL="0">
              <a:lnSpc>
                <a:spcPts val="1700"/>
              </a:lnSpc>
              <a:buNone/>
            </a:pPr>
            <a:r>
              <a:rPr lang="en-US" sz="1250" b="1" dirty="0">
                <a:solidFill>
                  <a:srgbClr val="0B243E"/>
                </a:solidFill>
                <a:latin typeface="Arial" pitchFamily="34" charset="0"/>
                <a:ea typeface="Arial" pitchFamily="34" charset="-122"/>
                <a:cs typeface="Arial" pitchFamily="34" charset="-120"/>
              </a:rPr>
              <a:t>Client</a:t>
            </a:r>
            <a:endParaRPr lang="en-US" sz="1250" dirty="0"/>
          </a:p>
          <a:p>
            <a:pPr algn="ctr" indent="0" marL="0">
              <a:lnSpc>
                <a:spcPts val="1700"/>
              </a:lnSpc>
              <a:buNone/>
            </a:pPr>
            <a:r>
              <a:rPr lang="en-US" sz="1250" b="1" dirty="0">
                <a:solidFill>
                  <a:srgbClr val="0B243E"/>
                </a:solidFill>
                <a:latin typeface="Arial" pitchFamily="34" charset="0"/>
                <a:ea typeface="Arial" pitchFamily="34" charset="-122"/>
                <a:cs typeface="Arial" pitchFamily="34" charset="-120"/>
              </a:rPr>
              <a:t>Moov Money</a:t>
            </a:r>
            <a:endParaRPr lang="en-US" sz="1250" dirty="0"/>
          </a:p>
        </p:txBody>
      </p:sp>
      <p:sp>
        <p:nvSpPr>
          <p:cNvPr id="6" name="Shape 4"/>
          <p:cNvSpPr/>
          <p:nvPr/>
        </p:nvSpPr>
        <p:spPr>
          <a:xfrm>
            <a:off x="2624328" y="3136392"/>
            <a:ext cx="201168" cy="0"/>
          </a:xfrm>
          <a:prstGeom prst="line">
            <a:avLst/>
          </a:prstGeom>
          <a:noFill/>
          <a:ln w="19050">
            <a:solidFill>
              <a:srgbClr val="BCCBD9"/>
            </a:solidFill>
            <a:prstDash val="solid"/>
            <a:tailEnd type="triangle"/>
          </a:ln>
        </p:spPr>
      </p:sp>
      <p:sp>
        <p:nvSpPr>
          <p:cNvPr id="7" name="Shape 5"/>
          <p:cNvSpPr/>
          <p:nvPr/>
        </p:nvSpPr>
        <p:spPr>
          <a:xfrm>
            <a:off x="2916936" y="2395728"/>
            <a:ext cx="1847088" cy="1481328"/>
          </a:xfrm>
          <a:prstGeom prst="roundRect">
            <a:avLst>
              <a:gd name="adj" fmla="val 9877"/>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8" name="Text 6"/>
          <p:cNvSpPr/>
          <p:nvPr/>
        </p:nvSpPr>
        <p:spPr>
          <a:xfrm>
            <a:off x="3044952" y="2395728"/>
            <a:ext cx="1591056" cy="1481328"/>
          </a:xfrm>
          <a:prstGeom prst="rect">
            <a:avLst/>
          </a:prstGeom>
          <a:noFill/>
          <a:ln/>
        </p:spPr>
        <p:txBody>
          <a:bodyPr wrap="square" lIns="0" tIns="0" rIns="0" bIns="0" rtlCol="0" anchor="ctr"/>
          <a:lstStyle/>
          <a:p>
            <a:pPr algn="ctr" indent="0" marL="0">
              <a:lnSpc>
                <a:spcPts val="1700"/>
              </a:lnSpc>
              <a:buNone/>
            </a:pPr>
            <a:r>
              <a:rPr lang="en-US" sz="1250" b="1" dirty="0">
                <a:solidFill>
                  <a:srgbClr val="0B243E"/>
                </a:solidFill>
                <a:latin typeface="Arial" pitchFamily="34" charset="0"/>
                <a:ea typeface="Arial" pitchFamily="34" charset="-122"/>
                <a:cs typeface="Arial" pitchFamily="34" charset="-120"/>
              </a:rPr>
              <a:t>Moov Money</a:t>
            </a:r>
            <a:endParaRPr lang="en-US" sz="1250" dirty="0"/>
          </a:p>
        </p:txBody>
      </p:sp>
      <p:sp>
        <p:nvSpPr>
          <p:cNvPr id="9" name="Shape 7"/>
          <p:cNvSpPr/>
          <p:nvPr/>
        </p:nvSpPr>
        <p:spPr>
          <a:xfrm>
            <a:off x="4855464" y="3136392"/>
            <a:ext cx="201168" cy="0"/>
          </a:xfrm>
          <a:prstGeom prst="line">
            <a:avLst/>
          </a:prstGeom>
          <a:noFill/>
          <a:ln w="19050">
            <a:solidFill>
              <a:srgbClr val="BCCBD9"/>
            </a:solidFill>
            <a:prstDash val="solid"/>
            <a:tailEnd type="triangle"/>
          </a:ln>
        </p:spPr>
      </p:sp>
      <p:sp>
        <p:nvSpPr>
          <p:cNvPr id="10" name="Shape 8"/>
          <p:cNvSpPr/>
          <p:nvPr/>
        </p:nvSpPr>
        <p:spPr>
          <a:xfrm>
            <a:off x="5148072" y="2395728"/>
            <a:ext cx="1847088" cy="1481328"/>
          </a:xfrm>
          <a:prstGeom prst="roundRect">
            <a:avLst>
              <a:gd name="adj" fmla="val 9877"/>
            </a:avLst>
          </a:prstGeom>
          <a:solidFill>
            <a:srgbClr val="0B243E"/>
          </a:solidFill>
          <a:ln w="12700">
            <a:solidFill>
              <a:srgbClr val="0B243E"/>
            </a:solidFill>
            <a:prstDash val="solid"/>
          </a:ln>
          <a:effectLst>
            <a:outerShdw sx="100000" sy="100000" kx="0" ky="0" algn="bl" rotWithShape="0" blurRad="228600" dist="50800" dir="5400000">
              <a:srgbClr val="0B243E">
                <a:alpha val="22000"/>
              </a:srgbClr>
            </a:outerShdw>
          </a:effectLst>
        </p:spPr>
      </p:sp>
      <p:sp>
        <p:nvSpPr>
          <p:cNvPr id="11" name="Text 9"/>
          <p:cNvSpPr/>
          <p:nvPr/>
        </p:nvSpPr>
        <p:spPr>
          <a:xfrm>
            <a:off x="5276088" y="2395728"/>
            <a:ext cx="1591056" cy="1481328"/>
          </a:xfrm>
          <a:prstGeom prst="rect">
            <a:avLst/>
          </a:prstGeom>
          <a:noFill/>
          <a:ln/>
        </p:spPr>
        <p:txBody>
          <a:bodyPr wrap="square" lIns="0" tIns="0" rIns="0" bIns="0" rtlCol="0" anchor="ctr"/>
          <a:lstStyle/>
          <a:p>
            <a:pPr algn="ctr" indent="0" marL="0">
              <a:lnSpc>
                <a:spcPts val="2000"/>
              </a:lnSpc>
              <a:buNone/>
            </a:pPr>
            <a:r>
              <a:rPr lang="en-US" sz="1500" b="1" dirty="0">
                <a:solidFill>
                  <a:srgbClr val="FFFFFF"/>
                </a:solidFill>
                <a:latin typeface="Arial" pitchFamily="34" charset="0"/>
                <a:ea typeface="Arial" pitchFamily="34" charset="-122"/>
                <a:cs typeface="Arial" pitchFamily="34" charset="-120"/>
              </a:rPr>
              <a:t>Cambiste</a:t>
            </a:r>
            <a:endParaRPr lang="en-US" sz="1500" dirty="0"/>
          </a:p>
        </p:txBody>
      </p:sp>
      <p:sp>
        <p:nvSpPr>
          <p:cNvPr id="12" name="Shape 10"/>
          <p:cNvSpPr/>
          <p:nvPr/>
        </p:nvSpPr>
        <p:spPr>
          <a:xfrm>
            <a:off x="7086600" y="3136392"/>
            <a:ext cx="201168" cy="0"/>
          </a:xfrm>
          <a:prstGeom prst="line">
            <a:avLst/>
          </a:prstGeom>
          <a:noFill/>
          <a:ln w="19050">
            <a:solidFill>
              <a:srgbClr val="BCCBD9"/>
            </a:solidFill>
            <a:prstDash val="solid"/>
            <a:tailEnd type="triangle"/>
          </a:ln>
        </p:spPr>
      </p:sp>
      <p:sp>
        <p:nvSpPr>
          <p:cNvPr id="13" name="Shape 11"/>
          <p:cNvSpPr/>
          <p:nvPr/>
        </p:nvSpPr>
        <p:spPr>
          <a:xfrm>
            <a:off x="7379208" y="2395728"/>
            <a:ext cx="1847088" cy="1481328"/>
          </a:xfrm>
          <a:prstGeom prst="roundRect">
            <a:avLst>
              <a:gd name="adj" fmla="val 9877"/>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14" name="Text 12"/>
          <p:cNvSpPr/>
          <p:nvPr/>
        </p:nvSpPr>
        <p:spPr>
          <a:xfrm>
            <a:off x="7507224" y="2395728"/>
            <a:ext cx="1591056" cy="1481328"/>
          </a:xfrm>
          <a:prstGeom prst="rect">
            <a:avLst/>
          </a:prstGeom>
          <a:noFill/>
          <a:ln/>
        </p:spPr>
        <p:txBody>
          <a:bodyPr wrap="square" lIns="0" tIns="0" rIns="0" bIns="0" rtlCol="0" anchor="ctr"/>
          <a:lstStyle/>
          <a:p>
            <a:pPr algn="ctr" indent="0" marL="0">
              <a:lnSpc>
                <a:spcPts val="1700"/>
              </a:lnSpc>
              <a:buNone/>
            </a:pPr>
            <a:r>
              <a:rPr lang="en-US" sz="1250" b="1" dirty="0">
                <a:solidFill>
                  <a:srgbClr val="0B243E"/>
                </a:solidFill>
                <a:latin typeface="Arial" pitchFamily="34" charset="0"/>
                <a:ea typeface="Arial" pitchFamily="34" charset="-122"/>
                <a:cs typeface="Arial" pitchFamily="34" charset="-120"/>
              </a:rPr>
              <a:t>Infrastructure</a:t>
            </a:r>
            <a:endParaRPr lang="en-US" sz="1250" dirty="0"/>
          </a:p>
          <a:p>
            <a:pPr algn="ctr" indent="0" marL="0">
              <a:lnSpc>
                <a:spcPts val="1700"/>
              </a:lnSpc>
              <a:buNone/>
            </a:pPr>
            <a:r>
              <a:rPr lang="en-US" sz="1250" b="1" dirty="0">
                <a:solidFill>
                  <a:srgbClr val="0B243E"/>
                </a:solidFill>
                <a:latin typeface="Arial" pitchFamily="34" charset="0"/>
                <a:ea typeface="Arial" pitchFamily="34" charset="-122"/>
                <a:cs typeface="Arial" pitchFamily="34" charset="-120"/>
              </a:rPr>
              <a:t>financière réglementée</a:t>
            </a:r>
            <a:endParaRPr lang="en-US" sz="1250" dirty="0"/>
          </a:p>
        </p:txBody>
      </p:sp>
      <p:sp>
        <p:nvSpPr>
          <p:cNvPr id="15" name="Shape 13"/>
          <p:cNvSpPr/>
          <p:nvPr/>
        </p:nvSpPr>
        <p:spPr>
          <a:xfrm>
            <a:off x="9317736" y="3136392"/>
            <a:ext cx="201168" cy="0"/>
          </a:xfrm>
          <a:prstGeom prst="line">
            <a:avLst/>
          </a:prstGeom>
          <a:noFill/>
          <a:ln w="19050">
            <a:solidFill>
              <a:srgbClr val="BCCBD9"/>
            </a:solidFill>
            <a:prstDash val="solid"/>
            <a:tailEnd type="triangle"/>
          </a:ln>
        </p:spPr>
      </p:sp>
      <p:sp>
        <p:nvSpPr>
          <p:cNvPr id="16" name="Shape 14"/>
          <p:cNvSpPr/>
          <p:nvPr/>
        </p:nvSpPr>
        <p:spPr>
          <a:xfrm>
            <a:off x="9610344" y="2395728"/>
            <a:ext cx="1847088" cy="1481328"/>
          </a:xfrm>
          <a:prstGeom prst="roundRect">
            <a:avLst>
              <a:gd name="adj" fmla="val 9877"/>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17" name="Text 15"/>
          <p:cNvSpPr/>
          <p:nvPr/>
        </p:nvSpPr>
        <p:spPr>
          <a:xfrm>
            <a:off x="9738360" y="2395728"/>
            <a:ext cx="1591056" cy="1481328"/>
          </a:xfrm>
          <a:prstGeom prst="rect">
            <a:avLst/>
          </a:prstGeom>
          <a:noFill/>
          <a:ln/>
        </p:spPr>
        <p:txBody>
          <a:bodyPr wrap="square" lIns="0" tIns="0" rIns="0" bIns="0" rtlCol="0" anchor="ctr"/>
          <a:lstStyle/>
          <a:p>
            <a:pPr algn="ctr" indent="0" marL="0">
              <a:lnSpc>
                <a:spcPts val="1700"/>
              </a:lnSpc>
              <a:buNone/>
            </a:pPr>
            <a:r>
              <a:rPr lang="en-US" sz="1250" b="1" dirty="0">
                <a:solidFill>
                  <a:srgbClr val="0B243E"/>
                </a:solidFill>
                <a:latin typeface="Arial" pitchFamily="34" charset="0"/>
                <a:ea typeface="Arial" pitchFamily="34" charset="-122"/>
                <a:cs typeface="Arial" pitchFamily="34" charset="-120"/>
              </a:rPr>
              <a:t>Bénéficiaire</a:t>
            </a:r>
            <a:endParaRPr lang="en-US" sz="1250" dirty="0"/>
          </a:p>
          <a:p>
            <a:pPr algn="ctr" indent="0" marL="0">
              <a:lnSpc>
                <a:spcPts val="1700"/>
              </a:lnSpc>
              <a:buNone/>
            </a:pPr>
            <a:r>
              <a:rPr lang="en-US" sz="1250" b="1" dirty="0">
                <a:solidFill>
                  <a:srgbClr val="0B243E"/>
                </a:solidFill>
                <a:latin typeface="Arial" pitchFamily="34" charset="0"/>
                <a:ea typeface="Arial" pitchFamily="34" charset="-122"/>
                <a:cs typeface="Arial" pitchFamily="34" charset="-120"/>
              </a:rPr>
              <a:t>international</a:t>
            </a:r>
            <a:endParaRPr lang="en-US" sz="1250" dirty="0"/>
          </a:p>
        </p:txBody>
      </p:sp>
      <p:sp>
        <p:nvSpPr>
          <p:cNvPr id="18" name="Shape 16"/>
          <p:cNvSpPr/>
          <p:nvPr/>
        </p:nvSpPr>
        <p:spPr>
          <a:xfrm>
            <a:off x="6071616" y="3877056"/>
            <a:ext cx="0" cy="201168"/>
          </a:xfrm>
          <a:prstGeom prst="line">
            <a:avLst/>
          </a:prstGeom>
          <a:noFill/>
          <a:ln w="19050">
            <a:solidFill>
              <a:srgbClr val="0BB165"/>
            </a:solidFill>
            <a:prstDash val="solid"/>
          </a:ln>
        </p:spPr>
      </p:sp>
      <p:sp>
        <p:nvSpPr>
          <p:cNvPr id="19" name="Shape 17"/>
          <p:cNvSpPr/>
          <p:nvPr/>
        </p:nvSpPr>
        <p:spPr>
          <a:xfrm>
            <a:off x="3374136" y="4078224"/>
            <a:ext cx="5394960" cy="493776"/>
          </a:xfrm>
          <a:prstGeom prst="roundRect">
            <a:avLst>
              <a:gd name="adj" fmla="val 22222"/>
            </a:avLst>
          </a:prstGeom>
          <a:solidFill>
            <a:srgbClr val="F5F8FA"/>
          </a:solidFill>
          <a:ln w="12700">
            <a:solidFill>
              <a:srgbClr val="E1E9F0"/>
            </a:solidFill>
            <a:prstDash val="solid"/>
          </a:ln>
        </p:spPr>
      </p:sp>
      <p:sp>
        <p:nvSpPr>
          <p:cNvPr id="20" name="Text 18"/>
          <p:cNvSpPr/>
          <p:nvPr/>
        </p:nvSpPr>
        <p:spPr>
          <a:xfrm>
            <a:off x="3374136" y="4078224"/>
            <a:ext cx="5394960" cy="493776"/>
          </a:xfrm>
          <a:prstGeom prst="rect">
            <a:avLst/>
          </a:prstGeom>
          <a:noFill/>
          <a:ln/>
        </p:spPr>
        <p:txBody>
          <a:bodyPr wrap="square" lIns="0" tIns="0" rIns="0" bIns="0" rtlCol="0" anchor="ctr"/>
          <a:lstStyle/>
          <a:p>
            <a:pPr algn="ctr" indent="0" marL="0">
              <a:buNone/>
            </a:pPr>
            <a:r>
              <a:rPr lang="en-US" sz="1000" b="1" spc="20" kern="0" dirty="0">
                <a:solidFill>
                  <a:srgbClr val="089055"/>
                </a:solidFill>
                <a:latin typeface="Arial" pitchFamily="34" charset="0"/>
                <a:ea typeface="Arial" pitchFamily="34" charset="-122"/>
                <a:cs typeface="Arial" pitchFamily="34" charset="-120"/>
              </a:rPr>
              <a:t>Orchestration  •  Routage  •  Contrôles  •  Suivi  •  Rapprochement</a:t>
            </a:r>
            <a:endParaRPr lang="en-US" sz="1000" dirty="0"/>
          </a:p>
        </p:txBody>
      </p:sp>
      <p:sp>
        <p:nvSpPr>
          <p:cNvPr id="21" name="Text 19"/>
          <p:cNvSpPr/>
          <p:nvPr/>
        </p:nvSpPr>
        <p:spPr>
          <a:xfrm>
            <a:off x="685800" y="5230368"/>
            <a:ext cx="9692640" cy="548640"/>
          </a:xfrm>
          <a:prstGeom prst="rect">
            <a:avLst/>
          </a:prstGeom>
          <a:noFill/>
          <a:ln/>
        </p:spPr>
        <p:txBody>
          <a:bodyPr wrap="square" lIns="0" tIns="0" rIns="0" bIns="0" rtlCol="0" anchor="t"/>
          <a:lstStyle/>
          <a:p>
            <a:pPr indent="0" marL="0">
              <a:lnSpc>
                <a:spcPts val="1600"/>
              </a:lnSpc>
              <a:buNone/>
            </a:pPr>
            <a:r>
              <a:rPr lang="en-US" sz="1150" dirty="0">
                <a:solidFill>
                  <a:srgbClr val="5C7186"/>
                </a:solidFill>
                <a:latin typeface="Arial" pitchFamily="34" charset="0"/>
                <a:ea typeface="Arial" pitchFamily="34" charset="-122"/>
                <a:cs typeface="Arial" pitchFamily="34" charset="-120"/>
              </a:rPr>
              <a:t>Moov conserve la relation client, l'environnement wallet et ses contrôles. Cambiste orchestre le flux technique de bout en bout, sans détenir les fonds des utilisateurs.</a:t>
            </a:r>
            <a:endParaRPr lang="en-US" sz="1150" dirty="0"/>
          </a:p>
        </p:txBody>
      </p:sp>
      <p:sp>
        <p:nvSpPr>
          <p:cNvPr id="22" name="Text 20"/>
          <p:cNvSpPr/>
          <p:nvPr/>
        </p:nvSpPr>
        <p:spPr>
          <a:xfrm>
            <a:off x="685800" y="6327648"/>
            <a:ext cx="7772400" cy="256032"/>
          </a:xfrm>
          <a:prstGeom prst="rect">
            <a:avLst/>
          </a:prstGeom>
          <a:noFill/>
          <a:ln/>
        </p:spPr>
        <p:txBody>
          <a:bodyPr wrap="square" lIns="0" tIns="0" rIns="0" bIns="0" rtlCol="0" anchor="ctr"/>
          <a:lstStyle/>
          <a:p>
            <a:pPr indent="0" marL="0">
              <a:buNone/>
            </a:pPr>
            <a:r>
              <a:rPr lang="en-US" sz="850" dirty="0">
                <a:solidFill>
                  <a:srgbClr val="9AAABA"/>
                </a:solidFill>
                <a:latin typeface="Arial" pitchFamily="34" charset="0"/>
                <a:ea typeface="Arial" pitchFamily="34" charset="-122"/>
                <a:cs typeface="Arial" pitchFamily="34" charset="-120"/>
              </a:rPr>
              <a:t>Cambiste × Moov Côte d'Ivoire  —  Proposition de pilote  —  Document confidentiel</a:t>
            </a:r>
            <a:endParaRPr lang="en-US" sz="850" dirty="0"/>
          </a:p>
        </p:txBody>
      </p:sp>
      <p:sp>
        <p:nvSpPr>
          <p:cNvPr id="23" name="Text 21"/>
          <p:cNvSpPr/>
          <p:nvPr/>
        </p:nvSpPr>
        <p:spPr>
          <a:xfrm>
            <a:off x="10591495" y="6327648"/>
            <a:ext cx="914400" cy="256032"/>
          </a:xfrm>
          <a:prstGeom prst="rect">
            <a:avLst/>
          </a:prstGeom>
          <a:noFill/>
          <a:ln/>
        </p:spPr>
        <p:txBody>
          <a:bodyPr wrap="square" lIns="0" tIns="0" rIns="0" bIns="0" rtlCol="0" anchor="ctr"/>
          <a:lstStyle/>
          <a:p>
            <a:pPr algn="r" indent="0" marL="0">
              <a:buNone/>
            </a:pPr>
            <a:r>
              <a:rPr lang="en-US" sz="850" b="1" dirty="0">
                <a:solidFill>
                  <a:srgbClr val="9AAABA"/>
                </a:solidFill>
                <a:latin typeface="Arial" pitchFamily="34" charset="0"/>
                <a:ea typeface="Arial" pitchFamily="34" charset="-122"/>
                <a:cs typeface="Arial" pitchFamily="34" charset="-120"/>
              </a:rPr>
              <a:t>03</a:t>
            </a:r>
            <a:endParaRPr lang="en-US" sz="850" dirty="0"/>
          </a:p>
        </p:txBody>
      </p:sp>
      <p:pic>
        <p:nvPicPr>
          <p:cNvPr id="24" name="Image 0" descr="/home/user/print-function-file-argument/deck/assets/mark.png">    </p:cNvPr>
          <p:cNvPicPr>
            <a:picLocks noChangeAspect="1"/>
          </p:cNvPicPr>
          <p:nvPr/>
        </p:nvPicPr>
        <p:blipFill>
          <a:blip r:embed="rId1"/>
          <a:stretch>
            <a:fillRect/>
          </a:stretch>
        </p:blipFill>
        <p:spPr>
          <a:xfrm>
            <a:off x="11213287" y="457200"/>
            <a:ext cx="292608" cy="228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66928"/>
            <a:ext cx="5486400" cy="237744"/>
          </a:xfrm>
          <a:prstGeom prst="rect">
            <a:avLst/>
          </a:prstGeom>
          <a:noFill/>
          <a:ln/>
        </p:spPr>
        <p:txBody>
          <a:bodyPr wrap="square" lIns="0" tIns="0" rIns="0" bIns="0" rtlCol="0" anchor="ctr"/>
          <a:lstStyle/>
          <a:p>
            <a:pPr indent="0" marL="0">
              <a:buNone/>
            </a:pPr>
            <a:r>
              <a:rPr lang="en-US" sz="1050" b="1" spc="200" kern="0" dirty="0">
                <a:solidFill>
                  <a:srgbClr val="0BB165"/>
                </a:solidFill>
                <a:latin typeface="Arial" pitchFamily="34" charset="0"/>
                <a:ea typeface="Arial" pitchFamily="34" charset="-122"/>
                <a:cs typeface="Arial" pitchFamily="34" charset="-120"/>
              </a:rPr>
              <a:t>LA SOLUTION</a:t>
            </a:r>
            <a:endParaRPr lang="en-US" sz="1050" dirty="0"/>
          </a:p>
        </p:txBody>
      </p:sp>
      <p:sp>
        <p:nvSpPr>
          <p:cNvPr id="3" name="Text 1"/>
          <p:cNvSpPr/>
          <p:nvPr/>
        </p:nvSpPr>
        <p:spPr>
          <a:xfrm>
            <a:off x="685800" y="1024128"/>
            <a:ext cx="10424160" cy="914400"/>
          </a:xfrm>
          <a:prstGeom prst="rect">
            <a:avLst/>
          </a:prstGeom>
          <a:noFill/>
          <a:ln/>
        </p:spPr>
        <p:txBody>
          <a:bodyPr wrap="square" lIns="0" tIns="0" rIns="0" bIns="0" rtlCol="0" anchor="t"/>
          <a:lstStyle/>
          <a:p>
            <a:pPr indent="0" marL="0">
              <a:lnSpc>
                <a:spcPts val="3600"/>
              </a:lnSpc>
              <a:buNone/>
            </a:pPr>
            <a:r>
              <a:rPr lang="en-US" sz="2900" b="1" spc="-30" kern="0" dirty="0">
                <a:solidFill>
                  <a:srgbClr val="0B243E"/>
                </a:solidFill>
                <a:latin typeface="Arial" pitchFamily="34" charset="0"/>
                <a:ea typeface="Arial" pitchFamily="34" charset="-122"/>
                <a:cs typeface="Arial" pitchFamily="34" charset="-120"/>
              </a:rPr>
              <a:t>Une couche technologique pour orchestrer le cross-border</a:t>
            </a:r>
            <a:endParaRPr lang="en-US" sz="2900" dirty="0"/>
          </a:p>
        </p:txBody>
      </p:sp>
      <p:sp>
        <p:nvSpPr>
          <p:cNvPr id="4" name="Shape 2"/>
          <p:cNvSpPr/>
          <p:nvPr/>
        </p:nvSpPr>
        <p:spPr>
          <a:xfrm>
            <a:off x="685800" y="2139696"/>
            <a:ext cx="5294376" cy="1481328"/>
          </a:xfrm>
          <a:prstGeom prst="roundRect">
            <a:avLst>
              <a:gd name="adj" fmla="val 9877"/>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5" name="Shape 3"/>
          <p:cNvSpPr/>
          <p:nvPr/>
        </p:nvSpPr>
        <p:spPr>
          <a:xfrm>
            <a:off x="1069848" y="2468880"/>
            <a:ext cx="420624" cy="420624"/>
          </a:xfrm>
          <a:prstGeom prst="roundRect">
            <a:avLst>
              <a:gd name="adj" fmla="val 30000"/>
            </a:avLst>
          </a:prstGeom>
          <a:solidFill>
            <a:srgbClr val="0BB165"/>
          </a:solidFill>
          <a:ln/>
        </p:spPr>
      </p:sp>
      <p:sp>
        <p:nvSpPr>
          <p:cNvPr id="6" name="Text 4"/>
          <p:cNvSpPr/>
          <p:nvPr/>
        </p:nvSpPr>
        <p:spPr>
          <a:xfrm>
            <a:off x="1069848" y="246888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7" name="Text 5"/>
          <p:cNvSpPr/>
          <p:nvPr/>
        </p:nvSpPr>
        <p:spPr>
          <a:xfrm>
            <a:off x="1673352" y="2450592"/>
            <a:ext cx="3922776" cy="310896"/>
          </a:xfrm>
          <a:prstGeom prst="rect">
            <a:avLst/>
          </a:prstGeom>
          <a:noFill/>
          <a:ln/>
        </p:spPr>
        <p:txBody>
          <a:bodyPr wrap="square" lIns="0" tIns="0" rIns="0" bIns="0" rtlCol="0" anchor="ctr"/>
          <a:lstStyle/>
          <a:p>
            <a:pPr indent="0" marL="0">
              <a:buNone/>
            </a:pPr>
            <a:r>
              <a:rPr lang="en-US" sz="1400" b="1" spc="80" kern="0" dirty="0">
                <a:solidFill>
                  <a:srgbClr val="0B243E"/>
                </a:solidFill>
                <a:latin typeface="Arial" pitchFamily="34" charset="0"/>
                <a:ea typeface="Arial" pitchFamily="34" charset="-122"/>
                <a:cs typeface="Arial" pitchFamily="34" charset="-120"/>
              </a:rPr>
              <a:t>CONNECTER</a:t>
            </a:r>
            <a:endParaRPr lang="en-US" sz="1400" dirty="0"/>
          </a:p>
        </p:txBody>
      </p:sp>
      <p:sp>
        <p:nvSpPr>
          <p:cNvPr id="8" name="Text 6"/>
          <p:cNvSpPr/>
          <p:nvPr/>
        </p:nvSpPr>
        <p:spPr>
          <a:xfrm>
            <a:off x="1673352" y="2834640"/>
            <a:ext cx="3922776" cy="603504"/>
          </a:xfrm>
          <a:prstGeom prst="rect">
            <a:avLst/>
          </a:prstGeom>
          <a:noFill/>
          <a:ln/>
        </p:spPr>
        <p:txBody>
          <a:bodyPr wrap="square" lIns="0" tIns="0" rIns="0" bIns="0" rtlCol="0" anchor="t"/>
          <a:lstStyle/>
          <a:p>
            <a:pPr indent="0" marL="0">
              <a:lnSpc>
                <a:spcPts val="1500"/>
              </a:lnSpc>
              <a:buNone/>
            </a:pPr>
            <a:r>
              <a:rPr lang="en-US" sz="1100" dirty="0">
                <a:solidFill>
                  <a:srgbClr val="5C7186"/>
                </a:solidFill>
                <a:latin typeface="Arial" pitchFamily="34" charset="0"/>
                <a:ea typeface="Arial" pitchFamily="34" charset="-122"/>
                <a:cs typeface="Arial" pitchFamily="34" charset="-120"/>
              </a:rPr>
              <a:t>Connexion API avec l'environnement Mobile Money.</a:t>
            </a:r>
            <a:endParaRPr lang="en-US" sz="1100" dirty="0"/>
          </a:p>
        </p:txBody>
      </p:sp>
      <p:sp>
        <p:nvSpPr>
          <p:cNvPr id="9" name="Shape 7"/>
          <p:cNvSpPr/>
          <p:nvPr/>
        </p:nvSpPr>
        <p:spPr>
          <a:xfrm>
            <a:off x="6211519" y="2139696"/>
            <a:ext cx="5294376" cy="1481328"/>
          </a:xfrm>
          <a:prstGeom prst="roundRect">
            <a:avLst>
              <a:gd name="adj" fmla="val 9877"/>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10" name="Shape 8"/>
          <p:cNvSpPr/>
          <p:nvPr/>
        </p:nvSpPr>
        <p:spPr>
          <a:xfrm>
            <a:off x="6595567" y="2468880"/>
            <a:ext cx="420624" cy="420624"/>
          </a:xfrm>
          <a:prstGeom prst="roundRect">
            <a:avLst>
              <a:gd name="adj" fmla="val 30000"/>
            </a:avLst>
          </a:prstGeom>
          <a:solidFill>
            <a:srgbClr val="0BB165"/>
          </a:solidFill>
          <a:ln/>
        </p:spPr>
      </p:sp>
      <p:sp>
        <p:nvSpPr>
          <p:cNvPr id="11" name="Text 9"/>
          <p:cNvSpPr/>
          <p:nvPr/>
        </p:nvSpPr>
        <p:spPr>
          <a:xfrm>
            <a:off x="6595567" y="246888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2" name="Text 10"/>
          <p:cNvSpPr/>
          <p:nvPr/>
        </p:nvSpPr>
        <p:spPr>
          <a:xfrm>
            <a:off x="7199071" y="2450592"/>
            <a:ext cx="3922776" cy="310896"/>
          </a:xfrm>
          <a:prstGeom prst="rect">
            <a:avLst/>
          </a:prstGeom>
          <a:noFill/>
          <a:ln/>
        </p:spPr>
        <p:txBody>
          <a:bodyPr wrap="square" lIns="0" tIns="0" rIns="0" bIns="0" rtlCol="0" anchor="ctr"/>
          <a:lstStyle/>
          <a:p>
            <a:pPr indent="0" marL="0">
              <a:buNone/>
            </a:pPr>
            <a:r>
              <a:rPr lang="en-US" sz="1400" b="1" spc="80" kern="0" dirty="0">
                <a:solidFill>
                  <a:srgbClr val="0B243E"/>
                </a:solidFill>
                <a:latin typeface="Arial" pitchFamily="34" charset="0"/>
                <a:ea typeface="Arial" pitchFamily="34" charset="-122"/>
                <a:cs typeface="Arial" pitchFamily="34" charset="-120"/>
              </a:rPr>
              <a:t>ORCHESTRER</a:t>
            </a:r>
            <a:endParaRPr lang="en-US" sz="1400" dirty="0"/>
          </a:p>
        </p:txBody>
      </p:sp>
      <p:sp>
        <p:nvSpPr>
          <p:cNvPr id="13" name="Text 11"/>
          <p:cNvSpPr/>
          <p:nvPr/>
        </p:nvSpPr>
        <p:spPr>
          <a:xfrm>
            <a:off x="7199071" y="2834640"/>
            <a:ext cx="3922776" cy="603504"/>
          </a:xfrm>
          <a:prstGeom prst="rect">
            <a:avLst/>
          </a:prstGeom>
          <a:noFill/>
          <a:ln/>
        </p:spPr>
        <p:txBody>
          <a:bodyPr wrap="square" lIns="0" tIns="0" rIns="0" bIns="0" rtlCol="0" anchor="t"/>
          <a:lstStyle/>
          <a:p>
            <a:pPr indent="0" marL="0">
              <a:lnSpc>
                <a:spcPts val="1500"/>
              </a:lnSpc>
              <a:buNone/>
            </a:pPr>
            <a:r>
              <a:rPr lang="en-US" sz="1100" dirty="0">
                <a:solidFill>
                  <a:srgbClr val="5C7186"/>
                </a:solidFill>
                <a:latin typeface="Arial" pitchFamily="34" charset="0"/>
                <a:ea typeface="Arial" pitchFamily="34" charset="-122"/>
                <a:cs typeface="Arial" pitchFamily="34" charset="-120"/>
              </a:rPr>
              <a:t>Gestion et routage des workflows transactionnels.</a:t>
            </a:r>
            <a:endParaRPr lang="en-US" sz="1100" dirty="0"/>
          </a:p>
        </p:txBody>
      </p:sp>
      <p:sp>
        <p:nvSpPr>
          <p:cNvPr id="14" name="Shape 12"/>
          <p:cNvSpPr/>
          <p:nvPr/>
        </p:nvSpPr>
        <p:spPr>
          <a:xfrm>
            <a:off x="685800" y="3822192"/>
            <a:ext cx="5294376" cy="1481328"/>
          </a:xfrm>
          <a:prstGeom prst="roundRect">
            <a:avLst>
              <a:gd name="adj" fmla="val 9877"/>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15" name="Shape 13"/>
          <p:cNvSpPr/>
          <p:nvPr/>
        </p:nvSpPr>
        <p:spPr>
          <a:xfrm>
            <a:off x="1069848" y="4151376"/>
            <a:ext cx="420624" cy="420624"/>
          </a:xfrm>
          <a:prstGeom prst="roundRect">
            <a:avLst>
              <a:gd name="adj" fmla="val 30000"/>
            </a:avLst>
          </a:prstGeom>
          <a:solidFill>
            <a:srgbClr val="0BB165"/>
          </a:solidFill>
          <a:ln/>
        </p:spPr>
      </p:sp>
      <p:sp>
        <p:nvSpPr>
          <p:cNvPr id="16" name="Text 14"/>
          <p:cNvSpPr/>
          <p:nvPr/>
        </p:nvSpPr>
        <p:spPr>
          <a:xfrm>
            <a:off x="1069848" y="415137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17" name="Text 15"/>
          <p:cNvSpPr/>
          <p:nvPr/>
        </p:nvSpPr>
        <p:spPr>
          <a:xfrm>
            <a:off x="1673352" y="4133088"/>
            <a:ext cx="3922776" cy="310896"/>
          </a:xfrm>
          <a:prstGeom prst="rect">
            <a:avLst/>
          </a:prstGeom>
          <a:noFill/>
          <a:ln/>
        </p:spPr>
        <p:txBody>
          <a:bodyPr wrap="square" lIns="0" tIns="0" rIns="0" bIns="0" rtlCol="0" anchor="ctr"/>
          <a:lstStyle/>
          <a:p>
            <a:pPr indent="0" marL="0">
              <a:buNone/>
            </a:pPr>
            <a:r>
              <a:rPr lang="en-US" sz="1400" b="1" spc="80" kern="0" dirty="0">
                <a:solidFill>
                  <a:srgbClr val="0B243E"/>
                </a:solidFill>
                <a:latin typeface="Arial" pitchFamily="34" charset="0"/>
                <a:ea typeface="Arial" pitchFamily="34" charset="-122"/>
                <a:cs typeface="Arial" pitchFamily="34" charset="-120"/>
              </a:rPr>
              <a:t>CONTRÔLER</a:t>
            </a:r>
            <a:endParaRPr lang="en-US" sz="1400" dirty="0"/>
          </a:p>
        </p:txBody>
      </p:sp>
      <p:sp>
        <p:nvSpPr>
          <p:cNvPr id="18" name="Text 16"/>
          <p:cNvSpPr/>
          <p:nvPr/>
        </p:nvSpPr>
        <p:spPr>
          <a:xfrm>
            <a:off x="1673352" y="4517136"/>
            <a:ext cx="3922776" cy="603504"/>
          </a:xfrm>
          <a:prstGeom prst="rect">
            <a:avLst/>
          </a:prstGeom>
          <a:noFill/>
          <a:ln/>
        </p:spPr>
        <p:txBody>
          <a:bodyPr wrap="square" lIns="0" tIns="0" rIns="0" bIns="0" rtlCol="0" anchor="t"/>
          <a:lstStyle/>
          <a:p>
            <a:pPr indent="0" marL="0">
              <a:lnSpc>
                <a:spcPts val="1500"/>
              </a:lnSpc>
              <a:buNone/>
            </a:pPr>
            <a:r>
              <a:rPr lang="en-US" sz="1100" dirty="0">
                <a:solidFill>
                  <a:srgbClr val="5C7186"/>
                </a:solidFill>
                <a:latin typeface="Arial" pitchFamily="34" charset="0"/>
                <a:ea typeface="Arial" pitchFamily="34" charset="-122"/>
                <a:cs typeface="Arial" pitchFamily="34" charset="-120"/>
              </a:rPr>
              <a:t>Application des règles opérationnelles et des workflows de conformité convenus.</a:t>
            </a:r>
            <a:endParaRPr lang="en-US" sz="1100" dirty="0"/>
          </a:p>
        </p:txBody>
      </p:sp>
      <p:sp>
        <p:nvSpPr>
          <p:cNvPr id="19" name="Shape 17"/>
          <p:cNvSpPr/>
          <p:nvPr/>
        </p:nvSpPr>
        <p:spPr>
          <a:xfrm>
            <a:off x="6211519" y="3822192"/>
            <a:ext cx="5294376" cy="1481328"/>
          </a:xfrm>
          <a:prstGeom prst="roundRect">
            <a:avLst>
              <a:gd name="adj" fmla="val 9877"/>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20" name="Shape 18"/>
          <p:cNvSpPr/>
          <p:nvPr/>
        </p:nvSpPr>
        <p:spPr>
          <a:xfrm>
            <a:off x="6595567" y="4151376"/>
            <a:ext cx="420624" cy="420624"/>
          </a:xfrm>
          <a:prstGeom prst="roundRect">
            <a:avLst>
              <a:gd name="adj" fmla="val 30000"/>
            </a:avLst>
          </a:prstGeom>
          <a:solidFill>
            <a:srgbClr val="0BB165"/>
          </a:solidFill>
          <a:ln/>
        </p:spPr>
      </p:sp>
      <p:sp>
        <p:nvSpPr>
          <p:cNvPr id="21" name="Text 19"/>
          <p:cNvSpPr/>
          <p:nvPr/>
        </p:nvSpPr>
        <p:spPr>
          <a:xfrm>
            <a:off x="6595567" y="415137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22" name="Text 20"/>
          <p:cNvSpPr/>
          <p:nvPr/>
        </p:nvSpPr>
        <p:spPr>
          <a:xfrm>
            <a:off x="7199071" y="4133088"/>
            <a:ext cx="3922776" cy="310896"/>
          </a:xfrm>
          <a:prstGeom prst="rect">
            <a:avLst/>
          </a:prstGeom>
          <a:noFill/>
          <a:ln/>
        </p:spPr>
        <p:txBody>
          <a:bodyPr wrap="square" lIns="0" tIns="0" rIns="0" bIns="0" rtlCol="0" anchor="ctr"/>
          <a:lstStyle/>
          <a:p>
            <a:pPr indent="0" marL="0">
              <a:buNone/>
            </a:pPr>
            <a:r>
              <a:rPr lang="en-US" sz="1400" b="1" spc="80" kern="0" dirty="0">
                <a:solidFill>
                  <a:srgbClr val="0B243E"/>
                </a:solidFill>
                <a:latin typeface="Arial" pitchFamily="34" charset="0"/>
                <a:ea typeface="Arial" pitchFamily="34" charset="-122"/>
                <a:cs typeface="Arial" pitchFamily="34" charset="-120"/>
              </a:rPr>
              <a:t>RAPPROCHER</a:t>
            </a:r>
            <a:endParaRPr lang="en-US" sz="1400" dirty="0"/>
          </a:p>
        </p:txBody>
      </p:sp>
      <p:sp>
        <p:nvSpPr>
          <p:cNvPr id="23" name="Text 21"/>
          <p:cNvSpPr/>
          <p:nvPr/>
        </p:nvSpPr>
        <p:spPr>
          <a:xfrm>
            <a:off x="7199071" y="4517136"/>
            <a:ext cx="3922776" cy="603504"/>
          </a:xfrm>
          <a:prstGeom prst="rect">
            <a:avLst/>
          </a:prstGeom>
          <a:noFill/>
          <a:ln/>
        </p:spPr>
        <p:txBody>
          <a:bodyPr wrap="square" lIns="0" tIns="0" rIns="0" bIns="0" rtlCol="0" anchor="t"/>
          <a:lstStyle/>
          <a:p>
            <a:pPr indent="0" marL="0">
              <a:lnSpc>
                <a:spcPts val="1500"/>
              </a:lnSpc>
              <a:buNone/>
            </a:pPr>
            <a:r>
              <a:rPr lang="en-US" sz="1100" dirty="0">
                <a:solidFill>
                  <a:srgbClr val="5C7186"/>
                </a:solidFill>
                <a:latin typeface="Arial" pitchFamily="34" charset="0"/>
                <a:ea typeface="Arial" pitchFamily="34" charset="-122"/>
                <a:cs typeface="Arial" pitchFamily="34" charset="-120"/>
              </a:rPr>
              <a:t>Suivi des transactions, reporting et rapprochement.</a:t>
            </a:r>
            <a:endParaRPr lang="en-US" sz="1100" dirty="0"/>
          </a:p>
        </p:txBody>
      </p:sp>
      <p:sp>
        <p:nvSpPr>
          <p:cNvPr id="24" name="Shape 22"/>
          <p:cNvSpPr/>
          <p:nvPr/>
        </p:nvSpPr>
        <p:spPr>
          <a:xfrm>
            <a:off x="685800" y="5394960"/>
            <a:ext cx="10820095" cy="676656"/>
          </a:xfrm>
          <a:prstGeom prst="roundRect">
            <a:avLst>
              <a:gd name="adj" fmla="val 18919"/>
            </a:avLst>
          </a:prstGeom>
          <a:solidFill>
            <a:srgbClr val="0B243E"/>
          </a:solidFill>
          <a:ln w="12700">
            <a:solidFill>
              <a:srgbClr val="0B243E"/>
            </a:solidFill>
            <a:prstDash val="solid"/>
          </a:ln>
          <a:effectLst>
            <a:outerShdw sx="100000" sy="100000" kx="0" ky="0" algn="bl" rotWithShape="0" blurRad="203200" dist="38100" dir="5400000">
              <a:srgbClr val="0B243E">
                <a:alpha val="16000"/>
              </a:srgbClr>
            </a:outerShdw>
          </a:effectLst>
        </p:spPr>
      </p:sp>
      <p:sp>
        <p:nvSpPr>
          <p:cNvPr id="25" name="Text 23"/>
          <p:cNvSpPr/>
          <p:nvPr/>
        </p:nvSpPr>
        <p:spPr>
          <a:xfrm>
            <a:off x="685800" y="5394960"/>
            <a:ext cx="10820095" cy="676656"/>
          </a:xfrm>
          <a:prstGeom prst="rect">
            <a:avLst/>
          </a:prstGeom>
          <a:noFill/>
          <a:ln/>
        </p:spPr>
        <p:txBody>
          <a:bodyPr wrap="square" lIns="0" tIns="0" rIns="0" bIns="0" rtlCol="0" anchor="ctr"/>
          <a:lstStyle/>
          <a:p>
            <a:pPr algn="ctr" indent="0" marL="0">
              <a:buNone/>
            </a:pPr>
            <a:r>
              <a:rPr lang="en-US" sz="1450" b="1" dirty="0">
                <a:solidFill>
                  <a:srgbClr val="0BB165"/>
                </a:solidFill>
                <a:latin typeface="Arial" pitchFamily="34" charset="0"/>
                <a:ea typeface="Arial" pitchFamily="34" charset="-122"/>
                <a:cs typeface="Arial" pitchFamily="34" charset="-120"/>
              </a:rPr>
              <a:t>Une intégration. </a:t>
            </a:r>
            <a:pPr algn="ctr" indent="0" marL="0">
              <a:buNone/>
            </a:pPr>
            <a:r>
              <a:rPr lang="en-US" sz="1450" b="1" dirty="0">
                <a:solidFill>
                  <a:srgbClr val="FFFFFF"/>
                </a:solidFill>
                <a:latin typeface="Arial" pitchFamily="34" charset="0"/>
                <a:ea typeface="Arial" pitchFamily="34" charset="-122"/>
                <a:cs typeface="Arial" pitchFamily="34" charset="-120"/>
              </a:rPr>
              <a:t>Un cadre contrôlé pour développer de nouveaux usages transfrontaliers.</a:t>
            </a:r>
            <a:endParaRPr lang="en-US" sz="1450" dirty="0"/>
          </a:p>
        </p:txBody>
      </p:sp>
      <p:sp>
        <p:nvSpPr>
          <p:cNvPr id="26" name="Text 24"/>
          <p:cNvSpPr/>
          <p:nvPr/>
        </p:nvSpPr>
        <p:spPr>
          <a:xfrm>
            <a:off x="685800" y="6327648"/>
            <a:ext cx="7772400" cy="256032"/>
          </a:xfrm>
          <a:prstGeom prst="rect">
            <a:avLst/>
          </a:prstGeom>
          <a:noFill/>
          <a:ln/>
        </p:spPr>
        <p:txBody>
          <a:bodyPr wrap="square" lIns="0" tIns="0" rIns="0" bIns="0" rtlCol="0" anchor="ctr"/>
          <a:lstStyle/>
          <a:p>
            <a:pPr indent="0" marL="0">
              <a:buNone/>
            </a:pPr>
            <a:r>
              <a:rPr lang="en-US" sz="850" dirty="0">
                <a:solidFill>
                  <a:srgbClr val="9AAABA"/>
                </a:solidFill>
                <a:latin typeface="Arial" pitchFamily="34" charset="0"/>
                <a:ea typeface="Arial" pitchFamily="34" charset="-122"/>
                <a:cs typeface="Arial" pitchFamily="34" charset="-120"/>
              </a:rPr>
              <a:t>Cambiste × Moov Côte d'Ivoire  —  Proposition de pilote  —  Document confidentiel</a:t>
            </a:r>
            <a:endParaRPr lang="en-US" sz="850" dirty="0"/>
          </a:p>
        </p:txBody>
      </p:sp>
      <p:sp>
        <p:nvSpPr>
          <p:cNvPr id="27" name="Text 25"/>
          <p:cNvSpPr/>
          <p:nvPr/>
        </p:nvSpPr>
        <p:spPr>
          <a:xfrm>
            <a:off x="10591495" y="6327648"/>
            <a:ext cx="914400" cy="256032"/>
          </a:xfrm>
          <a:prstGeom prst="rect">
            <a:avLst/>
          </a:prstGeom>
          <a:noFill/>
          <a:ln/>
        </p:spPr>
        <p:txBody>
          <a:bodyPr wrap="square" lIns="0" tIns="0" rIns="0" bIns="0" rtlCol="0" anchor="ctr"/>
          <a:lstStyle/>
          <a:p>
            <a:pPr algn="r" indent="0" marL="0">
              <a:buNone/>
            </a:pPr>
            <a:r>
              <a:rPr lang="en-US" sz="850" b="1" dirty="0">
                <a:solidFill>
                  <a:srgbClr val="9AAABA"/>
                </a:solidFill>
                <a:latin typeface="Arial" pitchFamily="34" charset="0"/>
                <a:ea typeface="Arial" pitchFamily="34" charset="-122"/>
                <a:cs typeface="Arial" pitchFamily="34" charset="-120"/>
              </a:rPr>
              <a:t>04</a:t>
            </a:r>
            <a:endParaRPr lang="en-US" sz="850" dirty="0"/>
          </a:p>
        </p:txBody>
      </p:sp>
      <p:pic>
        <p:nvPicPr>
          <p:cNvPr id="28" name="Image 0" descr="/home/user/print-function-file-argument/deck/assets/mark.png">    </p:cNvPr>
          <p:cNvPicPr>
            <a:picLocks noChangeAspect="1"/>
          </p:cNvPicPr>
          <p:nvPr/>
        </p:nvPicPr>
        <p:blipFill>
          <a:blip r:embed="rId1"/>
          <a:stretch>
            <a:fillRect/>
          </a:stretch>
        </p:blipFill>
        <p:spPr>
          <a:xfrm>
            <a:off x="11213287" y="457200"/>
            <a:ext cx="292608" cy="228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43E"/>
        </a:solidFill>
      </p:bgPr>
    </p:bg>
    <p:spTree>
      <p:nvGrpSpPr>
        <p:cNvPr id="1" name=""/>
        <p:cNvGrpSpPr/>
        <p:nvPr/>
      </p:nvGrpSpPr>
      <p:grpSpPr>
        <a:xfrm>
          <a:off x="0" y="0"/>
          <a:ext cx="0" cy="0"/>
          <a:chOff x="0" y="0"/>
          <a:chExt cx="0" cy="0"/>
        </a:xfrm>
      </p:grpSpPr>
      <p:sp>
        <p:nvSpPr>
          <p:cNvPr id="2" name="Text 0"/>
          <p:cNvSpPr/>
          <p:nvPr/>
        </p:nvSpPr>
        <p:spPr>
          <a:xfrm>
            <a:off x="685800" y="566928"/>
            <a:ext cx="5486400" cy="237744"/>
          </a:xfrm>
          <a:prstGeom prst="rect">
            <a:avLst/>
          </a:prstGeom>
          <a:noFill/>
          <a:ln/>
        </p:spPr>
        <p:txBody>
          <a:bodyPr wrap="square" lIns="0" tIns="0" rIns="0" bIns="0" rtlCol="0" anchor="ctr"/>
          <a:lstStyle/>
          <a:p>
            <a:pPr indent="0" marL="0">
              <a:buNone/>
            </a:pPr>
            <a:r>
              <a:rPr lang="en-US" sz="1050" b="1" spc="200" kern="0" dirty="0">
                <a:solidFill>
                  <a:srgbClr val="0BB165"/>
                </a:solidFill>
                <a:latin typeface="Arial" pitchFamily="34" charset="0"/>
                <a:ea typeface="Arial" pitchFamily="34" charset="-122"/>
                <a:cs typeface="Arial" pitchFamily="34" charset="-120"/>
              </a:rPr>
              <a:t>CONFORMITÉ</a:t>
            </a:r>
            <a:endParaRPr lang="en-US" sz="1050" dirty="0"/>
          </a:p>
        </p:txBody>
      </p:sp>
      <p:sp>
        <p:nvSpPr>
          <p:cNvPr id="3" name="Text 1"/>
          <p:cNvSpPr/>
          <p:nvPr/>
        </p:nvSpPr>
        <p:spPr>
          <a:xfrm>
            <a:off x="685800" y="868680"/>
            <a:ext cx="9692640" cy="777240"/>
          </a:xfrm>
          <a:prstGeom prst="rect">
            <a:avLst/>
          </a:prstGeom>
          <a:noFill/>
          <a:ln/>
        </p:spPr>
        <p:txBody>
          <a:bodyPr wrap="square" lIns="0" tIns="0" rIns="0" bIns="0" rtlCol="0" anchor="ctr"/>
          <a:lstStyle/>
          <a:p>
            <a:pPr indent="0" marL="0">
              <a:buNone/>
            </a:pPr>
            <a:r>
              <a:rPr lang="en-US" sz="3200" b="1" spc="-30" kern="0" dirty="0">
                <a:solidFill>
                  <a:srgbClr val="FFFFFF"/>
                </a:solidFill>
                <a:latin typeface="Arial" pitchFamily="34" charset="0"/>
                <a:ea typeface="Arial" pitchFamily="34" charset="-122"/>
                <a:cs typeface="Arial" pitchFamily="34" charset="-120"/>
              </a:rPr>
              <a:t>La conformité intégrée dès la conception</a:t>
            </a:r>
            <a:endParaRPr lang="en-US" sz="3200" dirty="0"/>
          </a:p>
        </p:txBody>
      </p:sp>
      <p:sp>
        <p:nvSpPr>
          <p:cNvPr id="4" name="Text 2"/>
          <p:cNvSpPr/>
          <p:nvPr/>
        </p:nvSpPr>
        <p:spPr>
          <a:xfrm>
            <a:off x="685800" y="1783080"/>
            <a:ext cx="5806440" cy="237744"/>
          </a:xfrm>
          <a:prstGeom prst="rect">
            <a:avLst/>
          </a:prstGeom>
          <a:noFill/>
          <a:ln/>
        </p:spPr>
        <p:txBody>
          <a:bodyPr wrap="square" lIns="0" tIns="0" rIns="0" bIns="0" rtlCol="0" anchor="ctr"/>
          <a:lstStyle/>
          <a:p>
            <a:pPr indent="0" marL="0">
              <a:buNone/>
            </a:pPr>
            <a:r>
              <a:rPr lang="en-US" sz="900" b="1" spc="140" kern="0" dirty="0">
                <a:solidFill>
                  <a:srgbClr val="93A9BF"/>
                </a:solidFill>
                <a:latin typeface="Arial" pitchFamily="34" charset="0"/>
                <a:ea typeface="Arial" pitchFamily="34" charset="-122"/>
                <a:cs typeface="Arial" pitchFamily="34" charset="-120"/>
              </a:rPr>
              <a:t>PARCOURS DE CONTRÔLE D'UNE TRANSACTION DU PILOTE</a:t>
            </a:r>
            <a:endParaRPr lang="en-US" sz="900" dirty="0"/>
          </a:p>
        </p:txBody>
      </p:sp>
      <p:sp>
        <p:nvSpPr>
          <p:cNvPr id="5" name="Shape 3"/>
          <p:cNvSpPr/>
          <p:nvPr/>
        </p:nvSpPr>
        <p:spPr>
          <a:xfrm>
            <a:off x="685800" y="2148840"/>
            <a:ext cx="5806440" cy="548640"/>
          </a:xfrm>
          <a:prstGeom prst="roundRect">
            <a:avLst>
              <a:gd name="adj" fmla="val 20000"/>
            </a:avLst>
          </a:prstGeom>
          <a:solidFill>
            <a:srgbClr val="12304F"/>
          </a:solidFill>
          <a:ln w="12700">
            <a:solidFill>
              <a:srgbClr val="1D4064"/>
            </a:solidFill>
            <a:prstDash val="solid"/>
          </a:ln>
        </p:spPr>
      </p:sp>
      <p:sp>
        <p:nvSpPr>
          <p:cNvPr id="6" name="Shape 4"/>
          <p:cNvSpPr/>
          <p:nvPr/>
        </p:nvSpPr>
        <p:spPr>
          <a:xfrm>
            <a:off x="868680" y="2267712"/>
            <a:ext cx="310896" cy="310896"/>
          </a:xfrm>
          <a:prstGeom prst="roundRect">
            <a:avLst>
              <a:gd name="adj" fmla="val 30000"/>
            </a:avLst>
          </a:prstGeom>
          <a:solidFill>
            <a:srgbClr val="0BB165"/>
          </a:solidFill>
          <a:ln/>
        </p:spPr>
      </p:sp>
      <p:sp>
        <p:nvSpPr>
          <p:cNvPr id="7" name="Text 5"/>
          <p:cNvSpPr/>
          <p:nvPr/>
        </p:nvSpPr>
        <p:spPr>
          <a:xfrm>
            <a:off x="868680" y="2267712"/>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01</a:t>
            </a:r>
            <a:endParaRPr lang="en-US" sz="950" dirty="0"/>
          </a:p>
        </p:txBody>
      </p:sp>
      <p:sp>
        <p:nvSpPr>
          <p:cNvPr id="8" name="Text 6"/>
          <p:cNvSpPr/>
          <p:nvPr/>
        </p:nvSpPr>
        <p:spPr>
          <a:xfrm>
            <a:off x="1307592" y="2148840"/>
            <a:ext cx="5001768" cy="5486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Identification et éligibilité</a:t>
            </a:r>
            <a:endParaRPr lang="en-US" sz="1200" dirty="0"/>
          </a:p>
        </p:txBody>
      </p:sp>
      <p:sp>
        <p:nvSpPr>
          <p:cNvPr id="9" name="Shape 7"/>
          <p:cNvSpPr/>
          <p:nvPr/>
        </p:nvSpPr>
        <p:spPr>
          <a:xfrm>
            <a:off x="1024128" y="2697480"/>
            <a:ext cx="0" cy="123444"/>
          </a:xfrm>
          <a:prstGeom prst="line">
            <a:avLst/>
          </a:prstGeom>
          <a:noFill/>
          <a:ln w="15875">
            <a:solidFill>
              <a:srgbClr val="0BB165"/>
            </a:solidFill>
            <a:prstDash val="solid"/>
          </a:ln>
        </p:spPr>
      </p:sp>
      <p:sp>
        <p:nvSpPr>
          <p:cNvPr id="10" name="Shape 8"/>
          <p:cNvSpPr/>
          <p:nvPr/>
        </p:nvSpPr>
        <p:spPr>
          <a:xfrm>
            <a:off x="685800" y="2820924"/>
            <a:ext cx="5806440" cy="548640"/>
          </a:xfrm>
          <a:prstGeom prst="roundRect">
            <a:avLst>
              <a:gd name="adj" fmla="val 20000"/>
            </a:avLst>
          </a:prstGeom>
          <a:solidFill>
            <a:srgbClr val="12304F"/>
          </a:solidFill>
          <a:ln w="12700">
            <a:solidFill>
              <a:srgbClr val="1D4064"/>
            </a:solidFill>
            <a:prstDash val="solid"/>
          </a:ln>
        </p:spPr>
      </p:sp>
      <p:sp>
        <p:nvSpPr>
          <p:cNvPr id="11" name="Shape 9"/>
          <p:cNvSpPr/>
          <p:nvPr/>
        </p:nvSpPr>
        <p:spPr>
          <a:xfrm>
            <a:off x="868680" y="2939796"/>
            <a:ext cx="310896" cy="310896"/>
          </a:xfrm>
          <a:prstGeom prst="roundRect">
            <a:avLst>
              <a:gd name="adj" fmla="val 30000"/>
            </a:avLst>
          </a:prstGeom>
          <a:solidFill>
            <a:srgbClr val="0BB165"/>
          </a:solidFill>
          <a:ln/>
        </p:spPr>
      </p:sp>
      <p:sp>
        <p:nvSpPr>
          <p:cNvPr id="12" name="Text 10"/>
          <p:cNvSpPr/>
          <p:nvPr/>
        </p:nvSpPr>
        <p:spPr>
          <a:xfrm>
            <a:off x="868680" y="2939796"/>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02</a:t>
            </a:r>
            <a:endParaRPr lang="en-US" sz="950" dirty="0"/>
          </a:p>
        </p:txBody>
      </p:sp>
      <p:sp>
        <p:nvSpPr>
          <p:cNvPr id="13" name="Text 11"/>
          <p:cNvSpPr/>
          <p:nvPr/>
        </p:nvSpPr>
        <p:spPr>
          <a:xfrm>
            <a:off x="1307592" y="2820924"/>
            <a:ext cx="5001768" cy="5486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Règles et plafonds transactionnels</a:t>
            </a:r>
            <a:endParaRPr lang="en-US" sz="1200" dirty="0"/>
          </a:p>
        </p:txBody>
      </p:sp>
      <p:sp>
        <p:nvSpPr>
          <p:cNvPr id="14" name="Shape 12"/>
          <p:cNvSpPr/>
          <p:nvPr/>
        </p:nvSpPr>
        <p:spPr>
          <a:xfrm>
            <a:off x="1024128" y="3369564"/>
            <a:ext cx="0" cy="123444"/>
          </a:xfrm>
          <a:prstGeom prst="line">
            <a:avLst/>
          </a:prstGeom>
          <a:noFill/>
          <a:ln w="15875">
            <a:solidFill>
              <a:srgbClr val="0BB165"/>
            </a:solidFill>
            <a:prstDash val="solid"/>
          </a:ln>
        </p:spPr>
      </p:sp>
      <p:sp>
        <p:nvSpPr>
          <p:cNvPr id="15" name="Shape 13"/>
          <p:cNvSpPr/>
          <p:nvPr/>
        </p:nvSpPr>
        <p:spPr>
          <a:xfrm>
            <a:off x="685800" y="3493008"/>
            <a:ext cx="5806440" cy="548640"/>
          </a:xfrm>
          <a:prstGeom prst="roundRect">
            <a:avLst>
              <a:gd name="adj" fmla="val 20000"/>
            </a:avLst>
          </a:prstGeom>
          <a:solidFill>
            <a:srgbClr val="12304F"/>
          </a:solidFill>
          <a:ln w="12700">
            <a:solidFill>
              <a:srgbClr val="1D4064"/>
            </a:solidFill>
            <a:prstDash val="solid"/>
          </a:ln>
        </p:spPr>
      </p:sp>
      <p:sp>
        <p:nvSpPr>
          <p:cNvPr id="16" name="Shape 14"/>
          <p:cNvSpPr/>
          <p:nvPr/>
        </p:nvSpPr>
        <p:spPr>
          <a:xfrm>
            <a:off x="868680" y="3611880"/>
            <a:ext cx="310896" cy="310896"/>
          </a:xfrm>
          <a:prstGeom prst="roundRect">
            <a:avLst>
              <a:gd name="adj" fmla="val 30000"/>
            </a:avLst>
          </a:prstGeom>
          <a:solidFill>
            <a:srgbClr val="0BB165"/>
          </a:solidFill>
          <a:ln/>
        </p:spPr>
      </p:sp>
      <p:sp>
        <p:nvSpPr>
          <p:cNvPr id="17" name="Text 15"/>
          <p:cNvSpPr/>
          <p:nvPr/>
        </p:nvSpPr>
        <p:spPr>
          <a:xfrm>
            <a:off x="868680" y="3611880"/>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03</a:t>
            </a:r>
            <a:endParaRPr lang="en-US" sz="950" dirty="0"/>
          </a:p>
        </p:txBody>
      </p:sp>
      <p:sp>
        <p:nvSpPr>
          <p:cNvPr id="18" name="Text 16"/>
          <p:cNvSpPr/>
          <p:nvPr/>
        </p:nvSpPr>
        <p:spPr>
          <a:xfrm>
            <a:off x="1307592" y="3493008"/>
            <a:ext cx="5001768" cy="5486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Contrôles sanctions et PEP</a:t>
            </a:r>
            <a:endParaRPr lang="en-US" sz="1200" dirty="0"/>
          </a:p>
        </p:txBody>
      </p:sp>
      <p:sp>
        <p:nvSpPr>
          <p:cNvPr id="19" name="Shape 17"/>
          <p:cNvSpPr/>
          <p:nvPr/>
        </p:nvSpPr>
        <p:spPr>
          <a:xfrm>
            <a:off x="1024128" y="4041648"/>
            <a:ext cx="0" cy="123444"/>
          </a:xfrm>
          <a:prstGeom prst="line">
            <a:avLst/>
          </a:prstGeom>
          <a:noFill/>
          <a:ln w="15875">
            <a:solidFill>
              <a:srgbClr val="0BB165"/>
            </a:solidFill>
            <a:prstDash val="solid"/>
          </a:ln>
        </p:spPr>
      </p:sp>
      <p:sp>
        <p:nvSpPr>
          <p:cNvPr id="20" name="Shape 18"/>
          <p:cNvSpPr/>
          <p:nvPr/>
        </p:nvSpPr>
        <p:spPr>
          <a:xfrm>
            <a:off x="685800" y="4165092"/>
            <a:ext cx="5806440" cy="548640"/>
          </a:xfrm>
          <a:prstGeom prst="roundRect">
            <a:avLst>
              <a:gd name="adj" fmla="val 20000"/>
            </a:avLst>
          </a:prstGeom>
          <a:solidFill>
            <a:srgbClr val="12304F"/>
          </a:solidFill>
          <a:ln w="12700">
            <a:solidFill>
              <a:srgbClr val="1D4064"/>
            </a:solidFill>
            <a:prstDash val="solid"/>
          </a:ln>
        </p:spPr>
      </p:sp>
      <p:sp>
        <p:nvSpPr>
          <p:cNvPr id="21" name="Shape 19"/>
          <p:cNvSpPr/>
          <p:nvPr/>
        </p:nvSpPr>
        <p:spPr>
          <a:xfrm>
            <a:off x="868680" y="4283964"/>
            <a:ext cx="310896" cy="310896"/>
          </a:xfrm>
          <a:prstGeom prst="roundRect">
            <a:avLst>
              <a:gd name="adj" fmla="val 30000"/>
            </a:avLst>
          </a:prstGeom>
          <a:solidFill>
            <a:srgbClr val="0BB165"/>
          </a:solidFill>
          <a:ln/>
        </p:spPr>
      </p:sp>
      <p:sp>
        <p:nvSpPr>
          <p:cNvPr id="22" name="Text 20"/>
          <p:cNvSpPr/>
          <p:nvPr/>
        </p:nvSpPr>
        <p:spPr>
          <a:xfrm>
            <a:off x="868680" y="4283964"/>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04</a:t>
            </a:r>
            <a:endParaRPr lang="en-US" sz="950" dirty="0"/>
          </a:p>
        </p:txBody>
      </p:sp>
      <p:sp>
        <p:nvSpPr>
          <p:cNvPr id="23" name="Text 21"/>
          <p:cNvSpPr/>
          <p:nvPr/>
        </p:nvSpPr>
        <p:spPr>
          <a:xfrm>
            <a:off x="1307592" y="4165092"/>
            <a:ext cx="5001768" cy="5486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Surveillance des transactions</a:t>
            </a:r>
            <a:endParaRPr lang="en-US" sz="1200" dirty="0"/>
          </a:p>
        </p:txBody>
      </p:sp>
      <p:sp>
        <p:nvSpPr>
          <p:cNvPr id="24" name="Shape 22"/>
          <p:cNvSpPr/>
          <p:nvPr/>
        </p:nvSpPr>
        <p:spPr>
          <a:xfrm>
            <a:off x="1024128" y="4713732"/>
            <a:ext cx="0" cy="123444"/>
          </a:xfrm>
          <a:prstGeom prst="line">
            <a:avLst/>
          </a:prstGeom>
          <a:noFill/>
          <a:ln w="15875">
            <a:solidFill>
              <a:srgbClr val="0BB165"/>
            </a:solidFill>
            <a:prstDash val="solid"/>
          </a:ln>
        </p:spPr>
      </p:sp>
      <p:sp>
        <p:nvSpPr>
          <p:cNvPr id="25" name="Shape 23"/>
          <p:cNvSpPr/>
          <p:nvPr/>
        </p:nvSpPr>
        <p:spPr>
          <a:xfrm>
            <a:off x="685800" y="4837176"/>
            <a:ext cx="5806440" cy="548640"/>
          </a:xfrm>
          <a:prstGeom prst="roundRect">
            <a:avLst>
              <a:gd name="adj" fmla="val 20000"/>
            </a:avLst>
          </a:prstGeom>
          <a:solidFill>
            <a:srgbClr val="12304F"/>
          </a:solidFill>
          <a:ln w="12700">
            <a:solidFill>
              <a:srgbClr val="1D4064"/>
            </a:solidFill>
            <a:prstDash val="solid"/>
          </a:ln>
        </p:spPr>
      </p:sp>
      <p:sp>
        <p:nvSpPr>
          <p:cNvPr id="26" name="Shape 24"/>
          <p:cNvSpPr/>
          <p:nvPr/>
        </p:nvSpPr>
        <p:spPr>
          <a:xfrm>
            <a:off x="868680" y="4956048"/>
            <a:ext cx="310896" cy="310896"/>
          </a:xfrm>
          <a:prstGeom prst="roundRect">
            <a:avLst>
              <a:gd name="adj" fmla="val 30000"/>
            </a:avLst>
          </a:prstGeom>
          <a:solidFill>
            <a:srgbClr val="0BB165"/>
          </a:solidFill>
          <a:ln/>
        </p:spPr>
      </p:sp>
      <p:sp>
        <p:nvSpPr>
          <p:cNvPr id="27" name="Text 25"/>
          <p:cNvSpPr/>
          <p:nvPr/>
        </p:nvSpPr>
        <p:spPr>
          <a:xfrm>
            <a:off x="868680" y="4956048"/>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05</a:t>
            </a:r>
            <a:endParaRPr lang="en-US" sz="950" dirty="0"/>
          </a:p>
        </p:txBody>
      </p:sp>
      <p:sp>
        <p:nvSpPr>
          <p:cNvPr id="28" name="Text 26"/>
          <p:cNvSpPr/>
          <p:nvPr/>
        </p:nvSpPr>
        <p:spPr>
          <a:xfrm>
            <a:off x="1307592" y="4837176"/>
            <a:ext cx="5001768" cy="5486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Exécution</a:t>
            </a:r>
            <a:endParaRPr lang="en-US" sz="1200" dirty="0"/>
          </a:p>
        </p:txBody>
      </p:sp>
      <p:sp>
        <p:nvSpPr>
          <p:cNvPr id="29" name="Shape 27"/>
          <p:cNvSpPr/>
          <p:nvPr/>
        </p:nvSpPr>
        <p:spPr>
          <a:xfrm>
            <a:off x="1024128" y="5385816"/>
            <a:ext cx="0" cy="123444"/>
          </a:xfrm>
          <a:prstGeom prst="line">
            <a:avLst/>
          </a:prstGeom>
          <a:noFill/>
          <a:ln w="15875">
            <a:solidFill>
              <a:srgbClr val="0BB165"/>
            </a:solidFill>
            <a:prstDash val="solid"/>
          </a:ln>
        </p:spPr>
      </p:sp>
      <p:sp>
        <p:nvSpPr>
          <p:cNvPr id="30" name="Shape 28"/>
          <p:cNvSpPr/>
          <p:nvPr/>
        </p:nvSpPr>
        <p:spPr>
          <a:xfrm>
            <a:off x="685800" y="5509260"/>
            <a:ext cx="5806440" cy="548640"/>
          </a:xfrm>
          <a:prstGeom prst="roundRect">
            <a:avLst>
              <a:gd name="adj" fmla="val 20000"/>
            </a:avLst>
          </a:prstGeom>
          <a:solidFill>
            <a:srgbClr val="12304F"/>
          </a:solidFill>
          <a:ln w="12700">
            <a:solidFill>
              <a:srgbClr val="1D4064"/>
            </a:solidFill>
            <a:prstDash val="solid"/>
          </a:ln>
        </p:spPr>
      </p:sp>
      <p:sp>
        <p:nvSpPr>
          <p:cNvPr id="31" name="Shape 29"/>
          <p:cNvSpPr/>
          <p:nvPr/>
        </p:nvSpPr>
        <p:spPr>
          <a:xfrm>
            <a:off x="868680" y="5628132"/>
            <a:ext cx="310896" cy="310896"/>
          </a:xfrm>
          <a:prstGeom prst="roundRect">
            <a:avLst>
              <a:gd name="adj" fmla="val 30000"/>
            </a:avLst>
          </a:prstGeom>
          <a:solidFill>
            <a:srgbClr val="0BB165"/>
          </a:solidFill>
          <a:ln/>
        </p:spPr>
      </p:sp>
      <p:sp>
        <p:nvSpPr>
          <p:cNvPr id="32" name="Text 30"/>
          <p:cNvSpPr/>
          <p:nvPr/>
        </p:nvSpPr>
        <p:spPr>
          <a:xfrm>
            <a:off x="868680" y="5628132"/>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06</a:t>
            </a:r>
            <a:endParaRPr lang="en-US" sz="950" dirty="0"/>
          </a:p>
        </p:txBody>
      </p:sp>
      <p:sp>
        <p:nvSpPr>
          <p:cNvPr id="33" name="Text 31"/>
          <p:cNvSpPr/>
          <p:nvPr/>
        </p:nvSpPr>
        <p:spPr>
          <a:xfrm>
            <a:off x="1307592" y="5509260"/>
            <a:ext cx="5001768" cy="5486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Piste d'audit et reporting</a:t>
            </a:r>
            <a:endParaRPr lang="en-US" sz="1200" dirty="0"/>
          </a:p>
        </p:txBody>
      </p:sp>
      <p:sp>
        <p:nvSpPr>
          <p:cNvPr id="34" name="Shape 32"/>
          <p:cNvSpPr/>
          <p:nvPr/>
        </p:nvSpPr>
        <p:spPr>
          <a:xfrm>
            <a:off x="6949440" y="1783080"/>
            <a:ext cx="4556455" cy="1572768"/>
          </a:xfrm>
          <a:prstGeom prst="roundRect">
            <a:avLst>
              <a:gd name="adj" fmla="val 9302"/>
            </a:avLst>
          </a:prstGeom>
          <a:solidFill>
            <a:srgbClr val="0BB165">
              <a:alpha val="18000"/>
            </a:srgbClr>
          </a:solidFill>
          <a:ln w="12700">
            <a:solidFill>
              <a:srgbClr val="0BB165"/>
            </a:solidFill>
            <a:prstDash val="solid"/>
          </a:ln>
        </p:spPr>
      </p:sp>
      <p:sp>
        <p:nvSpPr>
          <p:cNvPr id="35" name="Text 33"/>
          <p:cNvSpPr/>
          <p:nvPr/>
        </p:nvSpPr>
        <p:spPr>
          <a:xfrm>
            <a:off x="7278624" y="1783080"/>
            <a:ext cx="3898087" cy="1572768"/>
          </a:xfrm>
          <a:prstGeom prst="rect">
            <a:avLst/>
          </a:prstGeom>
          <a:noFill/>
          <a:ln/>
        </p:spPr>
        <p:txBody>
          <a:bodyPr wrap="square" lIns="0" tIns="0" rIns="0" bIns="0" rtlCol="0" anchor="ctr"/>
          <a:lstStyle/>
          <a:p>
            <a:pPr indent="0" marL="0">
              <a:lnSpc>
                <a:spcPts val="2300"/>
              </a:lnSpc>
              <a:buNone/>
            </a:pPr>
            <a:r>
              <a:rPr lang="en-US" sz="1600" b="1" dirty="0">
                <a:solidFill>
                  <a:srgbClr val="FFFFFF"/>
                </a:solidFill>
                <a:latin typeface="Arial" pitchFamily="34" charset="0"/>
                <a:ea typeface="Arial" pitchFamily="34" charset="-122"/>
                <a:cs typeface="Arial" pitchFamily="34" charset="-120"/>
              </a:rPr>
              <a:t>Aucune transaction du pilote ne doit contourner le cadre de contrôle convenu.</a:t>
            </a:r>
            <a:endParaRPr lang="en-US" sz="1600" dirty="0"/>
          </a:p>
        </p:txBody>
      </p:sp>
      <p:sp>
        <p:nvSpPr>
          <p:cNvPr id="36" name="Text 34"/>
          <p:cNvSpPr/>
          <p:nvPr/>
        </p:nvSpPr>
        <p:spPr>
          <a:xfrm>
            <a:off x="6949440" y="3511296"/>
            <a:ext cx="4556455" cy="237744"/>
          </a:xfrm>
          <a:prstGeom prst="rect">
            <a:avLst/>
          </a:prstGeom>
          <a:noFill/>
          <a:ln/>
        </p:spPr>
        <p:txBody>
          <a:bodyPr wrap="square" lIns="0" tIns="0" rIns="0" bIns="0" rtlCol="0" anchor="ctr"/>
          <a:lstStyle/>
          <a:p>
            <a:pPr indent="0" marL="0">
              <a:buNone/>
            </a:pPr>
            <a:r>
              <a:rPr lang="en-US" sz="900" b="1" spc="140" kern="0" dirty="0">
                <a:solidFill>
                  <a:srgbClr val="93A9BF"/>
                </a:solidFill>
                <a:latin typeface="Arial" pitchFamily="34" charset="0"/>
                <a:ea typeface="Arial" pitchFamily="34" charset="-122"/>
                <a:cs typeface="Arial" pitchFamily="34" charset="-120"/>
              </a:rPr>
              <a:t>DISPOSITIFS MOBILISÉS</a:t>
            </a:r>
            <a:endParaRPr lang="en-US" sz="900" dirty="0"/>
          </a:p>
        </p:txBody>
      </p:sp>
      <p:sp>
        <p:nvSpPr>
          <p:cNvPr id="37" name="Shape 35"/>
          <p:cNvSpPr/>
          <p:nvPr/>
        </p:nvSpPr>
        <p:spPr>
          <a:xfrm>
            <a:off x="6949440" y="3822192"/>
            <a:ext cx="2195932" cy="347472"/>
          </a:xfrm>
          <a:prstGeom prst="roundRect">
            <a:avLst>
              <a:gd name="adj" fmla="val 26316"/>
            </a:avLst>
          </a:prstGeom>
          <a:solidFill>
            <a:srgbClr val="12304F"/>
          </a:solidFill>
          <a:ln w="12700">
            <a:solidFill>
              <a:srgbClr val="1D4064"/>
            </a:solidFill>
            <a:prstDash val="solid"/>
          </a:ln>
        </p:spPr>
      </p:sp>
      <p:sp>
        <p:nvSpPr>
          <p:cNvPr id="38" name="Text 36"/>
          <p:cNvSpPr/>
          <p:nvPr/>
        </p:nvSpPr>
        <p:spPr>
          <a:xfrm>
            <a:off x="7077456" y="3822192"/>
            <a:ext cx="1939900" cy="347472"/>
          </a:xfrm>
          <a:prstGeom prst="rect">
            <a:avLst/>
          </a:prstGeom>
          <a:noFill/>
          <a:ln/>
        </p:spPr>
        <p:txBody>
          <a:bodyPr wrap="square" lIns="0" tIns="0" rIns="0" bIns="0" rtlCol="0" anchor="ctr"/>
          <a:lstStyle/>
          <a:p>
            <a:pPr indent="0" marL="0">
              <a:buNone/>
            </a:pPr>
            <a:r>
              <a:rPr lang="en-US" sz="950" b="1" dirty="0">
                <a:solidFill>
                  <a:srgbClr val="CBDCEA"/>
                </a:solidFill>
                <a:latin typeface="Arial" pitchFamily="34" charset="0"/>
                <a:ea typeface="Arial" pitchFamily="34" charset="-122"/>
                <a:cs typeface="Arial" pitchFamily="34" charset="-120"/>
              </a:rPr>
              <a:t>AML / CFT</a:t>
            </a:r>
            <a:endParaRPr lang="en-US" sz="950" dirty="0"/>
          </a:p>
        </p:txBody>
      </p:sp>
      <p:sp>
        <p:nvSpPr>
          <p:cNvPr id="39" name="Shape 37"/>
          <p:cNvSpPr/>
          <p:nvPr/>
        </p:nvSpPr>
        <p:spPr>
          <a:xfrm>
            <a:off x="9309964" y="3822192"/>
            <a:ext cx="2195932" cy="347472"/>
          </a:xfrm>
          <a:prstGeom prst="roundRect">
            <a:avLst>
              <a:gd name="adj" fmla="val 26316"/>
            </a:avLst>
          </a:prstGeom>
          <a:solidFill>
            <a:srgbClr val="12304F"/>
          </a:solidFill>
          <a:ln w="12700">
            <a:solidFill>
              <a:srgbClr val="1D4064"/>
            </a:solidFill>
            <a:prstDash val="solid"/>
          </a:ln>
        </p:spPr>
      </p:sp>
      <p:sp>
        <p:nvSpPr>
          <p:cNvPr id="40" name="Text 38"/>
          <p:cNvSpPr/>
          <p:nvPr/>
        </p:nvSpPr>
        <p:spPr>
          <a:xfrm>
            <a:off x="9437980" y="3822192"/>
            <a:ext cx="1939900" cy="347472"/>
          </a:xfrm>
          <a:prstGeom prst="rect">
            <a:avLst/>
          </a:prstGeom>
          <a:noFill/>
          <a:ln/>
        </p:spPr>
        <p:txBody>
          <a:bodyPr wrap="square" lIns="0" tIns="0" rIns="0" bIns="0" rtlCol="0" anchor="ctr"/>
          <a:lstStyle/>
          <a:p>
            <a:pPr indent="0" marL="0">
              <a:buNone/>
            </a:pPr>
            <a:r>
              <a:rPr lang="en-US" sz="950" b="1" dirty="0">
                <a:solidFill>
                  <a:srgbClr val="CBDCEA"/>
                </a:solidFill>
                <a:latin typeface="Arial" pitchFamily="34" charset="0"/>
                <a:ea typeface="Arial" pitchFamily="34" charset="-122"/>
                <a:cs typeface="Arial" pitchFamily="34" charset="-120"/>
              </a:rPr>
              <a:t>KYC / KYB</a:t>
            </a:r>
            <a:endParaRPr lang="en-US" sz="950" dirty="0"/>
          </a:p>
        </p:txBody>
      </p:sp>
      <p:sp>
        <p:nvSpPr>
          <p:cNvPr id="41" name="Shape 39"/>
          <p:cNvSpPr/>
          <p:nvPr/>
        </p:nvSpPr>
        <p:spPr>
          <a:xfrm>
            <a:off x="6949440" y="4270248"/>
            <a:ext cx="2195932" cy="347472"/>
          </a:xfrm>
          <a:prstGeom prst="roundRect">
            <a:avLst>
              <a:gd name="adj" fmla="val 26316"/>
            </a:avLst>
          </a:prstGeom>
          <a:solidFill>
            <a:srgbClr val="12304F"/>
          </a:solidFill>
          <a:ln w="12700">
            <a:solidFill>
              <a:srgbClr val="1D4064"/>
            </a:solidFill>
            <a:prstDash val="solid"/>
          </a:ln>
        </p:spPr>
      </p:sp>
      <p:sp>
        <p:nvSpPr>
          <p:cNvPr id="42" name="Text 40"/>
          <p:cNvSpPr/>
          <p:nvPr/>
        </p:nvSpPr>
        <p:spPr>
          <a:xfrm>
            <a:off x="7077456" y="4270248"/>
            <a:ext cx="1939900" cy="347472"/>
          </a:xfrm>
          <a:prstGeom prst="rect">
            <a:avLst/>
          </a:prstGeom>
          <a:noFill/>
          <a:ln/>
        </p:spPr>
        <p:txBody>
          <a:bodyPr wrap="square" lIns="0" tIns="0" rIns="0" bIns="0" rtlCol="0" anchor="ctr"/>
          <a:lstStyle/>
          <a:p>
            <a:pPr indent="0" marL="0">
              <a:buNone/>
            </a:pPr>
            <a:r>
              <a:rPr lang="en-US" sz="950" b="1" dirty="0">
                <a:solidFill>
                  <a:srgbClr val="CBDCEA"/>
                </a:solidFill>
                <a:latin typeface="Arial" pitchFamily="34" charset="0"/>
                <a:ea typeface="Arial" pitchFamily="34" charset="-122"/>
                <a:cs typeface="Arial" pitchFamily="34" charset="-120"/>
              </a:rPr>
              <a:t>Filtrage sanctions</a:t>
            </a:r>
            <a:endParaRPr lang="en-US" sz="950" dirty="0"/>
          </a:p>
        </p:txBody>
      </p:sp>
      <p:sp>
        <p:nvSpPr>
          <p:cNvPr id="43" name="Shape 41"/>
          <p:cNvSpPr/>
          <p:nvPr/>
        </p:nvSpPr>
        <p:spPr>
          <a:xfrm>
            <a:off x="9309964" y="4270248"/>
            <a:ext cx="2195932" cy="347472"/>
          </a:xfrm>
          <a:prstGeom prst="roundRect">
            <a:avLst>
              <a:gd name="adj" fmla="val 26316"/>
            </a:avLst>
          </a:prstGeom>
          <a:solidFill>
            <a:srgbClr val="12304F"/>
          </a:solidFill>
          <a:ln w="12700">
            <a:solidFill>
              <a:srgbClr val="1D4064"/>
            </a:solidFill>
            <a:prstDash val="solid"/>
          </a:ln>
        </p:spPr>
      </p:sp>
      <p:sp>
        <p:nvSpPr>
          <p:cNvPr id="44" name="Text 42"/>
          <p:cNvSpPr/>
          <p:nvPr/>
        </p:nvSpPr>
        <p:spPr>
          <a:xfrm>
            <a:off x="9437980" y="4270248"/>
            <a:ext cx="1939900" cy="347472"/>
          </a:xfrm>
          <a:prstGeom prst="rect">
            <a:avLst/>
          </a:prstGeom>
          <a:noFill/>
          <a:ln/>
        </p:spPr>
        <p:txBody>
          <a:bodyPr wrap="square" lIns="0" tIns="0" rIns="0" bIns="0" rtlCol="0" anchor="ctr"/>
          <a:lstStyle/>
          <a:p>
            <a:pPr indent="0" marL="0">
              <a:buNone/>
            </a:pPr>
            <a:r>
              <a:rPr lang="en-US" sz="950" b="1" dirty="0">
                <a:solidFill>
                  <a:srgbClr val="CBDCEA"/>
                </a:solidFill>
                <a:latin typeface="Arial" pitchFamily="34" charset="0"/>
                <a:ea typeface="Arial" pitchFamily="34" charset="-122"/>
                <a:cs typeface="Arial" pitchFamily="34" charset="-120"/>
              </a:rPr>
              <a:t>Filtrage PEP</a:t>
            </a:r>
            <a:endParaRPr lang="en-US" sz="950" dirty="0"/>
          </a:p>
        </p:txBody>
      </p:sp>
      <p:sp>
        <p:nvSpPr>
          <p:cNvPr id="45" name="Shape 43"/>
          <p:cNvSpPr/>
          <p:nvPr/>
        </p:nvSpPr>
        <p:spPr>
          <a:xfrm>
            <a:off x="6949440" y="4718304"/>
            <a:ext cx="2195932" cy="347472"/>
          </a:xfrm>
          <a:prstGeom prst="roundRect">
            <a:avLst>
              <a:gd name="adj" fmla="val 26316"/>
            </a:avLst>
          </a:prstGeom>
          <a:solidFill>
            <a:srgbClr val="12304F"/>
          </a:solidFill>
          <a:ln w="12700">
            <a:solidFill>
              <a:srgbClr val="1D4064"/>
            </a:solidFill>
            <a:prstDash val="solid"/>
          </a:ln>
        </p:spPr>
      </p:sp>
      <p:sp>
        <p:nvSpPr>
          <p:cNvPr id="46" name="Text 44"/>
          <p:cNvSpPr/>
          <p:nvPr/>
        </p:nvSpPr>
        <p:spPr>
          <a:xfrm>
            <a:off x="7077456" y="4718304"/>
            <a:ext cx="1939900" cy="347472"/>
          </a:xfrm>
          <a:prstGeom prst="rect">
            <a:avLst/>
          </a:prstGeom>
          <a:noFill/>
          <a:ln/>
        </p:spPr>
        <p:txBody>
          <a:bodyPr wrap="square" lIns="0" tIns="0" rIns="0" bIns="0" rtlCol="0" anchor="ctr"/>
          <a:lstStyle/>
          <a:p>
            <a:pPr indent="0" marL="0">
              <a:buNone/>
            </a:pPr>
            <a:r>
              <a:rPr lang="en-US" sz="950" b="1" dirty="0">
                <a:solidFill>
                  <a:srgbClr val="CBDCEA"/>
                </a:solidFill>
                <a:latin typeface="Arial" pitchFamily="34" charset="0"/>
                <a:ea typeface="Arial" pitchFamily="34" charset="-122"/>
                <a:cs typeface="Arial" pitchFamily="34" charset="-120"/>
              </a:rPr>
              <a:t>Plafonds et velocity</a:t>
            </a:r>
            <a:endParaRPr lang="en-US" sz="950" dirty="0"/>
          </a:p>
        </p:txBody>
      </p:sp>
      <p:sp>
        <p:nvSpPr>
          <p:cNvPr id="47" name="Shape 45"/>
          <p:cNvSpPr/>
          <p:nvPr/>
        </p:nvSpPr>
        <p:spPr>
          <a:xfrm>
            <a:off x="9309964" y="4718304"/>
            <a:ext cx="2195932" cy="347472"/>
          </a:xfrm>
          <a:prstGeom prst="roundRect">
            <a:avLst>
              <a:gd name="adj" fmla="val 26316"/>
            </a:avLst>
          </a:prstGeom>
          <a:solidFill>
            <a:srgbClr val="12304F"/>
          </a:solidFill>
          <a:ln w="12700">
            <a:solidFill>
              <a:srgbClr val="1D4064"/>
            </a:solidFill>
            <a:prstDash val="solid"/>
          </a:ln>
        </p:spPr>
      </p:sp>
      <p:sp>
        <p:nvSpPr>
          <p:cNvPr id="48" name="Text 46"/>
          <p:cNvSpPr/>
          <p:nvPr/>
        </p:nvSpPr>
        <p:spPr>
          <a:xfrm>
            <a:off x="9437980" y="4718304"/>
            <a:ext cx="1939900" cy="347472"/>
          </a:xfrm>
          <a:prstGeom prst="rect">
            <a:avLst/>
          </a:prstGeom>
          <a:noFill/>
          <a:ln/>
        </p:spPr>
        <p:txBody>
          <a:bodyPr wrap="square" lIns="0" tIns="0" rIns="0" bIns="0" rtlCol="0" anchor="ctr"/>
          <a:lstStyle/>
          <a:p>
            <a:pPr indent="0" marL="0">
              <a:buNone/>
            </a:pPr>
            <a:r>
              <a:rPr lang="en-US" sz="950" b="1" dirty="0">
                <a:solidFill>
                  <a:srgbClr val="CBDCEA"/>
                </a:solidFill>
                <a:latin typeface="Arial" pitchFamily="34" charset="0"/>
                <a:ea typeface="Arial" pitchFamily="34" charset="-122"/>
                <a:cs typeface="Arial" pitchFamily="34" charset="-120"/>
              </a:rPr>
              <a:t>Escalade et suspension</a:t>
            </a:r>
            <a:endParaRPr lang="en-US" sz="950" dirty="0"/>
          </a:p>
        </p:txBody>
      </p:sp>
      <p:sp>
        <p:nvSpPr>
          <p:cNvPr id="49" name="Shape 47"/>
          <p:cNvSpPr/>
          <p:nvPr/>
        </p:nvSpPr>
        <p:spPr>
          <a:xfrm>
            <a:off x="6949440" y="5166360"/>
            <a:ext cx="2195932" cy="347472"/>
          </a:xfrm>
          <a:prstGeom prst="roundRect">
            <a:avLst>
              <a:gd name="adj" fmla="val 26316"/>
            </a:avLst>
          </a:prstGeom>
          <a:solidFill>
            <a:srgbClr val="12304F"/>
          </a:solidFill>
          <a:ln w="12700">
            <a:solidFill>
              <a:srgbClr val="1D4064"/>
            </a:solidFill>
            <a:prstDash val="solid"/>
          </a:ln>
        </p:spPr>
      </p:sp>
      <p:sp>
        <p:nvSpPr>
          <p:cNvPr id="50" name="Text 48"/>
          <p:cNvSpPr/>
          <p:nvPr/>
        </p:nvSpPr>
        <p:spPr>
          <a:xfrm>
            <a:off x="7077456" y="5166360"/>
            <a:ext cx="1939900" cy="347472"/>
          </a:xfrm>
          <a:prstGeom prst="rect">
            <a:avLst/>
          </a:prstGeom>
          <a:noFill/>
          <a:ln/>
        </p:spPr>
        <p:txBody>
          <a:bodyPr wrap="square" lIns="0" tIns="0" rIns="0" bIns="0" rtlCol="0" anchor="ctr"/>
          <a:lstStyle/>
          <a:p>
            <a:pPr indent="0" marL="0">
              <a:buNone/>
            </a:pPr>
            <a:r>
              <a:rPr lang="en-US" sz="950" b="1" dirty="0">
                <a:solidFill>
                  <a:srgbClr val="CBDCEA"/>
                </a:solidFill>
                <a:latin typeface="Arial" pitchFamily="34" charset="0"/>
                <a:ea typeface="Arial" pitchFamily="34" charset="-122"/>
                <a:cs typeface="Arial" pitchFamily="34" charset="-120"/>
              </a:rPr>
              <a:t>Traçabilité</a:t>
            </a:r>
            <a:endParaRPr lang="en-US" sz="950" dirty="0"/>
          </a:p>
        </p:txBody>
      </p:sp>
      <p:sp>
        <p:nvSpPr>
          <p:cNvPr id="51" name="Shape 49"/>
          <p:cNvSpPr/>
          <p:nvPr/>
        </p:nvSpPr>
        <p:spPr>
          <a:xfrm>
            <a:off x="9309964" y="5166360"/>
            <a:ext cx="2195932" cy="347472"/>
          </a:xfrm>
          <a:prstGeom prst="roundRect">
            <a:avLst>
              <a:gd name="adj" fmla="val 26316"/>
            </a:avLst>
          </a:prstGeom>
          <a:solidFill>
            <a:srgbClr val="12304F"/>
          </a:solidFill>
          <a:ln w="12700">
            <a:solidFill>
              <a:srgbClr val="1D4064"/>
            </a:solidFill>
            <a:prstDash val="solid"/>
          </a:ln>
        </p:spPr>
      </p:sp>
      <p:sp>
        <p:nvSpPr>
          <p:cNvPr id="52" name="Text 50"/>
          <p:cNvSpPr/>
          <p:nvPr/>
        </p:nvSpPr>
        <p:spPr>
          <a:xfrm>
            <a:off x="9437980" y="5166360"/>
            <a:ext cx="1939900" cy="347472"/>
          </a:xfrm>
          <a:prstGeom prst="rect">
            <a:avLst/>
          </a:prstGeom>
          <a:noFill/>
          <a:ln/>
        </p:spPr>
        <p:txBody>
          <a:bodyPr wrap="square" lIns="0" tIns="0" rIns="0" bIns="0" rtlCol="0" anchor="ctr"/>
          <a:lstStyle/>
          <a:p>
            <a:pPr indent="0" marL="0">
              <a:buNone/>
            </a:pPr>
            <a:r>
              <a:rPr lang="en-US" sz="950" b="1" dirty="0">
                <a:solidFill>
                  <a:srgbClr val="CBDCEA"/>
                </a:solidFill>
                <a:latin typeface="Arial" pitchFamily="34" charset="0"/>
                <a:ea typeface="Arial" pitchFamily="34" charset="-122"/>
                <a:cs typeface="Arial" pitchFamily="34" charset="-120"/>
              </a:rPr>
              <a:t>Rapprochement</a:t>
            </a:r>
            <a:endParaRPr lang="en-US" sz="950" dirty="0"/>
          </a:p>
        </p:txBody>
      </p:sp>
      <p:sp>
        <p:nvSpPr>
          <p:cNvPr id="53" name="Text 51"/>
          <p:cNvSpPr/>
          <p:nvPr/>
        </p:nvSpPr>
        <p:spPr>
          <a:xfrm>
            <a:off x="6949440" y="5669280"/>
            <a:ext cx="4556455" cy="548640"/>
          </a:xfrm>
          <a:prstGeom prst="rect">
            <a:avLst/>
          </a:prstGeom>
          <a:noFill/>
          <a:ln/>
        </p:spPr>
        <p:txBody>
          <a:bodyPr wrap="square" lIns="0" tIns="0" rIns="0" bIns="0" rtlCol="0" anchor="t"/>
          <a:lstStyle/>
          <a:p>
            <a:pPr indent="0" marL="0">
              <a:lnSpc>
                <a:spcPts val="1300"/>
              </a:lnSpc>
              <a:buNone/>
            </a:pPr>
            <a:r>
              <a:rPr lang="en-US" sz="880" i="1" dirty="0">
                <a:solidFill>
                  <a:srgbClr val="8FA5BA"/>
                </a:solidFill>
                <a:latin typeface="Arial" pitchFamily="34" charset="0"/>
                <a:ea typeface="Arial" pitchFamily="34" charset="-122"/>
                <a:cs typeface="Arial" pitchFamily="34" charset="-120"/>
              </a:rPr>
              <a:t>Le modèle opérationnel définitif sera soumis aux procédures internes de conformité de Moov et aux exigences réglementaires applicables avant toute mise en production.</a:t>
            </a:r>
            <a:endParaRPr lang="en-US" sz="880" dirty="0"/>
          </a:p>
        </p:txBody>
      </p:sp>
      <p:sp>
        <p:nvSpPr>
          <p:cNvPr id="54" name="Text 52"/>
          <p:cNvSpPr/>
          <p:nvPr/>
        </p:nvSpPr>
        <p:spPr>
          <a:xfrm>
            <a:off x="685800" y="6327648"/>
            <a:ext cx="7772400" cy="256032"/>
          </a:xfrm>
          <a:prstGeom prst="rect">
            <a:avLst/>
          </a:prstGeom>
          <a:noFill/>
          <a:ln/>
        </p:spPr>
        <p:txBody>
          <a:bodyPr wrap="square" lIns="0" tIns="0" rIns="0" bIns="0" rtlCol="0" anchor="ctr"/>
          <a:lstStyle/>
          <a:p>
            <a:pPr indent="0" marL="0">
              <a:buNone/>
            </a:pPr>
            <a:r>
              <a:rPr lang="en-US" sz="850" dirty="0">
                <a:solidFill>
                  <a:srgbClr val="6C8299"/>
                </a:solidFill>
                <a:latin typeface="Arial" pitchFamily="34" charset="0"/>
                <a:ea typeface="Arial" pitchFamily="34" charset="-122"/>
                <a:cs typeface="Arial" pitchFamily="34" charset="-120"/>
              </a:rPr>
              <a:t>Cambiste × Moov Côte d'Ivoire  —  Proposition de pilote  —  Document confidentiel</a:t>
            </a:r>
            <a:endParaRPr lang="en-US" sz="850" dirty="0"/>
          </a:p>
        </p:txBody>
      </p:sp>
      <p:sp>
        <p:nvSpPr>
          <p:cNvPr id="55" name="Text 53"/>
          <p:cNvSpPr/>
          <p:nvPr/>
        </p:nvSpPr>
        <p:spPr>
          <a:xfrm>
            <a:off x="10591495" y="6327648"/>
            <a:ext cx="914400" cy="256032"/>
          </a:xfrm>
          <a:prstGeom prst="rect">
            <a:avLst/>
          </a:prstGeom>
          <a:noFill/>
          <a:ln/>
        </p:spPr>
        <p:txBody>
          <a:bodyPr wrap="square" lIns="0" tIns="0" rIns="0" bIns="0" rtlCol="0" anchor="ctr"/>
          <a:lstStyle/>
          <a:p>
            <a:pPr algn="r" indent="0" marL="0">
              <a:buNone/>
            </a:pPr>
            <a:r>
              <a:rPr lang="en-US" sz="850" b="1" dirty="0">
                <a:solidFill>
                  <a:srgbClr val="6C8299"/>
                </a:solidFill>
                <a:latin typeface="Arial" pitchFamily="34" charset="0"/>
                <a:ea typeface="Arial" pitchFamily="34" charset="-122"/>
                <a:cs typeface="Arial"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66928"/>
            <a:ext cx="5486400" cy="237744"/>
          </a:xfrm>
          <a:prstGeom prst="rect">
            <a:avLst/>
          </a:prstGeom>
          <a:noFill/>
          <a:ln/>
        </p:spPr>
        <p:txBody>
          <a:bodyPr wrap="square" lIns="0" tIns="0" rIns="0" bIns="0" rtlCol="0" anchor="ctr"/>
          <a:lstStyle/>
          <a:p>
            <a:pPr indent="0" marL="0">
              <a:buNone/>
            </a:pPr>
            <a:r>
              <a:rPr lang="en-US" sz="1050" b="1" spc="200" kern="0" dirty="0">
                <a:solidFill>
                  <a:srgbClr val="0BB165"/>
                </a:solidFill>
                <a:latin typeface="Arial" pitchFamily="34" charset="0"/>
                <a:ea typeface="Arial" pitchFamily="34" charset="-122"/>
                <a:cs typeface="Arial" pitchFamily="34" charset="-120"/>
              </a:rPr>
              <a:t>GOUVERNANCE</a:t>
            </a:r>
            <a:endParaRPr lang="en-US" sz="1050" dirty="0"/>
          </a:p>
        </p:txBody>
      </p:sp>
      <p:sp>
        <p:nvSpPr>
          <p:cNvPr id="3" name="Text 1"/>
          <p:cNvSpPr/>
          <p:nvPr/>
        </p:nvSpPr>
        <p:spPr>
          <a:xfrm>
            <a:off x="685800" y="868680"/>
            <a:ext cx="9692640" cy="777240"/>
          </a:xfrm>
          <a:prstGeom prst="rect">
            <a:avLst/>
          </a:prstGeom>
          <a:noFill/>
          <a:ln/>
        </p:spPr>
        <p:txBody>
          <a:bodyPr wrap="square" lIns="0" tIns="0" rIns="0" bIns="0" rtlCol="0" anchor="ctr"/>
          <a:lstStyle/>
          <a:p>
            <a:pPr indent="0" marL="0">
              <a:buNone/>
            </a:pPr>
            <a:r>
              <a:rPr lang="en-US" sz="3200" b="1" spc="-30" kern="0" dirty="0">
                <a:solidFill>
                  <a:srgbClr val="0B243E"/>
                </a:solidFill>
                <a:latin typeface="Arial" pitchFamily="34" charset="0"/>
                <a:ea typeface="Arial" pitchFamily="34" charset="-122"/>
                <a:cs typeface="Arial" pitchFamily="34" charset="-120"/>
              </a:rPr>
              <a:t>Des responsabilités clairement définies</a:t>
            </a:r>
            <a:endParaRPr lang="en-US" sz="3200" dirty="0"/>
          </a:p>
        </p:txBody>
      </p:sp>
      <p:sp>
        <p:nvSpPr>
          <p:cNvPr id="4" name="Shape 2"/>
          <p:cNvSpPr/>
          <p:nvPr/>
        </p:nvSpPr>
        <p:spPr>
          <a:xfrm>
            <a:off x="685800" y="1874520"/>
            <a:ext cx="3454603" cy="3566160"/>
          </a:xfrm>
          <a:prstGeom prst="roundRect">
            <a:avLst>
              <a:gd name="adj" fmla="val 4235"/>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5" name="Shape 3"/>
          <p:cNvSpPr/>
          <p:nvPr/>
        </p:nvSpPr>
        <p:spPr>
          <a:xfrm>
            <a:off x="685800" y="1874520"/>
            <a:ext cx="3454603" cy="786384"/>
          </a:xfrm>
          <a:prstGeom prst="roundRect">
            <a:avLst>
              <a:gd name="adj" fmla="val 18605"/>
            </a:avLst>
          </a:prstGeom>
          <a:solidFill>
            <a:srgbClr val="0B243E"/>
          </a:solidFill>
          <a:ln/>
        </p:spPr>
      </p:sp>
      <p:sp>
        <p:nvSpPr>
          <p:cNvPr id="6" name="Shape 4"/>
          <p:cNvSpPr/>
          <p:nvPr/>
        </p:nvSpPr>
        <p:spPr>
          <a:xfrm>
            <a:off x="685800" y="2441448"/>
            <a:ext cx="3454603" cy="219456"/>
          </a:xfrm>
          <a:prstGeom prst="rect">
            <a:avLst/>
          </a:prstGeom>
          <a:solidFill>
            <a:srgbClr val="0B243E"/>
          </a:solidFill>
          <a:ln/>
        </p:spPr>
      </p:sp>
      <p:sp>
        <p:nvSpPr>
          <p:cNvPr id="7" name="Text 5"/>
          <p:cNvSpPr/>
          <p:nvPr/>
        </p:nvSpPr>
        <p:spPr>
          <a:xfrm>
            <a:off x="960120" y="1874520"/>
            <a:ext cx="2905963" cy="786384"/>
          </a:xfrm>
          <a:prstGeom prst="rect">
            <a:avLst/>
          </a:prstGeom>
          <a:noFill/>
          <a:ln/>
        </p:spPr>
        <p:txBody>
          <a:bodyPr wrap="square" lIns="0" tIns="0" rIns="0" bIns="0" rtlCol="0" anchor="ctr"/>
          <a:lstStyle/>
          <a:p>
            <a:pPr indent="0" marL="0">
              <a:lnSpc>
                <a:spcPts val="1500"/>
              </a:lnSpc>
              <a:buNone/>
            </a:pPr>
            <a:r>
              <a:rPr lang="en-US" sz="1400" b="1" spc="80" kern="0" dirty="0">
                <a:solidFill>
                  <a:srgbClr val="FFFFFF"/>
                </a:solidFill>
                <a:latin typeface="Arial" pitchFamily="34" charset="0"/>
                <a:ea typeface="Arial" pitchFamily="34" charset="-122"/>
                <a:cs typeface="Arial" pitchFamily="34" charset="-120"/>
              </a:rPr>
              <a:t>MOOV</a:t>
            </a:r>
            <a:endParaRPr lang="en-US" sz="1400" dirty="0"/>
          </a:p>
        </p:txBody>
      </p:sp>
      <p:sp>
        <p:nvSpPr>
          <p:cNvPr id="8" name="Shape 6"/>
          <p:cNvSpPr/>
          <p:nvPr/>
        </p:nvSpPr>
        <p:spPr>
          <a:xfrm>
            <a:off x="960120" y="3021330"/>
            <a:ext cx="91440" cy="91440"/>
          </a:xfrm>
          <a:prstGeom prst="roundRect">
            <a:avLst>
              <a:gd name="adj" fmla="val 30000"/>
            </a:avLst>
          </a:prstGeom>
          <a:solidFill>
            <a:srgbClr val="0B243E"/>
          </a:solidFill>
          <a:ln/>
        </p:spPr>
      </p:sp>
      <p:sp>
        <p:nvSpPr>
          <p:cNvPr id="9" name="Text 7"/>
          <p:cNvSpPr/>
          <p:nvPr/>
        </p:nvSpPr>
        <p:spPr>
          <a:xfrm>
            <a:off x="1161288" y="2971800"/>
            <a:ext cx="2704795" cy="245364"/>
          </a:xfrm>
          <a:prstGeom prst="rect">
            <a:avLst/>
          </a:prstGeom>
          <a:noFill/>
          <a:ln/>
        </p:spPr>
        <p:txBody>
          <a:bodyPr wrap="square" lIns="0" tIns="0" rIns="0" bIns="0" rtlCol="0" anchor="t"/>
          <a:lstStyle/>
          <a:p>
            <a:pPr indent="0" marL="0">
              <a:lnSpc>
                <a:spcPts val="1500"/>
              </a:lnSpc>
              <a:buNone/>
            </a:pPr>
            <a:r>
              <a:rPr lang="en-US" sz="1100" dirty="0">
                <a:solidFill>
                  <a:srgbClr val="0B243E"/>
                </a:solidFill>
                <a:latin typeface="Arial" pitchFamily="34" charset="0"/>
                <a:ea typeface="Arial" pitchFamily="34" charset="-122"/>
                <a:cs typeface="Arial" pitchFamily="34" charset="-120"/>
              </a:rPr>
              <a:t>Relation client</a:t>
            </a:r>
            <a:endParaRPr lang="en-US" sz="1100" dirty="0"/>
          </a:p>
        </p:txBody>
      </p:sp>
      <p:sp>
        <p:nvSpPr>
          <p:cNvPr id="10" name="Shape 8"/>
          <p:cNvSpPr/>
          <p:nvPr/>
        </p:nvSpPr>
        <p:spPr>
          <a:xfrm>
            <a:off x="960120" y="3412998"/>
            <a:ext cx="91440" cy="91440"/>
          </a:xfrm>
          <a:prstGeom prst="roundRect">
            <a:avLst>
              <a:gd name="adj" fmla="val 30000"/>
            </a:avLst>
          </a:prstGeom>
          <a:solidFill>
            <a:srgbClr val="0B243E"/>
          </a:solidFill>
          <a:ln/>
        </p:spPr>
      </p:sp>
      <p:sp>
        <p:nvSpPr>
          <p:cNvPr id="11" name="Text 9"/>
          <p:cNvSpPr/>
          <p:nvPr/>
        </p:nvSpPr>
        <p:spPr>
          <a:xfrm>
            <a:off x="1161288" y="3363468"/>
            <a:ext cx="2704795" cy="245364"/>
          </a:xfrm>
          <a:prstGeom prst="rect">
            <a:avLst/>
          </a:prstGeom>
          <a:noFill/>
          <a:ln/>
        </p:spPr>
        <p:txBody>
          <a:bodyPr wrap="square" lIns="0" tIns="0" rIns="0" bIns="0" rtlCol="0" anchor="t"/>
          <a:lstStyle/>
          <a:p>
            <a:pPr indent="0" marL="0">
              <a:lnSpc>
                <a:spcPts val="1500"/>
              </a:lnSpc>
              <a:buNone/>
            </a:pPr>
            <a:r>
              <a:rPr lang="en-US" sz="1100" dirty="0">
                <a:solidFill>
                  <a:srgbClr val="0B243E"/>
                </a:solidFill>
                <a:latin typeface="Arial" pitchFamily="34" charset="0"/>
                <a:ea typeface="Arial" pitchFamily="34" charset="-122"/>
                <a:cs typeface="Arial" pitchFamily="34" charset="-120"/>
              </a:rPr>
              <a:t>Environnement wallet</a:t>
            </a:r>
            <a:endParaRPr lang="en-US" sz="1100" dirty="0"/>
          </a:p>
        </p:txBody>
      </p:sp>
      <p:sp>
        <p:nvSpPr>
          <p:cNvPr id="12" name="Shape 10"/>
          <p:cNvSpPr/>
          <p:nvPr/>
        </p:nvSpPr>
        <p:spPr>
          <a:xfrm>
            <a:off x="960120" y="3804666"/>
            <a:ext cx="91440" cy="91440"/>
          </a:xfrm>
          <a:prstGeom prst="roundRect">
            <a:avLst>
              <a:gd name="adj" fmla="val 30000"/>
            </a:avLst>
          </a:prstGeom>
          <a:solidFill>
            <a:srgbClr val="0B243E"/>
          </a:solidFill>
          <a:ln/>
        </p:spPr>
      </p:sp>
      <p:sp>
        <p:nvSpPr>
          <p:cNvPr id="13" name="Text 11"/>
          <p:cNvSpPr/>
          <p:nvPr/>
        </p:nvSpPr>
        <p:spPr>
          <a:xfrm>
            <a:off x="1161288" y="3755136"/>
            <a:ext cx="2704795" cy="245364"/>
          </a:xfrm>
          <a:prstGeom prst="rect">
            <a:avLst/>
          </a:prstGeom>
          <a:noFill/>
          <a:ln/>
        </p:spPr>
        <p:txBody>
          <a:bodyPr wrap="square" lIns="0" tIns="0" rIns="0" bIns="0" rtlCol="0" anchor="t"/>
          <a:lstStyle/>
          <a:p>
            <a:pPr indent="0" marL="0">
              <a:lnSpc>
                <a:spcPts val="1500"/>
              </a:lnSpc>
              <a:buNone/>
            </a:pPr>
            <a:r>
              <a:rPr lang="en-US" sz="1100" dirty="0">
                <a:solidFill>
                  <a:srgbClr val="0B243E"/>
                </a:solidFill>
                <a:latin typeface="Arial" pitchFamily="34" charset="0"/>
                <a:ea typeface="Arial" pitchFamily="34" charset="-122"/>
                <a:cs typeface="Arial" pitchFamily="34" charset="-120"/>
              </a:rPr>
              <a:t>Vigilance clientèle applicable</a:t>
            </a:r>
            <a:endParaRPr lang="en-US" sz="1100" dirty="0"/>
          </a:p>
        </p:txBody>
      </p:sp>
      <p:sp>
        <p:nvSpPr>
          <p:cNvPr id="14" name="Shape 12"/>
          <p:cNvSpPr/>
          <p:nvPr/>
        </p:nvSpPr>
        <p:spPr>
          <a:xfrm>
            <a:off x="960120" y="4196334"/>
            <a:ext cx="91440" cy="91440"/>
          </a:xfrm>
          <a:prstGeom prst="roundRect">
            <a:avLst>
              <a:gd name="adj" fmla="val 30000"/>
            </a:avLst>
          </a:prstGeom>
          <a:solidFill>
            <a:srgbClr val="0B243E"/>
          </a:solidFill>
          <a:ln/>
        </p:spPr>
      </p:sp>
      <p:sp>
        <p:nvSpPr>
          <p:cNvPr id="15" name="Text 13"/>
          <p:cNvSpPr/>
          <p:nvPr/>
        </p:nvSpPr>
        <p:spPr>
          <a:xfrm>
            <a:off x="1161288" y="4146804"/>
            <a:ext cx="2704795" cy="245364"/>
          </a:xfrm>
          <a:prstGeom prst="rect">
            <a:avLst/>
          </a:prstGeom>
          <a:noFill/>
          <a:ln/>
        </p:spPr>
        <p:txBody>
          <a:bodyPr wrap="square" lIns="0" tIns="0" rIns="0" bIns="0" rtlCol="0" anchor="t"/>
          <a:lstStyle/>
          <a:p>
            <a:pPr indent="0" marL="0">
              <a:lnSpc>
                <a:spcPts val="1500"/>
              </a:lnSpc>
              <a:buNone/>
            </a:pPr>
            <a:r>
              <a:rPr lang="en-US" sz="1100" dirty="0">
                <a:solidFill>
                  <a:srgbClr val="0B243E"/>
                </a:solidFill>
                <a:latin typeface="Arial" pitchFamily="34" charset="0"/>
                <a:ea typeface="Arial" pitchFamily="34" charset="-122"/>
                <a:cs typeface="Arial" pitchFamily="34" charset="-120"/>
              </a:rPr>
              <a:t>Validation interne conformité</a:t>
            </a:r>
            <a:endParaRPr lang="en-US" sz="1100" dirty="0"/>
          </a:p>
        </p:txBody>
      </p:sp>
      <p:sp>
        <p:nvSpPr>
          <p:cNvPr id="16" name="Shape 14"/>
          <p:cNvSpPr/>
          <p:nvPr/>
        </p:nvSpPr>
        <p:spPr>
          <a:xfrm>
            <a:off x="960120" y="4588002"/>
            <a:ext cx="91440" cy="91440"/>
          </a:xfrm>
          <a:prstGeom prst="roundRect">
            <a:avLst>
              <a:gd name="adj" fmla="val 30000"/>
            </a:avLst>
          </a:prstGeom>
          <a:solidFill>
            <a:srgbClr val="0B243E"/>
          </a:solidFill>
          <a:ln/>
        </p:spPr>
      </p:sp>
      <p:sp>
        <p:nvSpPr>
          <p:cNvPr id="17" name="Text 15"/>
          <p:cNvSpPr/>
          <p:nvPr/>
        </p:nvSpPr>
        <p:spPr>
          <a:xfrm>
            <a:off x="1161288" y="4538472"/>
            <a:ext cx="2704795" cy="435864"/>
          </a:xfrm>
          <a:prstGeom prst="rect">
            <a:avLst/>
          </a:prstGeom>
          <a:noFill/>
          <a:ln/>
        </p:spPr>
        <p:txBody>
          <a:bodyPr wrap="square" lIns="0" tIns="0" rIns="0" bIns="0" rtlCol="0" anchor="t"/>
          <a:lstStyle/>
          <a:p>
            <a:pPr indent="0" marL="0">
              <a:lnSpc>
                <a:spcPts val="1500"/>
              </a:lnSpc>
              <a:buNone/>
            </a:pPr>
            <a:r>
              <a:rPr lang="en-US" sz="1100" dirty="0">
                <a:solidFill>
                  <a:srgbClr val="0B243E"/>
                </a:solidFill>
                <a:latin typeface="Arial" pitchFamily="34" charset="0"/>
                <a:ea typeface="Arial" pitchFamily="34" charset="-122"/>
                <a:cs typeface="Arial" pitchFamily="34" charset="-120"/>
              </a:rPr>
              <a:t>Autorisation transactionnelle selon le modèle retenu</a:t>
            </a:r>
            <a:endParaRPr lang="en-US" sz="1100" dirty="0"/>
          </a:p>
        </p:txBody>
      </p:sp>
      <p:sp>
        <p:nvSpPr>
          <p:cNvPr id="18" name="Shape 16"/>
          <p:cNvSpPr/>
          <p:nvPr/>
        </p:nvSpPr>
        <p:spPr>
          <a:xfrm>
            <a:off x="4369003" y="1874520"/>
            <a:ext cx="3454603" cy="3566160"/>
          </a:xfrm>
          <a:prstGeom prst="roundRect">
            <a:avLst>
              <a:gd name="adj" fmla="val 4235"/>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19" name="Shape 17"/>
          <p:cNvSpPr/>
          <p:nvPr/>
        </p:nvSpPr>
        <p:spPr>
          <a:xfrm>
            <a:off x="4369003" y="1874520"/>
            <a:ext cx="3454603" cy="786384"/>
          </a:xfrm>
          <a:prstGeom prst="roundRect">
            <a:avLst>
              <a:gd name="adj" fmla="val 18605"/>
            </a:avLst>
          </a:prstGeom>
          <a:solidFill>
            <a:srgbClr val="0BB165"/>
          </a:solidFill>
          <a:ln/>
        </p:spPr>
      </p:sp>
      <p:sp>
        <p:nvSpPr>
          <p:cNvPr id="20" name="Shape 18"/>
          <p:cNvSpPr/>
          <p:nvPr/>
        </p:nvSpPr>
        <p:spPr>
          <a:xfrm>
            <a:off x="4369003" y="2441448"/>
            <a:ext cx="3454603" cy="219456"/>
          </a:xfrm>
          <a:prstGeom prst="rect">
            <a:avLst/>
          </a:prstGeom>
          <a:solidFill>
            <a:srgbClr val="0BB165"/>
          </a:solidFill>
          <a:ln/>
        </p:spPr>
      </p:sp>
      <p:sp>
        <p:nvSpPr>
          <p:cNvPr id="21" name="Text 19"/>
          <p:cNvSpPr/>
          <p:nvPr/>
        </p:nvSpPr>
        <p:spPr>
          <a:xfrm>
            <a:off x="4643323" y="1874520"/>
            <a:ext cx="2905963" cy="786384"/>
          </a:xfrm>
          <a:prstGeom prst="rect">
            <a:avLst/>
          </a:prstGeom>
          <a:noFill/>
          <a:ln/>
        </p:spPr>
        <p:txBody>
          <a:bodyPr wrap="square" lIns="0" tIns="0" rIns="0" bIns="0" rtlCol="0" anchor="ctr"/>
          <a:lstStyle/>
          <a:p>
            <a:pPr indent="0" marL="0">
              <a:lnSpc>
                <a:spcPts val="1500"/>
              </a:lnSpc>
              <a:buNone/>
            </a:pPr>
            <a:r>
              <a:rPr lang="en-US" sz="1400" b="1" spc="80" kern="0" dirty="0">
                <a:solidFill>
                  <a:srgbClr val="FFFFFF"/>
                </a:solidFill>
                <a:latin typeface="Arial" pitchFamily="34" charset="0"/>
                <a:ea typeface="Arial" pitchFamily="34" charset="-122"/>
                <a:cs typeface="Arial" pitchFamily="34" charset="-120"/>
              </a:rPr>
              <a:t>CAMBISTE</a:t>
            </a:r>
            <a:endParaRPr lang="en-US" sz="1400" dirty="0"/>
          </a:p>
        </p:txBody>
      </p:sp>
      <p:sp>
        <p:nvSpPr>
          <p:cNvPr id="22" name="Shape 20"/>
          <p:cNvSpPr/>
          <p:nvPr/>
        </p:nvSpPr>
        <p:spPr>
          <a:xfrm>
            <a:off x="4643323" y="3021330"/>
            <a:ext cx="91440" cy="91440"/>
          </a:xfrm>
          <a:prstGeom prst="roundRect">
            <a:avLst>
              <a:gd name="adj" fmla="val 30000"/>
            </a:avLst>
          </a:prstGeom>
          <a:solidFill>
            <a:srgbClr val="0BB165"/>
          </a:solidFill>
          <a:ln/>
        </p:spPr>
      </p:sp>
      <p:sp>
        <p:nvSpPr>
          <p:cNvPr id="23" name="Text 21"/>
          <p:cNvSpPr/>
          <p:nvPr/>
        </p:nvSpPr>
        <p:spPr>
          <a:xfrm>
            <a:off x="4844491" y="2971800"/>
            <a:ext cx="2704795" cy="245364"/>
          </a:xfrm>
          <a:prstGeom prst="rect">
            <a:avLst/>
          </a:prstGeom>
          <a:noFill/>
          <a:ln/>
        </p:spPr>
        <p:txBody>
          <a:bodyPr wrap="square" lIns="0" tIns="0" rIns="0" bIns="0" rtlCol="0" anchor="t"/>
          <a:lstStyle/>
          <a:p>
            <a:pPr indent="0" marL="0">
              <a:lnSpc>
                <a:spcPts val="1500"/>
              </a:lnSpc>
              <a:buNone/>
            </a:pPr>
            <a:r>
              <a:rPr lang="en-US" sz="1100" dirty="0">
                <a:solidFill>
                  <a:srgbClr val="0B243E"/>
                </a:solidFill>
                <a:latin typeface="Arial" pitchFamily="34" charset="0"/>
                <a:ea typeface="Arial" pitchFamily="34" charset="-122"/>
                <a:cs typeface="Arial" pitchFamily="34" charset="-120"/>
              </a:rPr>
              <a:t>Orchestration technologique</a:t>
            </a:r>
            <a:endParaRPr lang="en-US" sz="1100" dirty="0"/>
          </a:p>
        </p:txBody>
      </p:sp>
      <p:sp>
        <p:nvSpPr>
          <p:cNvPr id="24" name="Shape 22"/>
          <p:cNvSpPr/>
          <p:nvPr/>
        </p:nvSpPr>
        <p:spPr>
          <a:xfrm>
            <a:off x="4643323" y="3412998"/>
            <a:ext cx="91440" cy="91440"/>
          </a:xfrm>
          <a:prstGeom prst="roundRect">
            <a:avLst>
              <a:gd name="adj" fmla="val 30000"/>
            </a:avLst>
          </a:prstGeom>
          <a:solidFill>
            <a:srgbClr val="0BB165"/>
          </a:solidFill>
          <a:ln/>
        </p:spPr>
      </p:sp>
      <p:sp>
        <p:nvSpPr>
          <p:cNvPr id="25" name="Text 23"/>
          <p:cNvSpPr/>
          <p:nvPr/>
        </p:nvSpPr>
        <p:spPr>
          <a:xfrm>
            <a:off x="4844491" y="3363468"/>
            <a:ext cx="2704795" cy="245364"/>
          </a:xfrm>
          <a:prstGeom prst="rect">
            <a:avLst/>
          </a:prstGeom>
          <a:noFill/>
          <a:ln/>
        </p:spPr>
        <p:txBody>
          <a:bodyPr wrap="square" lIns="0" tIns="0" rIns="0" bIns="0" rtlCol="0" anchor="t"/>
          <a:lstStyle/>
          <a:p>
            <a:pPr indent="0" marL="0">
              <a:lnSpc>
                <a:spcPts val="1500"/>
              </a:lnSpc>
              <a:buNone/>
            </a:pPr>
            <a:r>
              <a:rPr lang="en-US" sz="1100" dirty="0">
                <a:solidFill>
                  <a:srgbClr val="0B243E"/>
                </a:solidFill>
                <a:latin typeface="Arial" pitchFamily="34" charset="0"/>
                <a:ea typeface="Arial" pitchFamily="34" charset="-122"/>
                <a:cs typeface="Arial" pitchFamily="34" charset="-120"/>
              </a:rPr>
              <a:t>Workflows API</a:t>
            </a:r>
            <a:endParaRPr lang="en-US" sz="1100" dirty="0"/>
          </a:p>
        </p:txBody>
      </p:sp>
      <p:sp>
        <p:nvSpPr>
          <p:cNvPr id="26" name="Shape 24"/>
          <p:cNvSpPr/>
          <p:nvPr/>
        </p:nvSpPr>
        <p:spPr>
          <a:xfrm>
            <a:off x="4643323" y="3804666"/>
            <a:ext cx="91440" cy="91440"/>
          </a:xfrm>
          <a:prstGeom prst="roundRect">
            <a:avLst>
              <a:gd name="adj" fmla="val 30000"/>
            </a:avLst>
          </a:prstGeom>
          <a:solidFill>
            <a:srgbClr val="0BB165"/>
          </a:solidFill>
          <a:ln/>
        </p:spPr>
      </p:sp>
      <p:sp>
        <p:nvSpPr>
          <p:cNvPr id="27" name="Text 25"/>
          <p:cNvSpPr/>
          <p:nvPr/>
        </p:nvSpPr>
        <p:spPr>
          <a:xfrm>
            <a:off x="4844491" y="3755136"/>
            <a:ext cx="2704795" cy="245364"/>
          </a:xfrm>
          <a:prstGeom prst="rect">
            <a:avLst/>
          </a:prstGeom>
          <a:noFill/>
          <a:ln/>
        </p:spPr>
        <p:txBody>
          <a:bodyPr wrap="square" lIns="0" tIns="0" rIns="0" bIns="0" rtlCol="0" anchor="t"/>
          <a:lstStyle/>
          <a:p>
            <a:pPr indent="0" marL="0">
              <a:lnSpc>
                <a:spcPts val="1500"/>
              </a:lnSpc>
              <a:buNone/>
            </a:pPr>
            <a:r>
              <a:rPr lang="en-US" sz="1100" dirty="0">
                <a:solidFill>
                  <a:srgbClr val="0B243E"/>
                </a:solidFill>
                <a:latin typeface="Arial" pitchFamily="34" charset="0"/>
                <a:ea typeface="Arial" pitchFamily="34" charset="-122"/>
                <a:cs typeface="Arial" pitchFamily="34" charset="-120"/>
              </a:rPr>
              <a:t>Logique de routage</a:t>
            </a:r>
            <a:endParaRPr lang="en-US" sz="1100" dirty="0"/>
          </a:p>
        </p:txBody>
      </p:sp>
      <p:sp>
        <p:nvSpPr>
          <p:cNvPr id="28" name="Shape 26"/>
          <p:cNvSpPr/>
          <p:nvPr/>
        </p:nvSpPr>
        <p:spPr>
          <a:xfrm>
            <a:off x="4643323" y="4196334"/>
            <a:ext cx="91440" cy="91440"/>
          </a:xfrm>
          <a:prstGeom prst="roundRect">
            <a:avLst>
              <a:gd name="adj" fmla="val 30000"/>
            </a:avLst>
          </a:prstGeom>
          <a:solidFill>
            <a:srgbClr val="0BB165"/>
          </a:solidFill>
          <a:ln/>
        </p:spPr>
      </p:sp>
      <p:sp>
        <p:nvSpPr>
          <p:cNvPr id="29" name="Text 27"/>
          <p:cNvSpPr/>
          <p:nvPr/>
        </p:nvSpPr>
        <p:spPr>
          <a:xfrm>
            <a:off x="4844491" y="4146804"/>
            <a:ext cx="2704795" cy="245364"/>
          </a:xfrm>
          <a:prstGeom prst="rect">
            <a:avLst/>
          </a:prstGeom>
          <a:noFill/>
          <a:ln/>
        </p:spPr>
        <p:txBody>
          <a:bodyPr wrap="square" lIns="0" tIns="0" rIns="0" bIns="0" rtlCol="0" anchor="t"/>
          <a:lstStyle/>
          <a:p>
            <a:pPr indent="0" marL="0">
              <a:lnSpc>
                <a:spcPts val="1500"/>
              </a:lnSpc>
              <a:buNone/>
            </a:pPr>
            <a:r>
              <a:rPr lang="en-US" sz="1100" dirty="0">
                <a:solidFill>
                  <a:srgbClr val="0B243E"/>
                </a:solidFill>
                <a:latin typeface="Arial" pitchFamily="34" charset="0"/>
                <a:ea typeface="Arial" pitchFamily="34" charset="-122"/>
                <a:cs typeface="Arial" pitchFamily="34" charset="-120"/>
              </a:rPr>
              <a:t>Capacités de surveillance</a:t>
            </a:r>
            <a:endParaRPr lang="en-US" sz="1100" dirty="0"/>
          </a:p>
        </p:txBody>
      </p:sp>
      <p:sp>
        <p:nvSpPr>
          <p:cNvPr id="30" name="Shape 28"/>
          <p:cNvSpPr/>
          <p:nvPr/>
        </p:nvSpPr>
        <p:spPr>
          <a:xfrm>
            <a:off x="4643323" y="4588002"/>
            <a:ext cx="91440" cy="91440"/>
          </a:xfrm>
          <a:prstGeom prst="roundRect">
            <a:avLst>
              <a:gd name="adj" fmla="val 30000"/>
            </a:avLst>
          </a:prstGeom>
          <a:solidFill>
            <a:srgbClr val="0BB165"/>
          </a:solidFill>
          <a:ln/>
        </p:spPr>
      </p:sp>
      <p:sp>
        <p:nvSpPr>
          <p:cNvPr id="31" name="Text 29"/>
          <p:cNvSpPr/>
          <p:nvPr/>
        </p:nvSpPr>
        <p:spPr>
          <a:xfrm>
            <a:off x="4844491" y="4538472"/>
            <a:ext cx="2704795" cy="245364"/>
          </a:xfrm>
          <a:prstGeom prst="rect">
            <a:avLst/>
          </a:prstGeom>
          <a:noFill/>
          <a:ln/>
        </p:spPr>
        <p:txBody>
          <a:bodyPr wrap="square" lIns="0" tIns="0" rIns="0" bIns="0" rtlCol="0" anchor="t"/>
          <a:lstStyle/>
          <a:p>
            <a:pPr indent="0" marL="0">
              <a:lnSpc>
                <a:spcPts val="1500"/>
              </a:lnSpc>
              <a:buNone/>
            </a:pPr>
            <a:r>
              <a:rPr lang="en-US" sz="1100" dirty="0">
                <a:solidFill>
                  <a:srgbClr val="0B243E"/>
                </a:solidFill>
                <a:latin typeface="Arial" pitchFamily="34" charset="0"/>
                <a:ea typeface="Arial" pitchFamily="34" charset="-122"/>
                <a:cs typeface="Arial" pitchFamily="34" charset="-120"/>
              </a:rPr>
              <a:t>Suivi transactionnel</a:t>
            </a:r>
            <a:endParaRPr lang="en-US" sz="1100" dirty="0"/>
          </a:p>
        </p:txBody>
      </p:sp>
      <p:sp>
        <p:nvSpPr>
          <p:cNvPr id="32" name="Shape 30"/>
          <p:cNvSpPr/>
          <p:nvPr/>
        </p:nvSpPr>
        <p:spPr>
          <a:xfrm>
            <a:off x="4643323" y="4979670"/>
            <a:ext cx="91440" cy="91440"/>
          </a:xfrm>
          <a:prstGeom prst="roundRect">
            <a:avLst>
              <a:gd name="adj" fmla="val 30000"/>
            </a:avLst>
          </a:prstGeom>
          <a:solidFill>
            <a:srgbClr val="0BB165"/>
          </a:solidFill>
          <a:ln/>
        </p:spPr>
      </p:sp>
      <p:sp>
        <p:nvSpPr>
          <p:cNvPr id="33" name="Text 31"/>
          <p:cNvSpPr/>
          <p:nvPr/>
        </p:nvSpPr>
        <p:spPr>
          <a:xfrm>
            <a:off x="4844491" y="4930140"/>
            <a:ext cx="2704795" cy="245364"/>
          </a:xfrm>
          <a:prstGeom prst="rect">
            <a:avLst/>
          </a:prstGeom>
          <a:noFill/>
          <a:ln/>
        </p:spPr>
        <p:txBody>
          <a:bodyPr wrap="square" lIns="0" tIns="0" rIns="0" bIns="0" rtlCol="0" anchor="t"/>
          <a:lstStyle/>
          <a:p>
            <a:pPr indent="0" marL="0">
              <a:lnSpc>
                <a:spcPts val="1500"/>
              </a:lnSpc>
              <a:buNone/>
            </a:pPr>
            <a:r>
              <a:rPr lang="en-US" sz="1100" dirty="0">
                <a:solidFill>
                  <a:srgbClr val="0B243E"/>
                </a:solidFill>
                <a:latin typeface="Arial" pitchFamily="34" charset="0"/>
                <a:ea typeface="Arial" pitchFamily="34" charset="-122"/>
                <a:cs typeface="Arial" pitchFamily="34" charset="-120"/>
              </a:rPr>
              <a:t>Rapprochement et reporting</a:t>
            </a:r>
            <a:endParaRPr lang="en-US" sz="1100" dirty="0"/>
          </a:p>
        </p:txBody>
      </p:sp>
      <p:sp>
        <p:nvSpPr>
          <p:cNvPr id="34" name="Shape 32"/>
          <p:cNvSpPr/>
          <p:nvPr/>
        </p:nvSpPr>
        <p:spPr>
          <a:xfrm>
            <a:off x="8052206" y="1874520"/>
            <a:ext cx="3454603" cy="3566160"/>
          </a:xfrm>
          <a:prstGeom prst="roundRect">
            <a:avLst>
              <a:gd name="adj" fmla="val 4235"/>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35" name="Shape 33"/>
          <p:cNvSpPr/>
          <p:nvPr/>
        </p:nvSpPr>
        <p:spPr>
          <a:xfrm>
            <a:off x="8052206" y="1874520"/>
            <a:ext cx="3454603" cy="786384"/>
          </a:xfrm>
          <a:prstGeom prst="roundRect">
            <a:avLst>
              <a:gd name="adj" fmla="val 18605"/>
            </a:avLst>
          </a:prstGeom>
          <a:solidFill>
            <a:srgbClr val="44637F"/>
          </a:solidFill>
          <a:ln/>
        </p:spPr>
      </p:sp>
      <p:sp>
        <p:nvSpPr>
          <p:cNvPr id="36" name="Shape 34"/>
          <p:cNvSpPr/>
          <p:nvPr/>
        </p:nvSpPr>
        <p:spPr>
          <a:xfrm>
            <a:off x="8052206" y="2441448"/>
            <a:ext cx="3454603" cy="219456"/>
          </a:xfrm>
          <a:prstGeom prst="rect">
            <a:avLst/>
          </a:prstGeom>
          <a:solidFill>
            <a:srgbClr val="44637F"/>
          </a:solidFill>
          <a:ln/>
        </p:spPr>
      </p:sp>
      <p:sp>
        <p:nvSpPr>
          <p:cNvPr id="37" name="Text 35"/>
          <p:cNvSpPr/>
          <p:nvPr/>
        </p:nvSpPr>
        <p:spPr>
          <a:xfrm>
            <a:off x="8326526" y="1874520"/>
            <a:ext cx="2905963" cy="786384"/>
          </a:xfrm>
          <a:prstGeom prst="rect">
            <a:avLst/>
          </a:prstGeom>
          <a:noFill/>
          <a:ln/>
        </p:spPr>
        <p:txBody>
          <a:bodyPr wrap="square" lIns="0" tIns="0" rIns="0" bIns="0" rtlCol="0" anchor="ctr"/>
          <a:lstStyle/>
          <a:p>
            <a:pPr indent="0" marL="0">
              <a:lnSpc>
                <a:spcPts val="1500"/>
              </a:lnSpc>
              <a:buNone/>
            </a:pPr>
            <a:r>
              <a:rPr lang="en-US" sz="1100" b="1" spc="80" kern="0" dirty="0">
                <a:solidFill>
                  <a:srgbClr val="FFFFFF"/>
                </a:solidFill>
                <a:latin typeface="Arial" pitchFamily="34" charset="0"/>
                <a:ea typeface="Arial" pitchFamily="34" charset="-122"/>
                <a:cs typeface="Arial" pitchFamily="34" charset="-120"/>
              </a:rPr>
              <a:t>INFRASTRUCTURE FINANCIÈRE RÉGLEMENTÉE</a:t>
            </a:r>
            <a:endParaRPr lang="en-US" sz="1100" dirty="0"/>
          </a:p>
        </p:txBody>
      </p:sp>
      <p:sp>
        <p:nvSpPr>
          <p:cNvPr id="38" name="Shape 36"/>
          <p:cNvSpPr/>
          <p:nvPr/>
        </p:nvSpPr>
        <p:spPr>
          <a:xfrm>
            <a:off x="8326526" y="3021330"/>
            <a:ext cx="91440" cy="91440"/>
          </a:xfrm>
          <a:prstGeom prst="roundRect">
            <a:avLst>
              <a:gd name="adj" fmla="val 30000"/>
            </a:avLst>
          </a:prstGeom>
          <a:solidFill>
            <a:srgbClr val="8FA6BC"/>
          </a:solidFill>
          <a:ln/>
        </p:spPr>
      </p:sp>
      <p:sp>
        <p:nvSpPr>
          <p:cNvPr id="39" name="Text 37"/>
          <p:cNvSpPr/>
          <p:nvPr/>
        </p:nvSpPr>
        <p:spPr>
          <a:xfrm>
            <a:off x="8527694" y="2971800"/>
            <a:ext cx="2704795" cy="245364"/>
          </a:xfrm>
          <a:prstGeom prst="rect">
            <a:avLst/>
          </a:prstGeom>
          <a:noFill/>
          <a:ln/>
        </p:spPr>
        <p:txBody>
          <a:bodyPr wrap="square" lIns="0" tIns="0" rIns="0" bIns="0" rtlCol="0" anchor="t"/>
          <a:lstStyle/>
          <a:p>
            <a:pPr indent="0" marL="0">
              <a:lnSpc>
                <a:spcPts val="1500"/>
              </a:lnSpc>
              <a:buNone/>
            </a:pPr>
            <a:r>
              <a:rPr lang="en-US" sz="1100" dirty="0">
                <a:solidFill>
                  <a:srgbClr val="0B243E"/>
                </a:solidFill>
                <a:latin typeface="Arial" pitchFamily="34" charset="0"/>
                <a:ea typeface="Arial" pitchFamily="34" charset="-122"/>
                <a:cs typeface="Arial" pitchFamily="34" charset="-120"/>
              </a:rPr>
              <a:t>Services financiers réglementés</a:t>
            </a:r>
            <a:endParaRPr lang="en-US" sz="1100" dirty="0"/>
          </a:p>
        </p:txBody>
      </p:sp>
      <p:sp>
        <p:nvSpPr>
          <p:cNvPr id="40" name="Shape 38"/>
          <p:cNvSpPr/>
          <p:nvPr/>
        </p:nvSpPr>
        <p:spPr>
          <a:xfrm>
            <a:off x="8326526" y="3412998"/>
            <a:ext cx="91440" cy="91440"/>
          </a:xfrm>
          <a:prstGeom prst="roundRect">
            <a:avLst>
              <a:gd name="adj" fmla="val 30000"/>
            </a:avLst>
          </a:prstGeom>
          <a:solidFill>
            <a:srgbClr val="8FA6BC"/>
          </a:solidFill>
          <a:ln/>
        </p:spPr>
      </p:sp>
      <p:sp>
        <p:nvSpPr>
          <p:cNvPr id="41" name="Text 39"/>
          <p:cNvSpPr/>
          <p:nvPr/>
        </p:nvSpPr>
        <p:spPr>
          <a:xfrm>
            <a:off x="8527694" y="3363468"/>
            <a:ext cx="2704795" cy="435864"/>
          </a:xfrm>
          <a:prstGeom prst="rect">
            <a:avLst/>
          </a:prstGeom>
          <a:noFill/>
          <a:ln/>
        </p:spPr>
        <p:txBody>
          <a:bodyPr wrap="square" lIns="0" tIns="0" rIns="0" bIns="0" rtlCol="0" anchor="t"/>
          <a:lstStyle/>
          <a:p>
            <a:pPr indent="0" marL="0">
              <a:lnSpc>
                <a:spcPts val="1500"/>
              </a:lnSpc>
              <a:buNone/>
            </a:pPr>
            <a:r>
              <a:rPr lang="en-US" sz="1100" dirty="0">
                <a:solidFill>
                  <a:srgbClr val="0B243E"/>
                </a:solidFill>
                <a:latin typeface="Arial" pitchFamily="34" charset="0"/>
                <a:ea typeface="Arial" pitchFamily="34" charset="-122"/>
                <a:cs typeface="Arial" pitchFamily="34" charset="-120"/>
              </a:rPr>
              <a:t>Exécution et règlement selon le modèle retenu</a:t>
            </a:r>
            <a:endParaRPr lang="en-US" sz="1100" dirty="0"/>
          </a:p>
        </p:txBody>
      </p:sp>
      <p:sp>
        <p:nvSpPr>
          <p:cNvPr id="42" name="Shape 40"/>
          <p:cNvSpPr/>
          <p:nvPr/>
        </p:nvSpPr>
        <p:spPr>
          <a:xfrm>
            <a:off x="8326526" y="3995166"/>
            <a:ext cx="91440" cy="91440"/>
          </a:xfrm>
          <a:prstGeom prst="roundRect">
            <a:avLst>
              <a:gd name="adj" fmla="val 30000"/>
            </a:avLst>
          </a:prstGeom>
          <a:solidFill>
            <a:srgbClr val="8FA6BC"/>
          </a:solidFill>
          <a:ln/>
        </p:spPr>
      </p:sp>
      <p:sp>
        <p:nvSpPr>
          <p:cNvPr id="43" name="Text 41"/>
          <p:cNvSpPr/>
          <p:nvPr/>
        </p:nvSpPr>
        <p:spPr>
          <a:xfrm>
            <a:off x="8527694" y="3945636"/>
            <a:ext cx="2704795" cy="435864"/>
          </a:xfrm>
          <a:prstGeom prst="rect">
            <a:avLst/>
          </a:prstGeom>
          <a:noFill/>
          <a:ln/>
        </p:spPr>
        <p:txBody>
          <a:bodyPr wrap="square" lIns="0" tIns="0" rIns="0" bIns="0" rtlCol="0" anchor="t"/>
          <a:lstStyle/>
          <a:p>
            <a:pPr indent="0" marL="0">
              <a:lnSpc>
                <a:spcPts val="1500"/>
              </a:lnSpc>
              <a:buNone/>
            </a:pPr>
            <a:r>
              <a:rPr lang="en-US" sz="1100" dirty="0">
                <a:solidFill>
                  <a:srgbClr val="0B243E"/>
                </a:solidFill>
                <a:latin typeface="Arial" pitchFamily="34" charset="0"/>
                <a:ea typeface="Arial" pitchFamily="34" charset="-122"/>
                <a:cs typeface="Arial" pitchFamily="34" charset="-120"/>
              </a:rPr>
              <a:t>Contrôles financiers réglementaires applicables</a:t>
            </a:r>
            <a:endParaRPr lang="en-US" sz="1100" dirty="0"/>
          </a:p>
        </p:txBody>
      </p:sp>
      <p:sp>
        <p:nvSpPr>
          <p:cNvPr id="44" name="Shape 42"/>
          <p:cNvSpPr/>
          <p:nvPr/>
        </p:nvSpPr>
        <p:spPr>
          <a:xfrm>
            <a:off x="685800" y="5614416"/>
            <a:ext cx="10820095" cy="548640"/>
          </a:xfrm>
          <a:prstGeom prst="roundRect">
            <a:avLst>
              <a:gd name="adj" fmla="val 20000"/>
            </a:avLst>
          </a:prstGeom>
          <a:solidFill>
            <a:srgbClr val="F5F8FA"/>
          </a:solidFill>
          <a:ln w="12700">
            <a:solidFill>
              <a:srgbClr val="E1E9F0"/>
            </a:solidFill>
            <a:prstDash val="solid"/>
          </a:ln>
        </p:spPr>
      </p:sp>
      <p:sp>
        <p:nvSpPr>
          <p:cNvPr id="45" name="Text 43"/>
          <p:cNvSpPr/>
          <p:nvPr/>
        </p:nvSpPr>
        <p:spPr>
          <a:xfrm>
            <a:off x="960120" y="5614416"/>
            <a:ext cx="10271455" cy="548640"/>
          </a:xfrm>
          <a:prstGeom prst="rect">
            <a:avLst/>
          </a:prstGeom>
          <a:noFill/>
          <a:ln/>
        </p:spPr>
        <p:txBody>
          <a:bodyPr wrap="square" lIns="0" tIns="0" rIns="0" bIns="0" rtlCol="0" anchor="ctr"/>
          <a:lstStyle/>
          <a:p>
            <a:pPr indent="0" marL="0">
              <a:buNone/>
            </a:pPr>
            <a:r>
              <a:rPr lang="en-US" sz="1050" dirty="0">
                <a:solidFill>
                  <a:srgbClr val="0B243E"/>
                </a:solidFill>
                <a:latin typeface="Arial" pitchFamily="34" charset="0"/>
                <a:ea typeface="Arial" pitchFamily="34" charset="-122"/>
                <a:cs typeface="Arial" pitchFamily="34" charset="-120"/>
              </a:rPr>
              <a:t>La répartition définitive des responsabilités et contrôles sera formalisée lors du cadrage juridique, conformité et opérationnel précédant le pilote.</a:t>
            </a:r>
            <a:endParaRPr lang="en-US" sz="1050" dirty="0"/>
          </a:p>
        </p:txBody>
      </p:sp>
      <p:sp>
        <p:nvSpPr>
          <p:cNvPr id="46" name="Text 44"/>
          <p:cNvSpPr/>
          <p:nvPr/>
        </p:nvSpPr>
        <p:spPr>
          <a:xfrm>
            <a:off x="685800" y="6327648"/>
            <a:ext cx="7772400" cy="256032"/>
          </a:xfrm>
          <a:prstGeom prst="rect">
            <a:avLst/>
          </a:prstGeom>
          <a:noFill/>
          <a:ln/>
        </p:spPr>
        <p:txBody>
          <a:bodyPr wrap="square" lIns="0" tIns="0" rIns="0" bIns="0" rtlCol="0" anchor="ctr"/>
          <a:lstStyle/>
          <a:p>
            <a:pPr indent="0" marL="0">
              <a:buNone/>
            </a:pPr>
            <a:r>
              <a:rPr lang="en-US" sz="850" dirty="0">
                <a:solidFill>
                  <a:srgbClr val="9AAABA"/>
                </a:solidFill>
                <a:latin typeface="Arial" pitchFamily="34" charset="0"/>
                <a:ea typeface="Arial" pitchFamily="34" charset="-122"/>
                <a:cs typeface="Arial" pitchFamily="34" charset="-120"/>
              </a:rPr>
              <a:t>Cambiste × Moov Côte d'Ivoire  —  Proposition de pilote  —  Document confidentiel</a:t>
            </a:r>
            <a:endParaRPr lang="en-US" sz="850" dirty="0"/>
          </a:p>
        </p:txBody>
      </p:sp>
      <p:sp>
        <p:nvSpPr>
          <p:cNvPr id="47" name="Text 45"/>
          <p:cNvSpPr/>
          <p:nvPr/>
        </p:nvSpPr>
        <p:spPr>
          <a:xfrm>
            <a:off x="10591495" y="6327648"/>
            <a:ext cx="914400" cy="256032"/>
          </a:xfrm>
          <a:prstGeom prst="rect">
            <a:avLst/>
          </a:prstGeom>
          <a:noFill/>
          <a:ln/>
        </p:spPr>
        <p:txBody>
          <a:bodyPr wrap="square" lIns="0" tIns="0" rIns="0" bIns="0" rtlCol="0" anchor="ctr"/>
          <a:lstStyle/>
          <a:p>
            <a:pPr algn="r" indent="0" marL="0">
              <a:buNone/>
            </a:pPr>
            <a:r>
              <a:rPr lang="en-US" sz="850" b="1" dirty="0">
                <a:solidFill>
                  <a:srgbClr val="9AAABA"/>
                </a:solidFill>
                <a:latin typeface="Arial" pitchFamily="34" charset="0"/>
                <a:ea typeface="Arial" pitchFamily="34" charset="-122"/>
                <a:cs typeface="Arial" pitchFamily="34" charset="-120"/>
              </a:rPr>
              <a:t>06</a:t>
            </a:r>
            <a:endParaRPr lang="en-US" sz="850" dirty="0"/>
          </a:p>
        </p:txBody>
      </p:sp>
      <p:pic>
        <p:nvPicPr>
          <p:cNvPr id="48" name="Image 0" descr="/home/user/print-function-file-argument/deck/assets/mark.png">    </p:cNvPr>
          <p:cNvPicPr>
            <a:picLocks noChangeAspect="1"/>
          </p:cNvPicPr>
          <p:nvPr/>
        </p:nvPicPr>
        <p:blipFill>
          <a:blip r:embed="rId1"/>
          <a:stretch>
            <a:fillRect/>
          </a:stretch>
        </p:blipFill>
        <p:spPr>
          <a:xfrm>
            <a:off x="11213287" y="457200"/>
            <a:ext cx="292608" cy="228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CFD"/>
        </a:solidFill>
      </p:bgPr>
    </p:bg>
    <p:spTree>
      <p:nvGrpSpPr>
        <p:cNvPr id="1" name=""/>
        <p:cNvGrpSpPr/>
        <p:nvPr/>
      </p:nvGrpSpPr>
      <p:grpSpPr>
        <a:xfrm>
          <a:off x="0" y="0"/>
          <a:ext cx="0" cy="0"/>
          <a:chOff x="0" y="0"/>
          <a:chExt cx="0" cy="0"/>
        </a:xfrm>
      </p:grpSpPr>
      <p:sp>
        <p:nvSpPr>
          <p:cNvPr id="2" name="Text 0"/>
          <p:cNvSpPr/>
          <p:nvPr/>
        </p:nvSpPr>
        <p:spPr>
          <a:xfrm>
            <a:off x="685800" y="566928"/>
            <a:ext cx="5486400" cy="237744"/>
          </a:xfrm>
          <a:prstGeom prst="rect">
            <a:avLst/>
          </a:prstGeom>
          <a:noFill/>
          <a:ln/>
        </p:spPr>
        <p:txBody>
          <a:bodyPr wrap="square" lIns="0" tIns="0" rIns="0" bIns="0" rtlCol="0" anchor="ctr"/>
          <a:lstStyle/>
          <a:p>
            <a:pPr indent="0" marL="0">
              <a:buNone/>
            </a:pPr>
            <a:r>
              <a:rPr lang="en-US" sz="1050" b="1" spc="200" kern="0" dirty="0">
                <a:solidFill>
                  <a:srgbClr val="0BB165"/>
                </a:solidFill>
                <a:latin typeface="Arial" pitchFamily="34" charset="0"/>
                <a:ea typeface="Arial" pitchFamily="34" charset="-122"/>
                <a:cs typeface="Arial" pitchFamily="34" charset="-120"/>
              </a:rPr>
              <a:t>LE PILOTE</a:t>
            </a:r>
            <a:endParaRPr lang="en-US" sz="1050" dirty="0"/>
          </a:p>
        </p:txBody>
      </p:sp>
      <p:sp>
        <p:nvSpPr>
          <p:cNvPr id="3" name="Text 1"/>
          <p:cNvSpPr/>
          <p:nvPr/>
        </p:nvSpPr>
        <p:spPr>
          <a:xfrm>
            <a:off x="685800" y="868680"/>
            <a:ext cx="10607040" cy="777240"/>
          </a:xfrm>
          <a:prstGeom prst="rect">
            <a:avLst/>
          </a:prstGeom>
          <a:noFill/>
          <a:ln/>
        </p:spPr>
        <p:txBody>
          <a:bodyPr wrap="square" lIns="0" tIns="0" rIns="0" bIns="0" rtlCol="0" anchor="ctr"/>
          <a:lstStyle/>
          <a:p>
            <a:pPr indent="0" marL="0">
              <a:buNone/>
            </a:pPr>
            <a:r>
              <a:rPr lang="en-US" sz="3000" b="1" spc="-30" kern="0" dirty="0">
                <a:solidFill>
                  <a:srgbClr val="0B243E"/>
                </a:solidFill>
                <a:latin typeface="Arial" pitchFamily="34" charset="0"/>
                <a:ea typeface="Arial" pitchFamily="34" charset="-122"/>
                <a:cs typeface="Arial" pitchFamily="34" charset="-120"/>
              </a:rPr>
              <a:t>Commencer de manière contrôlée. Valider. Puis étendre.</a:t>
            </a:r>
            <a:endParaRPr lang="en-US" sz="3000" dirty="0"/>
          </a:p>
        </p:txBody>
      </p:sp>
      <p:sp>
        <p:nvSpPr>
          <p:cNvPr id="4" name="Shape 2"/>
          <p:cNvSpPr/>
          <p:nvPr/>
        </p:nvSpPr>
        <p:spPr>
          <a:xfrm>
            <a:off x="4709160" y="2314448"/>
            <a:ext cx="91440" cy="91440"/>
          </a:xfrm>
          <a:prstGeom prst="roundRect">
            <a:avLst>
              <a:gd name="adj" fmla="val 30000"/>
            </a:avLst>
          </a:prstGeom>
          <a:solidFill>
            <a:srgbClr val="0BB165"/>
          </a:solidFill>
          <a:ln/>
        </p:spPr>
      </p:sp>
      <p:sp>
        <p:nvSpPr>
          <p:cNvPr id="5" name="Text 3"/>
          <p:cNvSpPr/>
          <p:nvPr/>
        </p:nvSpPr>
        <p:spPr>
          <a:xfrm>
            <a:off x="4910328" y="2258568"/>
            <a:ext cx="3087472" cy="258064"/>
          </a:xfrm>
          <a:prstGeom prst="rect">
            <a:avLst/>
          </a:prstGeom>
          <a:noFill/>
          <a:ln/>
        </p:spPr>
        <p:txBody>
          <a:bodyPr wrap="square" lIns="0" tIns="0" rIns="0" bIns="0" rtlCol="0" anchor="t"/>
          <a:lstStyle/>
          <a:p>
            <a:pPr indent="0" marL="0">
              <a:lnSpc>
                <a:spcPts val="1600"/>
              </a:lnSpc>
              <a:buNone/>
            </a:pPr>
            <a:r>
              <a:rPr lang="en-US" sz="1150" dirty="0">
                <a:solidFill>
                  <a:srgbClr val="0B243E"/>
                </a:solidFill>
                <a:latin typeface="Arial" pitchFamily="34" charset="0"/>
                <a:ea typeface="Arial" pitchFamily="34" charset="-122"/>
                <a:cs typeface="Arial" pitchFamily="34" charset="-120"/>
              </a:rPr>
              <a:t>Population d'utilisateurs éligibles limitée</a:t>
            </a:r>
            <a:endParaRPr lang="en-US" sz="1150" dirty="0"/>
          </a:p>
        </p:txBody>
      </p:sp>
      <p:sp>
        <p:nvSpPr>
          <p:cNvPr id="6" name="Shape 4"/>
          <p:cNvSpPr/>
          <p:nvPr/>
        </p:nvSpPr>
        <p:spPr>
          <a:xfrm>
            <a:off x="4709160" y="2737104"/>
            <a:ext cx="91440" cy="91440"/>
          </a:xfrm>
          <a:prstGeom prst="roundRect">
            <a:avLst>
              <a:gd name="adj" fmla="val 30000"/>
            </a:avLst>
          </a:prstGeom>
          <a:solidFill>
            <a:srgbClr val="0BB165"/>
          </a:solidFill>
          <a:ln/>
        </p:spPr>
      </p:sp>
      <p:sp>
        <p:nvSpPr>
          <p:cNvPr id="7" name="Text 5"/>
          <p:cNvSpPr/>
          <p:nvPr/>
        </p:nvSpPr>
        <p:spPr>
          <a:xfrm>
            <a:off x="4910328" y="2681224"/>
            <a:ext cx="3087472" cy="258064"/>
          </a:xfrm>
          <a:prstGeom prst="rect">
            <a:avLst/>
          </a:prstGeom>
          <a:noFill/>
          <a:ln/>
        </p:spPr>
        <p:txBody>
          <a:bodyPr wrap="square" lIns="0" tIns="0" rIns="0" bIns="0" rtlCol="0" anchor="t"/>
          <a:lstStyle/>
          <a:p>
            <a:pPr indent="0" marL="0">
              <a:lnSpc>
                <a:spcPts val="1600"/>
              </a:lnSpc>
              <a:buNone/>
            </a:pPr>
            <a:r>
              <a:rPr lang="en-US" sz="1150" dirty="0">
                <a:solidFill>
                  <a:srgbClr val="0B243E"/>
                </a:solidFill>
                <a:latin typeface="Arial" pitchFamily="34" charset="0"/>
                <a:ea typeface="Arial" pitchFamily="34" charset="-122"/>
                <a:cs typeface="Arial" pitchFamily="34" charset="-120"/>
              </a:rPr>
              <a:t>Corridor(s) sélectionné(s)</a:t>
            </a:r>
            <a:endParaRPr lang="en-US" sz="1150" dirty="0"/>
          </a:p>
        </p:txBody>
      </p:sp>
      <p:sp>
        <p:nvSpPr>
          <p:cNvPr id="8" name="Shape 6"/>
          <p:cNvSpPr/>
          <p:nvPr/>
        </p:nvSpPr>
        <p:spPr>
          <a:xfrm>
            <a:off x="4709160" y="3159760"/>
            <a:ext cx="91440" cy="91440"/>
          </a:xfrm>
          <a:prstGeom prst="roundRect">
            <a:avLst>
              <a:gd name="adj" fmla="val 30000"/>
            </a:avLst>
          </a:prstGeom>
          <a:solidFill>
            <a:srgbClr val="0BB165"/>
          </a:solidFill>
          <a:ln/>
        </p:spPr>
      </p:sp>
      <p:sp>
        <p:nvSpPr>
          <p:cNvPr id="9" name="Text 7"/>
          <p:cNvSpPr/>
          <p:nvPr/>
        </p:nvSpPr>
        <p:spPr>
          <a:xfrm>
            <a:off x="4910328" y="3103880"/>
            <a:ext cx="3087472" cy="258064"/>
          </a:xfrm>
          <a:prstGeom prst="rect">
            <a:avLst/>
          </a:prstGeom>
          <a:noFill/>
          <a:ln/>
        </p:spPr>
        <p:txBody>
          <a:bodyPr wrap="square" lIns="0" tIns="0" rIns="0" bIns="0" rtlCol="0" anchor="t"/>
          <a:lstStyle/>
          <a:p>
            <a:pPr indent="0" marL="0">
              <a:lnSpc>
                <a:spcPts val="1600"/>
              </a:lnSpc>
              <a:buNone/>
            </a:pPr>
            <a:r>
              <a:rPr lang="en-US" sz="1150" dirty="0">
                <a:solidFill>
                  <a:srgbClr val="0B243E"/>
                </a:solidFill>
                <a:latin typeface="Arial" pitchFamily="34" charset="0"/>
                <a:ea typeface="Arial" pitchFamily="34" charset="-122"/>
                <a:cs typeface="Arial" pitchFamily="34" charset="-120"/>
              </a:rPr>
              <a:t>Plafonds transactionnels convenus</a:t>
            </a:r>
            <a:endParaRPr lang="en-US" sz="1150" dirty="0"/>
          </a:p>
        </p:txBody>
      </p:sp>
      <p:sp>
        <p:nvSpPr>
          <p:cNvPr id="10" name="Shape 8"/>
          <p:cNvSpPr/>
          <p:nvPr/>
        </p:nvSpPr>
        <p:spPr>
          <a:xfrm>
            <a:off x="4709160" y="3582416"/>
            <a:ext cx="91440" cy="91440"/>
          </a:xfrm>
          <a:prstGeom prst="roundRect">
            <a:avLst>
              <a:gd name="adj" fmla="val 30000"/>
            </a:avLst>
          </a:prstGeom>
          <a:solidFill>
            <a:srgbClr val="0BB165"/>
          </a:solidFill>
          <a:ln/>
        </p:spPr>
      </p:sp>
      <p:sp>
        <p:nvSpPr>
          <p:cNvPr id="11" name="Text 9"/>
          <p:cNvSpPr/>
          <p:nvPr/>
        </p:nvSpPr>
        <p:spPr>
          <a:xfrm>
            <a:off x="4910328" y="3526536"/>
            <a:ext cx="3087472" cy="258064"/>
          </a:xfrm>
          <a:prstGeom prst="rect">
            <a:avLst/>
          </a:prstGeom>
          <a:noFill/>
          <a:ln/>
        </p:spPr>
        <p:txBody>
          <a:bodyPr wrap="square" lIns="0" tIns="0" rIns="0" bIns="0" rtlCol="0" anchor="t"/>
          <a:lstStyle/>
          <a:p>
            <a:pPr indent="0" marL="0">
              <a:lnSpc>
                <a:spcPts val="1600"/>
              </a:lnSpc>
              <a:buNone/>
            </a:pPr>
            <a:r>
              <a:rPr lang="en-US" sz="1150" dirty="0">
                <a:solidFill>
                  <a:srgbClr val="0B243E"/>
                </a:solidFill>
                <a:latin typeface="Arial" pitchFamily="34" charset="0"/>
                <a:ea typeface="Arial" pitchFamily="34" charset="-122"/>
                <a:cs typeface="Arial" pitchFamily="34" charset="-120"/>
              </a:rPr>
              <a:t>Volumes contrôlés</a:t>
            </a:r>
            <a:endParaRPr lang="en-US" sz="1150" dirty="0"/>
          </a:p>
        </p:txBody>
      </p:sp>
      <p:sp>
        <p:nvSpPr>
          <p:cNvPr id="12" name="Shape 10"/>
          <p:cNvSpPr/>
          <p:nvPr/>
        </p:nvSpPr>
        <p:spPr>
          <a:xfrm>
            <a:off x="8217256" y="2314448"/>
            <a:ext cx="91440" cy="91440"/>
          </a:xfrm>
          <a:prstGeom prst="roundRect">
            <a:avLst>
              <a:gd name="adj" fmla="val 30000"/>
            </a:avLst>
          </a:prstGeom>
          <a:solidFill>
            <a:srgbClr val="0BB165"/>
          </a:solidFill>
          <a:ln/>
        </p:spPr>
      </p:sp>
      <p:sp>
        <p:nvSpPr>
          <p:cNvPr id="13" name="Text 11"/>
          <p:cNvSpPr/>
          <p:nvPr/>
        </p:nvSpPr>
        <p:spPr>
          <a:xfrm>
            <a:off x="8418424" y="2258568"/>
            <a:ext cx="3087472" cy="258064"/>
          </a:xfrm>
          <a:prstGeom prst="rect">
            <a:avLst/>
          </a:prstGeom>
          <a:noFill/>
          <a:ln/>
        </p:spPr>
        <p:txBody>
          <a:bodyPr wrap="square" lIns="0" tIns="0" rIns="0" bIns="0" rtlCol="0" anchor="t"/>
          <a:lstStyle/>
          <a:p>
            <a:pPr indent="0" marL="0">
              <a:lnSpc>
                <a:spcPts val="1600"/>
              </a:lnSpc>
              <a:buNone/>
            </a:pPr>
            <a:r>
              <a:rPr lang="en-US" sz="1150" dirty="0">
                <a:solidFill>
                  <a:srgbClr val="0B243E"/>
                </a:solidFill>
                <a:latin typeface="Arial" pitchFamily="34" charset="0"/>
                <a:ea typeface="Arial" pitchFamily="34" charset="-122"/>
                <a:cs typeface="Arial" pitchFamily="34" charset="-120"/>
              </a:rPr>
              <a:t>Surveillance conformité</a:t>
            </a:r>
            <a:endParaRPr lang="en-US" sz="1150" dirty="0"/>
          </a:p>
        </p:txBody>
      </p:sp>
      <p:sp>
        <p:nvSpPr>
          <p:cNvPr id="14" name="Shape 12"/>
          <p:cNvSpPr/>
          <p:nvPr/>
        </p:nvSpPr>
        <p:spPr>
          <a:xfrm>
            <a:off x="8217256" y="2737104"/>
            <a:ext cx="91440" cy="91440"/>
          </a:xfrm>
          <a:prstGeom prst="roundRect">
            <a:avLst>
              <a:gd name="adj" fmla="val 30000"/>
            </a:avLst>
          </a:prstGeom>
          <a:solidFill>
            <a:srgbClr val="0BB165"/>
          </a:solidFill>
          <a:ln/>
        </p:spPr>
      </p:sp>
      <p:sp>
        <p:nvSpPr>
          <p:cNvPr id="15" name="Text 13"/>
          <p:cNvSpPr/>
          <p:nvPr/>
        </p:nvSpPr>
        <p:spPr>
          <a:xfrm>
            <a:off x="8418424" y="2681224"/>
            <a:ext cx="3087472" cy="258064"/>
          </a:xfrm>
          <a:prstGeom prst="rect">
            <a:avLst/>
          </a:prstGeom>
          <a:noFill/>
          <a:ln/>
        </p:spPr>
        <p:txBody>
          <a:bodyPr wrap="square" lIns="0" tIns="0" rIns="0" bIns="0" rtlCol="0" anchor="t"/>
          <a:lstStyle/>
          <a:p>
            <a:pPr indent="0" marL="0">
              <a:lnSpc>
                <a:spcPts val="1600"/>
              </a:lnSpc>
              <a:buNone/>
            </a:pPr>
            <a:r>
              <a:rPr lang="en-US" sz="1150" dirty="0">
                <a:solidFill>
                  <a:srgbClr val="0B243E"/>
                </a:solidFill>
                <a:latin typeface="Arial" pitchFamily="34" charset="0"/>
                <a:ea typeface="Arial" pitchFamily="34" charset="-122"/>
                <a:cs typeface="Arial" pitchFamily="34" charset="-120"/>
              </a:rPr>
              <a:t>Reporting opérationnel</a:t>
            </a:r>
            <a:endParaRPr lang="en-US" sz="1150" dirty="0"/>
          </a:p>
        </p:txBody>
      </p:sp>
      <p:sp>
        <p:nvSpPr>
          <p:cNvPr id="16" name="Shape 14"/>
          <p:cNvSpPr/>
          <p:nvPr/>
        </p:nvSpPr>
        <p:spPr>
          <a:xfrm>
            <a:off x="8217256" y="3159760"/>
            <a:ext cx="91440" cy="91440"/>
          </a:xfrm>
          <a:prstGeom prst="roundRect">
            <a:avLst>
              <a:gd name="adj" fmla="val 30000"/>
            </a:avLst>
          </a:prstGeom>
          <a:solidFill>
            <a:srgbClr val="0BB165"/>
          </a:solidFill>
          <a:ln/>
        </p:spPr>
      </p:sp>
      <p:sp>
        <p:nvSpPr>
          <p:cNvPr id="17" name="Text 15"/>
          <p:cNvSpPr/>
          <p:nvPr/>
        </p:nvSpPr>
        <p:spPr>
          <a:xfrm>
            <a:off x="8418424" y="3103880"/>
            <a:ext cx="3087472" cy="258064"/>
          </a:xfrm>
          <a:prstGeom prst="rect">
            <a:avLst/>
          </a:prstGeom>
          <a:noFill/>
          <a:ln/>
        </p:spPr>
        <p:txBody>
          <a:bodyPr wrap="square" lIns="0" tIns="0" rIns="0" bIns="0" rtlCol="0" anchor="t"/>
          <a:lstStyle/>
          <a:p>
            <a:pPr indent="0" marL="0">
              <a:lnSpc>
                <a:spcPts val="1600"/>
              </a:lnSpc>
              <a:buNone/>
            </a:pPr>
            <a:r>
              <a:rPr lang="en-US" sz="1150" dirty="0">
                <a:solidFill>
                  <a:srgbClr val="0B243E"/>
                </a:solidFill>
                <a:latin typeface="Arial" pitchFamily="34" charset="0"/>
                <a:ea typeface="Arial" pitchFamily="34" charset="-122"/>
                <a:cs typeface="Arial" pitchFamily="34" charset="-120"/>
              </a:rPr>
              <a:t>Procédures d'escalade définies</a:t>
            </a:r>
            <a:endParaRPr lang="en-US" sz="1150" dirty="0"/>
          </a:p>
        </p:txBody>
      </p:sp>
      <p:sp>
        <p:nvSpPr>
          <p:cNvPr id="18" name="Shape 16"/>
          <p:cNvSpPr/>
          <p:nvPr/>
        </p:nvSpPr>
        <p:spPr>
          <a:xfrm>
            <a:off x="8217256" y="3582416"/>
            <a:ext cx="91440" cy="91440"/>
          </a:xfrm>
          <a:prstGeom prst="roundRect">
            <a:avLst>
              <a:gd name="adj" fmla="val 30000"/>
            </a:avLst>
          </a:prstGeom>
          <a:solidFill>
            <a:srgbClr val="0BB165"/>
          </a:solidFill>
          <a:ln/>
        </p:spPr>
      </p:sp>
      <p:sp>
        <p:nvSpPr>
          <p:cNvPr id="19" name="Text 17"/>
          <p:cNvSpPr/>
          <p:nvPr/>
        </p:nvSpPr>
        <p:spPr>
          <a:xfrm>
            <a:off x="8418424" y="3526536"/>
            <a:ext cx="3087472" cy="258064"/>
          </a:xfrm>
          <a:prstGeom prst="rect">
            <a:avLst/>
          </a:prstGeom>
          <a:noFill/>
          <a:ln/>
        </p:spPr>
        <p:txBody>
          <a:bodyPr wrap="square" lIns="0" tIns="0" rIns="0" bIns="0" rtlCol="0" anchor="t"/>
          <a:lstStyle/>
          <a:p>
            <a:pPr indent="0" marL="0">
              <a:lnSpc>
                <a:spcPts val="1600"/>
              </a:lnSpc>
              <a:buNone/>
            </a:pPr>
            <a:r>
              <a:rPr lang="en-US" sz="1150" dirty="0">
                <a:solidFill>
                  <a:srgbClr val="0B243E"/>
                </a:solidFill>
                <a:latin typeface="Arial" pitchFamily="34" charset="0"/>
                <a:ea typeface="Arial" pitchFamily="34" charset="-122"/>
                <a:cs typeface="Arial" pitchFamily="34" charset="-120"/>
              </a:rPr>
              <a:t>Revue conjointe des performances</a:t>
            </a:r>
            <a:endParaRPr lang="en-US" sz="1150" dirty="0"/>
          </a:p>
        </p:txBody>
      </p:sp>
      <p:sp>
        <p:nvSpPr>
          <p:cNvPr id="20" name="Shape 18"/>
          <p:cNvSpPr/>
          <p:nvPr/>
        </p:nvSpPr>
        <p:spPr>
          <a:xfrm>
            <a:off x="685800" y="1874520"/>
            <a:ext cx="3703320" cy="2815336"/>
          </a:xfrm>
          <a:prstGeom prst="roundRect">
            <a:avLst>
              <a:gd name="adj" fmla="val 5197"/>
            </a:avLst>
          </a:prstGeom>
          <a:solidFill>
            <a:srgbClr val="0B243E"/>
          </a:solidFill>
          <a:ln w="12700">
            <a:solidFill>
              <a:srgbClr val="0B243E"/>
            </a:solidFill>
            <a:prstDash val="solid"/>
          </a:ln>
          <a:effectLst>
            <a:outerShdw sx="100000" sy="100000" kx="0" ky="0" algn="bl" rotWithShape="0" blurRad="228600" dist="50800" dir="5400000">
              <a:srgbClr val="0B243E">
                <a:alpha val="20000"/>
              </a:srgbClr>
            </a:outerShdw>
          </a:effectLst>
        </p:spPr>
      </p:sp>
      <p:sp>
        <p:nvSpPr>
          <p:cNvPr id="21" name="Text 19"/>
          <p:cNvSpPr/>
          <p:nvPr/>
        </p:nvSpPr>
        <p:spPr>
          <a:xfrm>
            <a:off x="1069848" y="2258568"/>
            <a:ext cx="2935224" cy="237744"/>
          </a:xfrm>
          <a:prstGeom prst="rect">
            <a:avLst/>
          </a:prstGeom>
          <a:noFill/>
          <a:ln/>
        </p:spPr>
        <p:txBody>
          <a:bodyPr wrap="square" lIns="0" tIns="0" rIns="0" bIns="0" rtlCol="0" anchor="ctr"/>
          <a:lstStyle/>
          <a:p>
            <a:pPr indent="0" marL="0">
              <a:buNone/>
            </a:pPr>
            <a:r>
              <a:rPr lang="en-US" sz="950" b="1" spc="160" kern="0" dirty="0">
                <a:solidFill>
                  <a:srgbClr val="0BB165"/>
                </a:solidFill>
                <a:latin typeface="Arial" pitchFamily="34" charset="0"/>
                <a:ea typeface="Arial" pitchFamily="34" charset="-122"/>
                <a:cs typeface="Arial" pitchFamily="34" charset="-120"/>
              </a:rPr>
              <a:t>PILOTE ENCADRÉ</a:t>
            </a:r>
            <a:endParaRPr lang="en-US" sz="950" dirty="0"/>
          </a:p>
        </p:txBody>
      </p:sp>
      <p:sp>
        <p:nvSpPr>
          <p:cNvPr id="22" name="Text 20"/>
          <p:cNvSpPr/>
          <p:nvPr/>
        </p:nvSpPr>
        <p:spPr>
          <a:xfrm>
            <a:off x="1069848" y="2624328"/>
            <a:ext cx="2935224" cy="914400"/>
          </a:xfrm>
          <a:prstGeom prst="rect">
            <a:avLst/>
          </a:prstGeom>
          <a:noFill/>
          <a:ln/>
        </p:spPr>
        <p:txBody>
          <a:bodyPr wrap="square" lIns="0" tIns="0" rIns="0" bIns="0" rtlCol="0" anchor="ctr"/>
          <a:lstStyle/>
          <a:p>
            <a:pPr indent="0" marL="0">
              <a:buNone/>
            </a:pPr>
            <a:r>
              <a:rPr lang="en-US" sz="6200" b="1" spc="-100" kern="0" dirty="0">
                <a:solidFill>
                  <a:srgbClr val="FFFFFF"/>
                </a:solidFill>
                <a:latin typeface="Arial" pitchFamily="34" charset="0"/>
                <a:ea typeface="Arial" pitchFamily="34" charset="-122"/>
                <a:cs typeface="Arial" pitchFamily="34" charset="-120"/>
              </a:rPr>
              <a:t>90</a:t>
            </a:r>
            <a:pPr indent="0" marL="0">
              <a:buNone/>
            </a:pPr>
            <a:r>
              <a:rPr lang="en-US" sz="1700" b="1" spc="150" kern="0" dirty="0">
                <a:solidFill>
                  <a:srgbClr val="93A9BF"/>
                </a:solidFill>
                <a:latin typeface="Arial" pitchFamily="34" charset="0"/>
                <a:ea typeface="Arial" pitchFamily="34" charset="-122"/>
                <a:cs typeface="Arial" pitchFamily="34" charset="-120"/>
              </a:rPr>
              <a:t>  JOURS</a:t>
            </a:r>
            <a:endParaRPr lang="en-US" sz="6200" dirty="0"/>
          </a:p>
        </p:txBody>
      </p:sp>
      <p:sp>
        <p:nvSpPr>
          <p:cNvPr id="23" name="Text 21"/>
          <p:cNvSpPr/>
          <p:nvPr/>
        </p:nvSpPr>
        <p:spPr>
          <a:xfrm>
            <a:off x="1069848" y="3630168"/>
            <a:ext cx="2935224" cy="685800"/>
          </a:xfrm>
          <a:prstGeom prst="rect">
            <a:avLst/>
          </a:prstGeom>
          <a:noFill/>
          <a:ln/>
        </p:spPr>
        <p:txBody>
          <a:bodyPr wrap="square" lIns="0" tIns="0" rIns="0" bIns="0" rtlCol="0" anchor="t"/>
          <a:lstStyle/>
          <a:p>
            <a:pPr indent="0" marL="0">
              <a:lnSpc>
                <a:spcPts val="1500"/>
              </a:lnSpc>
              <a:buNone/>
            </a:pPr>
            <a:r>
              <a:rPr lang="en-US" sz="1100" dirty="0">
                <a:solidFill>
                  <a:srgbClr val="AFC2D4"/>
                </a:solidFill>
                <a:latin typeface="Arial" pitchFamily="34" charset="0"/>
                <a:ea typeface="Arial" pitchFamily="34" charset="-122"/>
                <a:cs typeface="Arial" pitchFamily="34" charset="-120"/>
              </a:rPr>
              <a:t>Périmètre, corridors et plafonds définis conjointement avec Moov avant le lancement.</a:t>
            </a:r>
            <a:endParaRPr lang="en-US" sz="1100" dirty="0"/>
          </a:p>
        </p:txBody>
      </p:sp>
      <p:sp>
        <p:nvSpPr>
          <p:cNvPr id="24" name="Text 22"/>
          <p:cNvSpPr/>
          <p:nvPr/>
        </p:nvSpPr>
        <p:spPr>
          <a:xfrm>
            <a:off x="4709160" y="1874520"/>
            <a:ext cx="6796735" cy="237744"/>
          </a:xfrm>
          <a:prstGeom prst="rect">
            <a:avLst/>
          </a:prstGeom>
          <a:noFill/>
          <a:ln/>
        </p:spPr>
        <p:txBody>
          <a:bodyPr wrap="square" lIns="0" tIns="0" rIns="0" bIns="0" rtlCol="0" anchor="ctr"/>
          <a:lstStyle/>
          <a:p>
            <a:pPr indent="0" marL="0">
              <a:buNone/>
            </a:pPr>
            <a:r>
              <a:rPr lang="en-US" sz="900" b="1" spc="140" kern="0" dirty="0">
                <a:solidFill>
                  <a:srgbClr val="5C7186"/>
                </a:solidFill>
                <a:latin typeface="Arial" pitchFamily="34" charset="0"/>
                <a:ea typeface="Arial" pitchFamily="34" charset="-122"/>
                <a:cs typeface="Arial" pitchFamily="34" charset="-120"/>
              </a:rPr>
              <a:t>PÉRIMÈTRE DU PILOTE</a:t>
            </a:r>
            <a:endParaRPr lang="en-US" sz="900" dirty="0"/>
          </a:p>
        </p:txBody>
      </p:sp>
      <p:sp>
        <p:nvSpPr>
          <p:cNvPr id="25" name="Shape 23"/>
          <p:cNvSpPr/>
          <p:nvPr/>
        </p:nvSpPr>
        <p:spPr>
          <a:xfrm>
            <a:off x="4709160" y="3967480"/>
            <a:ext cx="6796735" cy="722376"/>
          </a:xfrm>
          <a:prstGeom prst="roundRect">
            <a:avLst>
              <a:gd name="adj" fmla="val 15190"/>
            </a:avLst>
          </a:prstGeom>
          <a:solidFill>
            <a:srgbClr val="FFFFFF"/>
          </a:solidFill>
          <a:ln w="12700">
            <a:solidFill>
              <a:srgbClr val="E1E9F0"/>
            </a:solidFill>
            <a:prstDash val="solid"/>
          </a:ln>
        </p:spPr>
      </p:sp>
      <p:sp>
        <p:nvSpPr>
          <p:cNvPr id="26" name="Text 24"/>
          <p:cNvSpPr/>
          <p:nvPr/>
        </p:nvSpPr>
        <p:spPr>
          <a:xfrm>
            <a:off x="4983480" y="3967480"/>
            <a:ext cx="6248095" cy="722376"/>
          </a:xfrm>
          <a:prstGeom prst="rect">
            <a:avLst/>
          </a:prstGeom>
          <a:noFill/>
          <a:ln/>
        </p:spPr>
        <p:txBody>
          <a:bodyPr wrap="square" lIns="0" tIns="0" rIns="0" bIns="0" rtlCol="0" anchor="ctr"/>
          <a:lstStyle/>
          <a:p>
            <a:pPr indent="0" marL="0">
              <a:lnSpc>
                <a:spcPts val="1500"/>
              </a:lnSpc>
              <a:buNone/>
            </a:pPr>
            <a:r>
              <a:rPr lang="en-US" sz="1100" b="1" dirty="0">
                <a:solidFill>
                  <a:srgbClr val="0B243E"/>
                </a:solidFill>
                <a:latin typeface="Arial" pitchFamily="34" charset="0"/>
                <a:ea typeface="Arial" pitchFamily="34" charset="-122"/>
                <a:cs typeface="Arial" pitchFamily="34" charset="-120"/>
              </a:rPr>
              <a:t>Quatre dimensions évaluées simultanément :  </a:t>
            </a:r>
            <a:pPr indent="0" marL="0">
              <a:lnSpc>
                <a:spcPts val="1500"/>
              </a:lnSpc>
              <a:buNone/>
            </a:pPr>
            <a:r>
              <a:rPr lang="en-US" sz="1100" dirty="0">
                <a:solidFill>
                  <a:srgbClr val="5C7186"/>
                </a:solidFill>
                <a:latin typeface="Arial" pitchFamily="34" charset="0"/>
                <a:ea typeface="Arial" pitchFamily="34" charset="-122"/>
                <a:cs typeface="Arial" pitchFamily="34" charset="-120"/>
              </a:rPr>
              <a:t>viabilité commerciale, opérationnelle, technique et conformité.</a:t>
            </a:r>
            <a:endParaRPr lang="en-US" sz="1100" dirty="0"/>
          </a:p>
        </p:txBody>
      </p:sp>
      <p:sp>
        <p:nvSpPr>
          <p:cNvPr id="27" name="Shape 25"/>
          <p:cNvSpPr/>
          <p:nvPr/>
        </p:nvSpPr>
        <p:spPr>
          <a:xfrm>
            <a:off x="577444" y="4956048"/>
            <a:ext cx="2395728" cy="603504"/>
          </a:xfrm>
          <a:prstGeom prst="roundRect">
            <a:avLst>
              <a:gd name="adj" fmla="val 21212"/>
            </a:avLst>
          </a:prstGeom>
          <a:solidFill>
            <a:srgbClr val="0BB165"/>
          </a:solidFill>
          <a:ln w="12700">
            <a:solidFill>
              <a:srgbClr val="0BB165"/>
            </a:solidFill>
            <a:prstDash val="solid"/>
          </a:ln>
        </p:spPr>
      </p:sp>
      <p:sp>
        <p:nvSpPr>
          <p:cNvPr id="28" name="Text 26"/>
          <p:cNvSpPr/>
          <p:nvPr/>
        </p:nvSpPr>
        <p:spPr>
          <a:xfrm>
            <a:off x="577444" y="4956048"/>
            <a:ext cx="2395728" cy="603504"/>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Arial" pitchFamily="34" charset="0"/>
                <a:ea typeface="Arial" pitchFamily="34" charset="-122"/>
                <a:cs typeface="Arial" pitchFamily="34" charset="-120"/>
              </a:rPr>
              <a:t>PILOTE ENCADRÉ</a:t>
            </a:r>
            <a:endParaRPr lang="en-US" sz="1150" dirty="0"/>
          </a:p>
        </p:txBody>
      </p:sp>
      <p:sp>
        <p:nvSpPr>
          <p:cNvPr id="29" name="Shape 27"/>
          <p:cNvSpPr/>
          <p:nvPr/>
        </p:nvSpPr>
        <p:spPr>
          <a:xfrm>
            <a:off x="3092044" y="5257800"/>
            <a:ext cx="246888" cy="0"/>
          </a:xfrm>
          <a:prstGeom prst="line">
            <a:avLst/>
          </a:prstGeom>
          <a:noFill/>
          <a:ln w="19050">
            <a:solidFill>
              <a:srgbClr val="BCCBD9"/>
            </a:solidFill>
            <a:prstDash val="solid"/>
            <a:tailEnd type="triangle"/>
          </a:ln>
        </p:spPr>
      </p:sp>
      <p:sp>
        <p:nvSpPr>
          <p:cNvPr id="30" name="Shape 28"/>
          <p:cNvSpPr/>
          <p:nvPr/>
        </p:nvSpPr>
        <p:spPr>
          <a:xfrm>
            <a:off x="3457804" y="4956048"/>
            <a:ext cx="2395728" cy="603504"/>
          </a:xfrm>
          <a:prstGeom prst="roundRect">
            <a:avLst>
              <a:gd name="adj" fmla="val 21212"/>
            </a:avLst>
          </a:prstGeom>
          <a:solidFill>
            <a:srgbClr val="FFFFFF"/>
          </a:solidFill>
          <a:ln w="12700">
            <a:solidFill>
              <a:srgbClr val="E1E9F0"/>
            </a:solidFill>
            <a:prstDash val="solid"/>
          </a:ln>
        </p:spPr>
      </p:sp>
      <p:sp>
        <p:nvSpPr>
          <p:cNvPr id="31" name="Text 29"/>
          <p:cNvSpPr/>
          <p:nvPr/>
        </p:nvSpPr>
        <p:spPr>
          <a:xfrm>
            <a:off x="3457804" y="4956048"/>
            <a:ext cx="2395728" cy="603504"/>
          </a:xfrm>
          <a:prstGeom prst="rect">
            <a:avLst/>
          </a:prstGeom>
          <a:noFill/>
          <a:ln/>
        </p:spPr>
        <p:txBody>
          <a:bodyPr wrap="square" lIns="0" tIns="0" rIns="0" bIns="0" rtlCol="0" anchor="ctr"/>
          <a:lstStyle/>
          <a:p>
            <a:pPr algn="ctr" indent="0" marL="0">
              <a:buNone/>
            </a:pPr>
            <a:r>
              <a:rPr lang="en-US" sz="1150" b="1" spc="80" kern="0" dirty="0">
                <a:solidFill>
                  <a:srgbClr val="0B243E"/>
                </a:solidFill>
                <a:latin typeface="Arial" pitchFamily="34" charset="0"/>
                <a:ea typeface="Arial" pitchFamily="34" charset="-122"/>
                <a:cs typeface="Arial" pitchFamily="34" charset="-120"/>
              </a:rPr>
              <a:t>VALIDER</a:t>
            </a:r>
            <a:endParaRPr lang="en-US" sz="1150" dirty="0"/>
          </a:p>
        </p:txBody>
      </p:sp>
      <p:sp>
        <p:nvSpPr>
          <p:cNvPr id="32" name="Shape 30"/>
          <p:cNvSpPr/>
          <p:nvPr/>
        </p:nvSpPr>
        <p:spPr>
          <a:xfrm>
            <a:off x="5972404" y="5257800"/>
            <a:ext cx="246888" cy="0"/>
          </a:xfrm>
          <a:prstGeom prst="line">
            <a:avLst/>
          </a:prstGeom>
          <a:noFill/>
          <a:ln w="19050">
            <a:solidFill>
              <a:srgbClr val="BCCBD9"/>
            </a:solidFill>
            <a:prstDash val="solid"/>
            <a:tailEnd type="triangle"/>
          </a:ln>
        </p:spPr>
      </p:sp>
      <p:sp>
        <p:nvSpPr>
          <p:cNvPr id="33" name="Shape 31"/>
          <p:cNvSpPr/>
          <p:nvPr/>
        </p:nvSpPr>
        <p:spPr>
          <a:xfrm>
            <a:off x="6338164" y="4956048"/>
            <a:ext cx="2395728" cy="603504"/>
          </a:xfrm>
          <a:prstGeom prst="roundRect">
            <a:avLst>
              <a:gd name="adj" fmla="val 21212"/>
            </a:avLst>
          </a:prstGeom>
          <a:solidFill>
            <a:srgbClr val="FFFFFF"/>
          </a:solidFill>
          <a:ln w="12700">
            <a:solidFill>
              <a:srgbClr val="E1E9F0"/>
            </a:solidFill>
            <a:prstDash val="solid"/>
          </a:ln>
        </p:spPr>
      </p:sp>
      <p:sp>
        <p:nvSpPr>
          <p:cNvPr id="34" name="Text 32"/>
          <p:cNvSpPr/>
          <p:nvPr/>
        </p:nvSpPr>
        <p:spPr>
          <a:xfrm>
            <a:off x="6338164" y="4956048"/>
            <a:ext cx="2395728" cy="603504"/>
          </a:xfrm>
          <a:prstGeom prst="rect">
            <a:avLst/>
          </a:prstGeom>
          <a:noFill/>
          <a:ln/>
        </p:spPr>
        <p:txBody>
          <a:bodyPr wrap="square" lIns="0" tIns="0" rIns="0" bIns="0" rtlCol="0" anchor="ctr"/>
          <a:lstStyle/>
          <a:p>
            <a:pPr algn="ctr" indent="0" marL="0">
              <a:buNone/>
            </a:pPr>
            <a:r>
              <a:rPr lang="en-US" sz="1150" b="1" spc="80" kern="0" dirty="0">
                <a:solidFill>
                  <a:srgbClr val="0B243E"/>
                </a:solidFill>
                <a:latin typeface="Arial" pitchFamily="34" charset="0"/>
                <a:ea typeface="Arial" pitchFamily="34" charset="-122"/>
                <a:cs typeface="Arial" pitchFamily="34" charset="-120"/>
              </a:rPr>
              <a:t>OPTIMISER</a:t>
            </a:r>
            <a:endParaRPr lang="en-US" sz="1150" dirty="0"/>
          </a:p>
        </p:txBody>
      </p:sp>
      <p:sp>
        <p:nvSpPr>
          <p:cNvPr id="35" name="Shape 33"/>
          <p:cNvSpPr/>
          <p:nvPr/>
        </p:nvSpPr>
        <p:spPr>
          <a:xfrm>
            <a:off x="8852764" y="5257800"/>
            <a:ext cx="246888" cy="0"/>
          </a:xfrm>
          <a:prstGeom prst="line">
            <a:avLst/>
          </a:prstGeom>
          <a:noFill/>
          <a:ln w="19050">
            <a:solidFill>
              <a:srgbClr val="BCCBD9"/>
            </a:solidFill>
            <a:prstDash val="solid"/>
            <a:tailEnd type="triangle"/>
          </a:ln>
        </p:spPr>
      </p:sp>
      <p:sp>
        <p:nvSpPr>
          <p:cNvPr id="36" name="Shape 34"/>
          <p:cNvSpPr/>
          <p:nvPr/>
        </p:nvSpPr>
        <p:spPr>
          <a:xfrm>
            <a:off x="9218524" y="4956048"/>
            <a:ext cx="2395728" cy="603504"/>
          </a:xfrm>
          <a:prstGeom prst="roundRect">
            <a:avLst>
              <a:gd name="adj" fmla="val 21212"/>
            </a:avLst>
          </a:prstGeom>
          <a:solidFill>
            <a:srgbClr val="FFFFFF"/>
          </a:solidFill>
          <a:ln w="12700">
            <a:solidFill>
              <a:srgbClr val="E1E9F0"/>
            </a:solidFill>
            <a:prstDash val="solid"/>
          </a:ln>
        </p:spPr>
      </p:sp>
      <p:sp>
        <p:nvSpPr>
          <p:cNvPr id="37" name="Text 35"/>
          <p:cNvSpPr/>
          <p:nvPr/>
        </p:nvSpPr>
        <p:spPr>
          <a:xfrm>
            <a:off x="9218524" y="4956048"/>
            <a:ext cx="2395728" cy="603504"/>
          </a:xfrm>
          <a:prstGeom prst="rect">
            <a:avLst/>
          </a:prstGeom>
          <a:noFill/>
          <a:ln/>
        </p:spPr>
        <p:txBody>
          <a:bodyPr wrap="square" lIns="0" tIns="0" rIns="0" bIns="0" rtlCol="0" anchor="ctr"/>
          <a:lstStyle/>
          <a:p>
            <a:pPr algn="ctr" indent="0" marL="0">
              <a:buNone/>
            </a:pPr>
            <a:r>
              <a:rPr lang="en-US" sz="1150" b="1" spc="80" kern="0" dirty="0">
                <a:solidFill>
                  <a:srgbClr val="0B243E"/>
                </a:solidFill>
                <a:latin typeface="Arial" pitchFamily="34" charset="0"/>
                <a:ea typeface="Arial" pitchFamily="34" charset="-122"/>
                <a:cs typeface="Arial" pitchFamily="34" charset="-120"/>
              </a:rPr>
              <a:t>ÉTENDRE</a:t>
            </a:r>
            <a:endParaRPr lang="en-US" sz="1150" dirty="0"/>
          </a:p>
        </p:txBody>
      </p:sp>
      <p:sp>
        <p:nvSpPr>
          <p:cNvPr id="38" name="Text 36"/>
          <p:cNvSpPr/>
          <p:nvPr/>
        </p:nvSpPr>
        <p:spPr>
          <a:xfrm>
            <a:off x="685800" y="5742432"/>
            <a:ext cx="10820095" cy="274320"/>
          </a:xfrm>
          <a:prstGeom prst="rect">
            <a:avLst/>
          </a:prstGeom>
          <a:noFill/>
          <a:ln/>
        </p:spPr>
        <p:txBody>
          <a:bodyPr wrap="square" lIns="0" tIns="0" rIns="0" bIns="0" rtlCol="0" anchor="ctr"/>
          <a:lstStyle/>
          <a:p>
            <a:pPr algn="ctr" indent="0" marL="0">
              <a:buNone/>
            </a:pPr>
            <a:r>
              <a:rPr lang="en-US" sz="1000" i="1" dirty="0">
                <a:solidFill>
                  <a:srgbClr val="5C7186"/>
                </a:solidFill>
                <a:latin typeface="Arial" pitchFamily="34" charset="0"/>
                <a:ea typeface="Arial" pitchFamily="34" charset="-122"/>
                <a:cs typeface="Arial" pitchFamily="34" charset="-120"/>
              </a:rPr>
              <a:t>Aucune extension n'est automatique : elle dépend des résultats constatés lors de la revue conjointe.</a:t>
            </a:r>
            <a:endParaRPr lang="en-US" sz="1000" dirty="0"/>
          </a:p>
        </p:txBody>
      </p:sp>
      <p:sp>
        <p:nvSpPr>
          <p:cNvPr id="39" name="Text 37"/>
          <p:cNvSpPr/>
          <p:nvPr/>
        </p:nvSpPr>
        <p:spPr>
          <a:xfrm>
            <a:off x="685800" y="6327648"/>
            <a:ext cx="7772400" cy="256032"/>
          </a:xfrm>
          <a:prstGeom prst="rect">
            <a:avLst/>
          </a:prstGeom>
          <a:noFill/>
          <a:ln/>
        </p:spPr>
        <p:txBody>
          <a:bodyPr wrap="square" lIns="0" tIns="0" rIns="0" bIns="0" rtlCol="0" anchor="ctr"/>
          <a:lstStyle/>
          <a:p>
            <a:pPr indent="0" marL="0">
              <a:buNone/>
            </a:pPr>
            <a:r>
              <a:rPr lang="en-US" sz="850" dirty="0">
                <a:solidFill>
                  <a:srgbClr val="9AAABA"/>
                </a:solidFill>
                <a:latin typeface="Arial" pitchFamily="34" charset="0"/>
                <a:ea typeface="Arial" pitchFamily="34" charset="-122"/>
                <a:cs typeface="Arial" pitchFamily="34" charset="-120"/>
              </a:rPr>
              <a:t>Cambiste × Moov Côte d'Ivoire  —  Proposition de pilote  —  Document confidentiel</a:t>
            </a:r>
            <a:endParaRPr lang="en-US" sz="850" dirty="0"/>
          </a:p>
        </p:txBody>
      </p:sp>
      <p:sp>
        <p:nvSpPr>
          <p:cNvPr id="40" name="Text 38"/>
          <p:cNvSpPr/>
          <p:nvPr/>
        </p:nvSpPr>
        <p:spPr>
          <a:xfrm>
            <a:off x="10591495" y="6327648"/>
            <a:ext cx="914400" cy="256032"/>
          </a:xfrm>
          <a:prstGeom prst="rect">
            <a:avLst/>
          </a:prstGeom>
          <a:noFill/>
          <a:ln/>
        </p:spPr>
        <p:txBody>
          <a:bodyPr wrap="square" lIns="0" tIns="0" rIns="0" bIns="0" rtlCol="0" anchor="ctr"/>
          <a:lstStyle/>
          <a:p>
            <a:pPr algn="r" indent="0" marL="0">
              <a:buNone/>
            </a:pPr>
            <a:r>
              <a:rPr lang="en-US" sz="850" b="1" dirty="0">
                <a:solidFill>
                  <a:srgbClr val="9AAABA"/>
                </a:solidFill>
                <a:latin typeface="Arial" pitchFamily="34" charset="0"/>
                <a:ea typeface="Arial" pitchFamily="34" charset="-122"/>
                <a:cs typeface="Arial" pitchFamily="34" charset="-120"/>
              </a:rPr>
              <a:t>07</a:t>
            </a:r>
            <a:endParaRPr lang="en-US" sz="850" dirty="0"/>
          </a:p>
        </p:txBody>
      </p:sp>
      <p:pic>
        <p:nvPicPr>
          <p:cNvPr id="41" name="Image 0" descr="/home/user/print-function-file-argument/deck/assets/mark.png">    </p:cNvPr>
          <p:cNvPicPr>
            <a:picLocks noChangeAspect="1"/>
          </p:cNvPicPr>
          <p:nvPr/>
        </p:nvPicPr>
        <p:blipFill>
          <a:blip r:embed="rId1"/>
          <a:stretch>
            <a:fillRect/>
          </a:stretch>
        </p:blipFill>
        <p:spPr>
          <a:xfrm>
            <a:off x="11213287" y="457200"/>
            <a:ext cx="292608" cy="228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66928"/>
            <a:ext cx="5486400" cy="237744"/>
          </a:xfrm>
          <a:prstGeom prst="rect">
            <a:avLst/>
          </a:prstGeom>
          <a:noFill/>
          <a:ln/>
        </p:spPr>
        <p:txBody>
          <a:bodyPr wrap="square" lIns="0" tIns="0" rIns="0" bIns="0" rtlCol="0" anchor="ctr"/>
          <a:lstStyle/>
          <a:p>
            <a:pPr indent="0" marL="0">
              <a:buNone/>
            </a:pPr>
            <a:r>
              <a:rPr lang="en-US" sz="1050" b="1" spc="200" kern="0" dirty="0">
                <a:solidFill>
                  <a:srgbClr val="0BB165"/>
                </a:solidFill>
                <a:latin typeface="Arial" pitchFamily="34" charset="0"/>
                <a:ea typeface="Arial" pitchFamily="34" charset="-122"/>
                <a:cs typeface="Arial" pitchFamily="34" charset="-120"/>
              </a:rPr>
              <a:t>PILOTAGE</a:t>
            </a:r>
            <a:endParaRPr lang="en-US" sz="1050" dirty="0"/>
          </a:p>
        </p:txBody>
      </p:sp>
      <p:sp>
        <p:nvSpPr>
          <p:cNvPr id="3" name="Text 1"/>
          <p:cNvSpPr/>
          <p:nvPr/>
        </p:nvSpPr>
        <p:spPr>
          <a:xfrm>
            <a:off x="685800" y="868680"/>
            <a:ext cx="9692640" cy="777240"/>
          </a:xfrm>
          <a:prstGeom prst="rect">
            <a:avLst/>
          </a:prstGeom>
          <a:noFill/>
          <a:ln/>
        </p:spPr>
        <p:txBody>
          <a:bodyPr wrap="square" lIns="0" tIns="0" rIns="0" bIns="0" rtlCol="0" anchor="ctr"/>
          <a:lstStyle/>
          <a:p>
            <a:pPr indent="0" marL="0">
              <a:buNone/>
            </a:pPr>
            <a:r>
              <a:rPr lang="en-US" sz="3200" b="1" spc="-30" kern="0" dirty="0">
                <a:solidFill>
                  <a:srgbClr val="0B243E"/>
                </a:solidFill>
                <a:latin typeface="Arial" pitchFamily="34" charset="0"/>
                <a:ea typeface="Arial" pitchFamily="34" charset="-122"/>
                <a:cs typeface="Arial" pitchFamily="34" charset="-120"/>
              </a:rPr>
              <a:t>Mesurer avant d'étendre</a:t>
            </a:r>
            <a:endParaRPr lang="en-US" sz="3200" dirty="0"/>
          </a:p>
        </p:txBody>
      </p:sp>
      <p:sp>
        <p:nvSpPr>
          <p:cNvPr id="4" name="Text 2"/>
          <p:cNvSpPr/>
          <p:nvPr/>
        </p:nvSpPr>
        <p:spPr>
          <a:xfrm>
            <a:off x="685800" y="1737360"/>
            <a:ext cx="8686800" cy="365760"/>
          </a:xfrm>
          <a:prstGeom prst="rect">
            <a:avLst/>
          </a:prstGeom>
          <a:noFill/>
          <a:ln/>
        </p:spPr>
        <p:txBody>
          <a:bodyPr wrap="square" lIns="0" tIns="0" rIns="0" bIns="0" rtlCol="0" anchor="t"/>
          <a:lstStyle/>
          <a:p>
            <a:pPr indent="0" marL="0">
              <a:lnSpc>
                <a:spcPts val="1800"/>
              </a:lnSpc>
              <a:buNone/>
            </a:pPr>
            <a:r>
              <a:rPr lang="en-US" sz="1250" dirty="0">
                <a:solidFill>
                  <a:srgbClr val="5C7186"/>
                </a:solidFill>
                <a:latin typeface="Arial" pitchFamily="34" charset="0"/>
                <a:ea typeface="Arial" pitchFamily="34" charset="-122"/>
                <a:cs typeface="Arial" pitchFamily="34" charset="-120"/>
              </a:rPr>
              <a:t>Cinq indicateurs suivis conjointement pendant toute la durée du pilote.</a:t>
            </a:r>
            <a:endParaRPr lang="en-US" sz="1250" dirty="0"/>
          </a:p>
        </p:txBody>
      </p:sp>
      <p:sp>
        <p:nvSpPr>
          <p:cNvPr id="5" name="Shape 3"/>
          <p:cNvSpPr/>
          <p:nvPr/>
        </p:nvSpPr>
        <p:spPr>
          <a:xfrm>
            <a:off x="685800" y="2423160"/>
            <a:ext cx="2069287" cy="2514600"/>
          </a:xfrm>
          <a:prstGeom prst="roundRect">
            <a:avLst>
              <a:gd name="adj" fmla="val 7070"/>
            </a:avLst>
          </a:prstGeom>
          <a:solidFill>
            <a:srgbClr val="F5F8FA"/>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6" name="Shape 4"/>
          <p:cNvSpPr/>
          <p:nvPr/>
        </p:nvSpPr>
        <p:spPr>
          <a:xfrm>
            <a:off x="978408" y="2734056"/>
            <a:ext cx="402336" cy="402336"/>
          </a:xfrm>
          <a:prstGeom prst="roundRect">
            <a:avLst>
              <a:gd name="adj" fmla="val 30000"/>
            </a:avLst>
          </a:prstGeom>
          <a:solidFill>
            <a:srgbClr val="0BB165"/>
          </a:solidFill>
          <a:ln/>
        </p:spPr>
      </p:sp>
      <p:sp>
        <p:nvSpPr>
          <p:cNvPr id="7" name="Text 5"/>
          <p:cNvSpPr/>
          <p:nvPr/>
        </p:nvSpPr>
        <p:spPr>
          <a:xfrm>
            <a:off x="978408" y="273405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8" name="Text 6"/>
          <p:cNvSpPr/>
          <p:nvPr/>
        </p:nvSpPr>
        <p:spPr>
          <a:xfrm>
            <a:off x="978408" y="3282696"/>
            <a:ext cx="1484071" cy="868680"/>
          </a:xfrm>
          <a:prstGeom prst="rect">
            <a:avLst/>
          </a:prstGeom>
          <a:noFill/>
          <a:ln/>
        </p:spPr>
        <p:txBody>
          <a:bodyPr wrap="square" lIns="0" tIns="0" rIns="0" bIns="0" rtlCol="0" anchor="t"/>
          <a:lstStyle/>
          <a:p>
            <a:pPr indent="0" marL="0">
              <a:lnSpc>
                <a:spcPts val="1600"/>
              </a:lnSpc>
              <a:buNone/>
            </a:pPr>
            <a:r>
              <a:rPr lang="en-US" sz="1250" b="1" dirty="0">
                <a:solidFill>
                  <a:srgbClr val="0B243E"/>
                </a:solidFill>
                <a:latin typeface="Arial" pitchFamily="34" charset="0"/>
                <a:ea typeface="Arial" pitchFamily="34" charset="-122"/>
                <a:cs typeface="Arial" pitchFamily="34" charset="-120"/>
              </a:rPr>
              <a:t>Taux de réussite des transactions</a:t>
            </a:r>
            <a:endParaRPr lang="en-US" sz="1250" dirty="0"/>
          </a:p>
        </p:txBody>
      </p:sp>
      <p:sp>
        <p:nvSpPr>
          <p:cNvPr id="9" name="Text 7"/>
          <p:cNvSpPr/>
          <p:nvPr/>
        </p:nvSpPr>
        <p:spPr>
          <a:xfrm>
            <a:off x="978408" y="4142232"/>
            <a:ext cx="1484071" cy="685800"/>
          </a:xfrm>
          <a:prstGeom prst="rect">
            <a:avLst/>
          </a:prstGeom>
          <a:noFill/>
          <a:ln/>
        </p:spPr>
        <p:txBody>
          <a:bodyPr wrap="square" lIns="0" tIns="0" rIns="0" bIns="0" rtlCol="0" anchor="t"/>
          <a:lstStyle/>
          <a:p>
            <a:pPr indent="0" marL="0">
              <a:lnSpc>
                <a:spcPts val="1300"/>
              </a:lnSpc>
              <a:buNone/>
            </a:pPr>
            <a:r>
              <a:rPr lang="en-US" sz="950" dirty="0">
                <a:solidFill>
                  <a:srgbClr val="5C7186"/>
                </a:solidFill>
                <a:latin typeface="Arial" pitchFamily="34" charset="0"/>
                <a:ea typeface="Arial" pitchFamily="34" charset="-122"/>
                <a:cs typeface="Arial" pitchFamily="34" charset="-120"/>
              </a:rPr>
              <a:t>Part des opérations abouties sur l'ensemble des transactions initiées.</a:t>
            </a:r>
            <a:endParaRPr lang="en-US" sz="950" dirty="0"/>
          </a:p>
        </p:txBody>
      </p:sp>
      <p:sp>
        <p:nvSpPr>
          <p:cNvPr id="10" name="Shape 8"/>
          <p:cNvSpPr/>
          <p:nvPr/>
        </p:nvSpPr>
        <p:spPr>
          <a:xfrm>
            <a:off x="2873959" y="2423160"/>
            <a:ext cx="2069287" cy="2514600"/>
          </a:xfrm>
          <a:prstGeom prst="roundRect">
            <a:avLst>
              <a:gd name="adj" fmla="val 7070"/>
            </a:avLst>
          </a:prstGeom>
          <a:solidFill>
            <a:srgbClr val="F5F8FA"/>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11" name="Shape 9"/>
          <p:cNvSpPr/>
          <p:nvPr/>
        </p:nvSpPr>
        <p:spPr>
          <a:xfrm>
            <a:off x="3166567" y="2734056"/>
            <a:ext cx="402336" cy="402336"/>
          </a:xfrm>
          <a:prstGeom prst="roundRect">
            <a:avLst>
              <a:gd name="adj" fmla="val 30000"/>
            </a:avLst>
          </a:prstGeom>
          <a:solidFill>
            <a:srgbClr val="0BB165"/>
          </a:solidFill>
          <a:ln/>
        </p:spPr>
      </p:sp>
      <p:sp>
        <p:nvSpPr>
          <p:cNvPr id="12" name="Text 10"/>
          <p:cNvSpPr/>
          <p:nvPr/>
        </p:nvSpPr>
        <p:spPr>
          <a:xfrm>
            <a:off x="3166567" y="273405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3" name="Text 11"/>
          <p:cNvSpPr/>
          <p:nvPr/>
        </p:nvSpPr>
        <p:spPr>
          <a:xfrm>
            <a:off x="3166567" y="3282696"/>
            <a:ext cx="1484071" cy="868680"/>
          </a:xfrm>
          <a:prstGeom prst="rect">
            <a:avLst/>
          </a:prstGeom>
          <a:noFill/>
          <a:ln/>
        </p:spPr>
        <p:txBody>
          <a:bodyPr wrap="square" lIns="0" tIns="0" rIns="0" bIns="0" rtlCol="0" anchor="t"/>
          <a:lstStyle/>
          <a:p>
            <a:pPr indent="0" marL="0">
              <a:lnSpc>
                <a:spcPts val="1600"/>
              </a:lnSpc>
              <a:buNone/>
            </a:pPr>
            <a:r>
              <a:rPr lang="en-US" sz="1250" b="1" dirty="0">
                <a:solidFill>
                  <a:srgbClr val="0B243E"/>
                </a:solidFill>
                <a:latin typeface="Arial" pitchFamily="34" charset="0"/>
                <a:ea typeface="Arial" pitchFamily="34" charset="-122"/>
                <a:cs typeface="Arial" pitchFamily="34" charset="-120"/>
              </a:rPr>
              <a:t>Délai moyen de traitement</a:t>
            </a:r>
            <a:endParaRPr lang="en-US" sz="1250" dirty="0"/>
          </a:p>
        </p:txBody>
      </p:sp>
      <p:sp>
        <p:nvSpPr>
          <p:cNvPr id="14" name="Text 12"/>
          <p:cNvSpPr/>
          <p:nvPr/>
        </p:nvSpPr>
        <p:spPr>
          <a:xfrm>
            <a:off x="3166567" y="4142232"/>
            <a:ext cx="1484071" cy="685800"/>
          </a:xfrm>
          <a:prstGeom prst="rect">
            <a:avLst/>
          </a:prstGeom>
          <a:noFill/>
          <a:ln/>
        </p:spPr>
        <p:txBody>
          <a:bodyPr wrap="square" lIns="0" tIns="0" rIns="0" bIns="0" rtlCol="0" anchor="t"/>
          <a:lstStyle/>
          <a:p>
            <a:pPr indent="0" marL="0">
              <a:lnSpc>
                <a:spcPts val="1300"/>
              </a:lnSpc>
              <a:buNone/>
            </a:pPr>
            <a:r>
              <a:rPr lang="en-US" sz="950" dirty="0">
                <a:solidFill>
                  <a:srgbClr val="5C7186"/>
                </a:solidFill>
                <a:latin typeface="Arial" pitchFamily="34" charset="0"/>
                <a:ea typeface="Arial" pitchFamily="34" charset="-122"/>
                <a:cs typeface="Arial" pitchFamily="34" charset="-120"/>
              </a:rPr>
              <a:t>Temps observé entre l'initiation et la confirmation de l'opération.</a:t>
            </a:r>
            <a:endParaRPr lang="en-US" sz="950" dirty="0"/>
          </a:p>
        </p:txBody>
      </p:sp>
      <p:sp>
        <p:nvSpPr>
          <p:cNvPr id="15" name="Shape 13"/>
          <p:cNvSpPr/>
          <p:nvPr/>
        </p:nvSpPr>
        <p:spPr>
          <a:xfrm>
            <a:off x="5062118" y="2423160"/>
            <a:ext cx="2069287" cy="2514600"/>
          </a:xfrm>
          <a:prstGeom prst="roundRect">
            <a:avLst>
              <a:gd name="adj" fmla="val 7070"/>
            </a:avLst>
          </a:prstGeom>
          <a:solidFill>
            <a:srgbClr val="F5F8FA"/>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16" name="Shape 14"/>
          <p:cNvSpPr/>
          <p:nvPr/>
        </p:nvSpPr>
        <p:spPr>
          <a:xfrm>
            <a:off x="5354726" y="2734056"/>
            <a:ext cx="402336" cy="402336"/>
          </a:xfrm>
          <a:prstGeom prst="roundRect">
            <a:avLst>
              <a:gd name="adj" fmla="val 30000"/>
            </a:avLst>
          </a:prstGeom>
          <a:solidFill>
            <a:srgbClr val="0BB165"/>
          </a:solidFill>
          <a:ln/>
        </p:spPr>
      </p:sp>
      <p:sp>
        <p:nvSpPr>
          <p:cNvPr id="17" name="Text 15"/>
          <p:cNvSpPr/>
          <p:nvPr/>
        </p:nvSpPr>
        <p:spPr>
          <a:xfrm>
            <a:off x="5354726" y="273405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18" name="Text 16"/>
          <p:cNvSpPr/>
          <p:nvPr/>
        </p:nvSpPr>
        <p:spPr>
          <a:xfrm>
            <a:off x="5354726" y="3282696"/>
            <a:ext cx="1484071" cy="868680"/>
          </a:xfrm>
          <a:prstGeom prst="rect">
            <a:avLst/>
          </a:prstGeom>
          <a:noFill/>
          <a:ln/>
        </p:spPr>
        <p:txBody>
          <a:bodyPr wrap="square" lIns="0" tIns="0" rIns="0" bIns="0" rtlCol="0" anchor="t"/>
          <a:lstStyle/>
          <a:p>
            <a:pPr indent="0" marL="0">
              <a:lnSpc>
                <a:spcPts val="1600"/>
              </a:lnSpc>
              <a:buNone/>
            </a:pPr>
            <a:r>
              <a:rPr lang="en-US" sz="1250" b="1" dirty="0">
                <a:solidFill>
                  <a:srgbClr val="0B243E"/>
                </a:solidFill>
                <a:latin typeface="Arial" pitchFamily="34" charset="0"/>
                <a:ea typeface="Arial" pitchFamily="34" charset="-122"/>
                <a:cs typeface="Arial" pitchFamily="34" charset="-120"/>
              </a:rPr>
              <a:t>Taux d'exceptions conformité</a:t>
            </a:r>
            <a:endParaRPr lang="en-US" sz="1250" dirty="0"/>
          </a:p>
        </p:txBody>
      </p:sp>
      <p:sp>
        <p:nvSpPr>
          <p:cNvPr id="19" name="Text 17"/>
          <p:cNvSpPr/>
          <p:nvPr/>
        </p:nvSpPr>
        <p:spPr>
          <a:xfrm>
            <a:off x="5354726" y="4142232"/>
            <a:ext cx="1484071" cy="685800"/>
          </a:xfrm>
          <a:prstGeom prst="rect">
            <a:avLst/>
          </a:prstGeom>
          <a:noFill/>
          <a:ln/>
        </p:spPr>
        <p:txBody>
          <a:bodyPr wrap="square" lIns="0" tIns="0" rIns="0" bIns="0" rtlCol="0" anchor="t"/>
          <a:lstStyle/>
          <a:p>
            <a:pPr indent="0" marL="0">
              <a:lnSpc>
                <a:spcPts val="1300"/>
              </a:lnSpc>
              <a:buNone/>
            </a:pPr>
            <a:r>
              <a:rPr lang="en-US" sz="950" dirty="0">
                <a:solidFill>
                  <a:srgbClr val="5C7186"/>
                </a:solidFill>
                <a:latin typeface="Arial" pitchFamily="34" charset="0"/>
                <a:ea typeface="Arial" pitchFamily="34" charset="-122"/>
                <a:cs typeface="Arial" pitchFamily="34" charset="-120"/>
              </a:rPr>
              <a:t>Volume d'alertes, de rejets et de cas escaladés sur la période.</a:t>
            </a:r>
            <a:endParaRPr lang="en-US" sz="950" dirty="0"/>
          </a:p>
        </p:txBody>
      </p:sp>
      <p:sp>
        <p:nvSpPr>
          <p:cNvPr id="20" name="Shape 18"/>
          <p:cNvSpPr/>
          <p:nvPr/>
        </p:nvSpPr>
        <p:spPr>
          <a:xfrm>
            <a:off x="7250278" y="2423160"/>
            <a:ext cx="2069287" cy="2514600"/>
          </a:xfrm>
          <a:prstGeom prst="roundRect">
            <a:avLst>
              <a:gd name="adj" fmla="val 7070"/>
            </a:avLst>
          </a:prstGeom>
          <a:solidFill>
            <a:srgbClr val="F5F8FA"/>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21" name="Shape 19"/>
          <p:cNvSpPr/>
          <p:nvPr/>
        </p:nvSpPr>
        <p:spPr>
          <a:xfrm>
            <a:off x="7542886" y="2734056"/>
            <a:ext cx="402336" cy="402336"/>
          </a:xfrm>
          <a:prstGeom prst="roundRect">
            <a:avLst>
              <a:gd name="adj" fmla="val 30000"/>
            </a:avLst>
          </a:prstGeom>
          <a:solidFill>
            <a:srgbClr val="0BB165"/>
          </a:solidFill>
          <a:ln/>
        </p:spPr>
      </p:sp>
      <p:sp>
        <p:nvSpPr>
          <p:cNvPr id="22" name="Text 20"/>
          <p:cNvSpPr/>
          <p:nvPr/>
        </p:nvSpPr>
        <p:spPr>
          <a:xfrm>
            <a:off x="7542886" y="273405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23" name="Text 21"/>
          <p:cNvSpPr/>
          <p:nvPr/>
        </p:nvSpPr>
        <p:spPr>
          <a:xfrm>
            <a:off x="7542886" y="3282696"/>
            <a:ext cx="1484071" cy="868680"/>
          </a:xfrm>
          <a:prstGeom prst="rect">
            <a:avLst/>
          </a:prstGeom>
          <a:noFill/>
          <a:ln/>
        </p:spPr>
        <p:txBody>
          <a:bodyPr wrap="square" lIns="0" tIns="0" rIns="0" bIns="0" rtlCol="0" anchor="t"/>
          <a:lstStyle/>
          <a:p>
            <a:pPr indent="0" marL="0">
              <a:lnSpc>
                <a:spcPts val="1600"/>
              </a:lnSpc>
              <a:buNone/>
            </a:pPr>
            <a:r>
              <a:rPr lang="en-US" sz="1250" b="1" dirty="0">
                <a:solidFill>
                  <a:srgbClr val="0B243E"/>
                </a:solidFill>
                <a:latin typeface="Arial" pitchFamily="34" charset="0"/>
                <a:ea typeface="Arial" pitchFamily="34" charset="-122"/>
                <a:cs typeface="Arial" pitchFamily="34" charset="-120"/>
              </a:rPr>
              <a:t>Fiabilité opérationnelle</a:t>
            </a:r>
            <a:endParaRPr lang="en-US" sz="1250" dirty="0"/>
          </a:p>
        </p:txBody>
      </p:sp>
      <p:sp>
        <p:nvSpPr>
          <p:cNvPr id="24" name="Text 22"/>
          <p:cNvSpPr/>
          <p:nvPr/>
        </p:nvSpPr>
        <p:spPr>
          <a:xfrm>
            <a:off x="7542886" y="4142232"/>
            <a:ext cx="1484071" cy="685800"/>
          </a:xfrm>
          <a:prstGeom prst="rect">
            <a:avLst/>
          </a:prstGeom>
          <a:noFill/>
          <a:ln/>
        </p:spPr>
        <p:txBody>
          <a:bodyPr wrap="square" lIns="0" tIns="0" rIns="0" bIns="0" rtlCol="0" anchor="t"/>
          <a:lstStyle/>
          <a:p>
            <a:pPr indent="0" marL="0">
              <a:lnSpc>
                <a:spcPts val="1300"/>
              </a:lnSpc>
              <a:buNone/>
            </a:pPr>
            <a:r>
              <a:rPr lang="en-US" sz="950" dirty="0">
                <a:solidFill>
                  <a:srgbClr val="5C7186"/>
                </a:solidFill>
                <a:latin typeface="Arial" pitchFamily="34" charset="0"/>
                <a:ea typeface="Arial" pitchFamily="34" charset="-122"/>
                <a:cs typeface="Arial" pitchFamily="34" charset="-120"/>
              </a:rPr>
              <a:t>Disponibilité des interfaces et qualité du rapprochement.</a:t>
            </a:r>
            <a:endParaRPr lang="en-US" sz="950" dirty="0"/>
          </a:p>
        </p:txBody>
      </p:sp>
      <p:sp>
        <p:nvSpPr>
          <p:cNvPr id="25" name="Shape 23"/>
          <p:cNvSpPr/>
          <p:nvPr/>
        </p:nvSpPr>
        <p:spPr>
          <a:xfrm>
            <a:off x="9438437" y="2423160"/>
            <a:ext cx="2069287" cy="2514600"/>
          </a:xfrm>
          <a:prstGeom prst="roundRect">
            <a:avLst>
              <a:gd name="adj" fmla="val 7070"/>
            </a:avLst>
          </a:prstGeom>
          <a:solidFill>
            <a:srgbClr val="F5F8FA"/>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26" name="Shape 24"/>
          <p:cNvSpPr/>
          <p:nvPr/>
        </p:nvSpPr>
        <p:spPr>
          <a:xfrm>
            <a:off x="9731045" y="2734056"/>
            <a:ext cx="402336" cy="402336"/>
          </a:xfrm>
          <a:prstGeom prst="roundRect">
            <a:avLst>
              <a:gd name="adj" fmla="val 30000"/>
            </a:avLst>
          </a:prstGeom>
          <a:solidFill>
            <a:srgbClr val="0BB165"/>
          </a:solidFill>
          <a:ln/>
        </p:spPr>
      </p:sp>
      <p:sp>
        <p:nvSpPr>
          <p:cNvPr id="27" name="Text 25"/>
          <p:cNvSpPr/>
          <p:nvPr/>
        </p:nvSpPr>
        <p:spPr>
          <a:xfrm>
            <a:off x="9731045" y="273405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05</a:t>
            </a:r>
            <a:endParaRPr lang="en-US" sz="1100" dirty="0"/>
          </a:p>
        </p:txBody>
      </p:sp>
      <p:sp>
        <p:nvSpPr>
          <p:cNvPr id="28" name="Text 26"/>
          <p:cNvSpPr/>
          <p:nvPr/>
        </p:nvSpPr>
        <p:spPr>
          <a:xfrm>
            <a:off x="9731045" y="3282696"/>
            <a:ext cx="1484071" cy="868680"/>
          </a:xfrm>
          <a:prstGeom prst="rect">
            <a:avLst/>
          </a:prstGeom>
          <a:noFill/>
          <a:ln/>
        </p:spPr>
        <p:txBody>
          <a:bodyPr wrap="square" lIns="0" tIns="0" rIns="0" bIns="0" rtlCol="0" anchor="t"/>
          <a:lstStyle/>
          <a:p>
            <a:pPr indent="0" marL="0">
              <a:lnSpc>
                <a:spcPts val="1600"/>
              </a:lnSpc>
              <a:buNone/>
            </a:pPr>
            <a:r>
              <a:rPr lang="en-US" sz="1250" b="1" dirty="0">
                <a:solidFill>
                  <a:srgbClr val="0B243E"/>
                </a:solidFill>
                <a:latin typeface="Arial" pitchFamily="34" charset="0"/>
                <a:ea typeface="Arial" pitchFamily="34" charset="-122"/>
                <a:cs typeface="Arial" pitchFamily="34" charset="-120"/>
              </a:rPr>
              <a:t>Adoption et volume transactionnel</a:t>
            </a:r>
            <a:endParaRPr lang="en-US" sz="1250" dirty="0"/>
          </a:p>
        </p:txBody>
      </p:sp>
      <p:sp>
        <p:nvSpPr>
          <p:cNvPr id="29" name="Text 27"/>
          <p:cNvSpPr/>
          <p:nvPr/>
        </p:nvSpPr>
        <p:spPr>
          <a:xfrm>
            <a:off x="9731045" y="4142232"/>
            <a:ext cx="1484071" cy="685800"/>
          </a:xfrm>
          <a:prstGeom prst="rect">
            <a:avLst/>
          </a:prstGeom>
          <a:noFill/>
          <a:ln/>
        </p:spPr>
        <p:txBody>
          <a:bodyPr wrap="square" lIns="0" tIns="0" rIns="0" bIns="0" rtlCol="0" anchor="t"/>
          <a:lstStyle/>
          <a:p>
            <a:pPr indent="0" marL="0">
              <a:lnSpc>
                <a:spcPts val="1300"/>
              </a:lnSpc>
              <a:buNone/>
            </a:pPr>
            <a:r>
              <a:rPr lang="en-US" sz="950" dirty="0">
                <a:solidFill>
                  <a:srgbClr val="5C7186"/>
                </a:solidFill>
                <a:latin typeface="Arial" pitchFamily="34" charset="0"/>
                <a:ea typeface="Arial" pitchFamily="34" charset="-122"/>
                <a:cs typeface="Arial" pitchFamily="34" charset="-120"/>
              </a:rPr>
              <a:t>Utilisateurs actifs et volumes constatés sur le périmètre du pilote.</a:t>
            </a:r>
            <a:endParaRPr lang="en-US" sz="950" dirty="0"/>
          </a:p>
        </p:txBody>
      </p:sp>
      <p:sp>
        <p:nvSpPr>
          <p:cNvPr id="30" name="Shape 28"/>
          <p:cNvSpPr/>
          <p:nvPr/>
        </p:nvSpPr>
        <p:spPr>
          <a:xfrm>
            <a:off x="685800" y="5285232"/>
            <a:ext cx="10820095" cy="548640"/>
          </a:xfrm>
          <a:prstGeom prst="roundRect">
            <a:avLst>
              <a:gd name="adj" fmla="val 20000"/>
            </a:avLst>
          </a:prstGeom>
          <a:solidFill>
            <a:srgbClr val="FFFFFF"/>
          </a:solidFill>
          <a:ln w="12700">
            <a:solidFill>
              <a:srgbClr val="E1E9F0"/>
            </a:solidFill>
            <a:prstDash val="solid"/>
          </a:ln>
        </p:spPr>
      </p:sp>
      <p:sp>
        <p:nvSpPr>
          <p:cNvPr id="31" name="Text 29"/>
          <p:cNvSpPr/>
          <p:nvPr/>
        </p:nvSpPr>
        <p:spPr>
          <a:xfrm>
            <a:off x="960120" y="5285232"/>
            <a:ext cx="10271455" cy="548640"/>
          </a:xfrm>
          <a:prstGeom prst="rect">
            <a:avLst/>
          </a:prstGeom>
          <a:noFill/>
          <a:ln/>
        </p:spPr>
        <p:txBody>
          <a:bodyPr wrap="square" lIns="0" tIns="0" rIns="0" bIns="0" rtlCol="0" anchor="ctr"/>
          <a:lstStyle/>
          <a:p>
            <a:pPr indent="0" marL="0">
              <a:buNone/>
            </a:pPr>
            <a:r>
              <a:rPr lang="en-US" sz="1050" dirty="0">
                <a:solidFill>
                  <a:srgbClr val="0B243E"/>
                </a:solidFill>
                <a:latin typeface="Arial" pitchFamily="34" charset="0"/>
                <a:ea typeface="Arial" pitchFamily="34" charset="-122"/>
                <a:cs typeface="Arial" pitchFamily="34" charset="-120"/>
              </a:rPr>
              <a:t>Les objectifs quantitatifs définitifs seront convenus conjointement avant le lancement du pilote.</a:t>
            </a:r>
            <a:endParaRPr lang="en-US" sz="1050" dirty="0"/>
          </a:p>
        </p:txBody>
      </p:sp>
      <p:sp>
        <p:nvSpPr>
          <p:cNvPr id="32" name="Text 30"/>
          <p:cNvSpPr/>
          <p:nvPr/>
        </p:nvSpPr>
        <p:spPr>
          <a:xfrm>
            <a:off x="685800" y="6327648"/>
            <a:ext cx="7772400" cy="256032"/>
          </a:xfrm>
          <a:prstGeom prst="rect">
            <a:avLst/>
          </a:prstGeom>
          <a:noFill/>
          <a:ln/>
        </p:spPr>
        <p:txBody>
          <a:bodyPr wrap="square" lIns="0" tIns="0" rIns="0" bIns="0" rtlCol="0" anchor="ctr"/>
          <a:lstStyle/>
          <a:p>
            <a:pPr indent="0" marL="0">
              <a:buNone/>
            </a:pPr>
            <a:r>
              <a:rPr lang="en-US" sz="850" dirty="0">
                <a:solidFill>
                  <a:srgbClr val="9AAABA"/>
                </a:solidFill>
                <a:latin typeface="Arial" pitchFamily="34" charset="0"/>
                <a:ea typeface="Arial" pitchFamily="34" charset="-122"/>
                <a:cs typeface="Arial" pitchFamily="34" charset="-120"/>
              </a:rPr>
              <a:t>Cambiste × Moov Côte d'Ivoire  —  Proposition de pilote  —  Document confidentiel</a:t>
            </a:r>
            <a:endParaRPr lang="en-US" sz="850" dirty="0"/>
          </a:p>
        </p:txBody>
      </p:sp>
      <p:sp>
        <p:nvSpPr>
          <p:cNvPr id="33" name="Text 31"/>
          <p:cNvSpPr/>
          <p:nvPr/>
        </p:nvSpPr>
        <p:spPr>
          <a:xfrm>
            <a:off x="10591495" y="6327648"/>
            <a:ext cx="914400" cy="256032"/>
          </a:xfrm>
          <a:prstGeom prst="rect">
            <a:avLst/>
          </a:prstGeom>
          <a:noFill/>
          <a:ln/>
        </p:spPr>
        <p:txBody>
          <a:bodyPr wrap="square" lIns="0" tIns="0" rIns="0" bIns="0" rtlCol="0" anchor="ctr"/>
          <a:lstStyle/>
          <a:p>
            <a:pPr algn="r" indent="0" marL="0">
              <a:buNone/>
            </a:pPr>
            <a:r>
              <a:rPr lang="en-US" sz="850" b="1" dirty="0">
                <a:solidFill>
                  <a:srgbClr val="9AAABA"/>
                </a:solidFill>
                <a:latin typeface="Arial" pitchFamily="34" charset="0"/>
                <a:ea typeface="Arial" pitchFamily="34" charset="-122"/>
                <a:cs typeface="Arial" pitchFamily="34" charset="-120"/>
              </a:rPr>
              <a:t>08</a:t>
            </a:r>
            <a:endParaRPr lang="en-US" sz="850" dirty="0"/>
          </a:p>
        </p:txBody>
      </p:sp>
      <p:pic>
        <p:nvPicPr>
          <p:cNvPr id="34" name="Image 0" descr="/home/user/print-function-file-argument/deck/assets/mark.png">    </p:cNvPr>
          <p:cNvPicPr>
            <a:picLocks noChangeAspect="1"/>
          </p:cNvPicPr>
          <p:nvPr/>
        </p:nvPicPr>
        <p:blipFill>
          <a:blip r:embed="rId1"/>
          <a:stretch>
            <a:fillRect/>
          </a:stretch>
        </p:blipFill>
        <p:spPr>
          <a:xfrm>
            <a:off x="11213287" y="457200"/>
            <a:ext cx="292608" cy="228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CFD"/>
        </a:solidFill>
      </p:bgPr>
    </p:bg>
    <p:spTree>
      <p:nvGrpSpPr>
        <p:cNvPr id="1" name=""/>
        <p:cNvGrpSpPr/>
        <p:nvPr/>
      </p:nvGrpSpPr>
      <p:grpSpPr>
        <a:xfrm>
          <a:off x="0" y="0"/>
          <a:ext cx="0" cy="0"/>
          <a:chOff x="0" y="0"/>
          <a:chExt cx="0" cy="0"/>
        </a:xfrm>
      </p:grpSpPr>
      <p:sp>
        <p:nvSpPr>
          <p:cNvPr id="2" name="Text 0"/>
          <p:cNvSpPr/>
          <p:nvPr/>
        </p:nvSpPr>
        <p:spPr>
          <a:xfrm>
            <a:off x="685800" y="566928"/>
            <a:ext cx="5486400" cy="237744"/>
          </a:xfrm>
          <a:prstGeom prst="rect">
            <a:avLst/>
          </a:prstGeom>
          <a:noFill/>
          <a:ln/>
        </p:spPr>
        <p:txBody>
          <a:bodyPr wrap="square" lIns="0" tIns="0" rIns="0" bIns="0" rtlCol="0" anchor="ctr"/>
          <a:lstStyle/>
          <a:p>
            <a:pPr indent="0" marL="0">
              <a:buNone/>
            </a:pPr>
            <a:r>
              <a:rPr lang="en-US" sz="1050" b="1" spc="200" kern="0" dirty="0">
                <a:solidFill>
                  <a:srgbClr val="0BB165"/>
                </a:solidFill>
                <a:latin typeface="Arial" pitchFamily="34" charset="0"/>
                <a:ea typeface="Arial" pitchFamily="34" charset="-122"/>
                <a:cs typeface="Arial" pitchFamily="34" charset="-120"/>
              </a:rPr>
              <a:t>MÉTHODE</a:t>
            </a:r>
            <a:endParaRPr lang="en-US" sz="1050" dirty="0"/>
          </a:p>
        </p:txBody>
      </p:sp>
      <p:sp>
        <p:nvSpPr>
          <p:cNvPr id="3" name="Text 1"/>
          <p:cNvSpPr/>
          <p:nvPr/>
        </p:nvSpPr>
        <p:spPr>
          <a:xfrm>
            <a:off x="685800" y="868680"/>
            <a:ext cx="9692640" cy="777240"/>
          </a:xfrm>
          <a:prstGeom prst="rect">
            <a:avLst/>
          </a:prstGeom>
          <a:noFill/>
          <a:ln/>
        </p:spPr>
        <p:txBody>
          <a:bodyPr wrap="square" lIns="0" tIns="0" rIns="0" bIns="0" rtlCol="0" anchor="ctr"/>
          <a:lstStyle/>
          <a:p>
            <a:pPr indent="0" marL="0">
              <a:buNone/>
            </a:pPr>
            <a:r>
              <a:rPr lang="en-US" sz="3200" b="1" spc="-30" kern="0" dirty="0">
                <a:solidFill>
                  <a:srgbClr val="0B243E"/>
                </a:solidFill>
                <a:latin typeface="Arial" pitchFamily="34" charset="0"/>
                <a:ea typeface="Arial" pitchFamily="34" charset="-122"/>
                <a:cs typeface="Arial" pitchFamily="34" charset="-120"/>
              </a:rPr>
              <a:t>Un chemin structuré vers la mise en production</a:t>
            </a:r>
            <a:endParaRPr lang="en-US" sz="3200" dirty="0"/>
          </a:p>
        </p:txBody>
      </p:sp>
      <p:sp>
        <p:nvSpPr>
          <p:cNvPr id="4" name="Shape 2"/>
          <p:cNvSpPr/>
          <p:nvPr/>
        </p:nvSpPr>
        <p:spPr>
          <a:xfrm>
            <a:off x="1505102" y="2843784"/>
            <a:ext cx="9180576" cy="0"/>
          </a:xfrm>
          <a:prstGeom prst="line">
            <a:avLst/>
          </a:prstGeom>
          <a:noFill/>
          <a:ln w="15875">
            <a:solidFill>
              <a:srgbClr val="D6E0E9"/>
            </a:solidFill>
            <a:prstDash val="solid"/>
          </a:ln>
        </p:spPr>
      </p:sp>
      <p:sp>
        <p:nvSpPr>
          <p:cNvPr id="5" name="Shape 3"/>
          <p:cNvSpPr/>
          <p:nvPr/>
        </p:nvSpPr>
        <p:spPr>
          <a:xfrm>
            <a:off x="685800" y="2240280"/>
            <a:ext cx="1638605" cy="2880360"/>
          </a:xfrm>
          <a:prstGeom prst="roundRect">
            <a:avLst>
              <a:gd name="adj" fmla="val 8929"/>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6" name="Shape 4"/>
          <p:cNvSpPr/>
          <p:nvPr/>
        </p:nvSpPr>
        <p:spPr>
          <a:xfrm>
            <a:off x="1221638" y="2560320"/>
            <a:ext cx="566928" cy="566928"/>
          </a:xfrm>
          <a:prstGeom prst="roundRect">
            <a:avLst>
              <a:gd name="adj" fmla="val 30645"/>
            </a:avLst>
          </a:prstGeom>
          <a:solidFill>
            <a:srgbClr val="0BB165"/>
          </a:solidFill>
          <a:ln/>
        </p:spPr>
      </p:sp>
      <p:sp>
        <p:nvSpPr>
          <p:cNvPr id="7" name="Text 5"/>
          <p:cNvSpPr/>
          <p:nvPr/>
        </p:nvSpPr>
        <p:spPr>
          <a:xfrm>
            <a:off x="1221638" y="256032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01</a:t>
            </a:r>
            <a:endParaRPr lang="en-US" sz="1400" dirty="0"/>
          </a:p>
        </p:txBody>
      </p:sp>
      <p:sp>
        <p:nvSpPr>
          <p:cNvPr id="8" name="Text 6"/>
          <p:cNvSpPr/>
          <p:nvPr/>
        </p:nvSpPr>
        <p:spPr>
          <a:xfrm>
            <a:off x="868680" y="3291840"/>
            <a:ext cx="1272845" cy="868680"/>
          </a:xfrm>
          <a:prstGeom prst="rect">
            <a:avLst/>
          </a:prstGeom>
          <a:noFill/>
          <a:ln/>
        </p:spPr>
        <p:txBody>
          <a:bodyPr wrap="square" lIns="0" tIns="0" rIns="0" bIns="0" rtlCol="0" anchor="t"/>
          <a:lstStyle/>
          <a:p>
            <a:pPr algn="ctr" indent="0" marL="0">
              <a:lnSpc>
                <a:spcPts val="1500"/>
              </a:lnSpc>
              <a:buNone/>
            </a:pPr>
            <a:r>
              <a:rPr lang="en-US" sz="1150" b="1" dirty="0">
                <a:solidFill>
                  <a:srgbClr val="0B243E"/>
                </a:solidFill>
                <a:latin typeface="Arial" pitchFamily="34" charset="0"/>
                <a:ea typeface="Arial" pitchFamily="34" charset="-122"/>
                <a:cs typeface="Arial" pitchFamily="34" charset="-120"/>
              </a:rPr>
              <a:t>Cadrage commercial</a:t>
            </a:r>
            <a:endParaRPr lang="en-US" sz="1150" dirty="0"/>
          </a:p>
          <a:p>
            <a:pPr algn="ctr" indent="0" marL="0">
              <a:lnSpc>
                <a:spcPts val="1500"/>
              </a:lnSpc>
              <a:buNone/>
            </a:pPr>
            <a:r>
              <a:rPr lang="en-US" sz="1150" b="1" dirty="0">
                <a:solidFill>
                  <a:srgbClr val="0B243E"/>
                </a:solidFill>
                <a:latin typeface="Arial" pitchFamily="34" charset="0"/>
                <a:ea typeface="Arial" pitchFamily="34" charset="-122"/>
                <a:cs typeface="Arial" pitchFamily="34" charset="-120"/>
              </a:rPr>
              <a:t>&amp; conformité</a:t>
            </a:r>
            <a:endParaRPr lang="en-US" sz="1150" dirty="0"/>
          </a:p>
        </p:txBody>
      </p:sp>
      <p:sp>
        <p:nvSpPr>
          <p:cNvPr id="9" name="Text 7"/>
          <p:cNvSpPr/>
          <p:nvPr/>
        </p:nvSpPr>
        <p:spPr>
          <a:xfrm>
            <a:off x="868680" y="4178808"/>
            <a:ext cx="1272845" cy="777240"/>
          </a:xfrm>
          <a:prstGeom prst="rect">
            <a:avLst/>
          </a:prstGeom>
          <a:noFill/>
          <a:ln/>
        </p:spPr>
        <p:txBody>
          <a:bodyPr wrap="square" lIns="0" tIns="0" rIns="0" bIns="0" rtlCol="0" anchor="t"/>
          <a:lstStyle/>
          <a:p>
            <a:pPr algn="ctr" indent="0" marL="0">
              <a:lnSpc>
                <a:spcPts val="1200"/>
              </a:lnSpc>
              <a:buNone/>
            </a:pPr>
            <a:r>
              <a:rPr lang="en-US" sz="900" dirty="0">
                <a:solidFill>
                  <a:srgbClr val="5C7186"/>
                </a:solidFill>
                <a:latin typeface="Arial" pitchFamily="34" charset="0"/>
                <a:ea typeface="Arial" pitchFamily="34" charset="-122"/>
                <a:cs typeface="Arial" pitchFamily="34" charset="-120"/>
              </a:rPr>
              <a:t>Périmètre, corridors, population éligible et exigences de contrôle.</a:t>
            </a:r>
            <a:endParaRPr lang="en-US" sz="900" dirty="0"/>
          </a:p>
        </p:txBody>
      </p:sp>
      <p:sp>
        <p:nvSpPr>
          <p:cNvPr id="10" name="Shape 8"/>
          <p:cNvSpPr/>
          <p:nvPr/>
        </p:nvSpPr>
        <p:spPr>
          <a:xfrm>
            <a:off x="2521915" y="2240280"/>
            <a:ext cx="1638605" cy="2880360"/>
          </a:xfrm>
          <a:prstGeom prst="roundRect">
            <a:avLst>
              <a:gd name="adj" fmla="val 8929"/>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11" name="Shape 9"/>
          <p:cNvSpPr/>
          <p:nvPr/>
        </p:nvSpPr>
        <p:spPr>
          <a:xfrm>
            <a:off x="3057754" y="2560320"/>
            <a:ext cx="566928" cy="566928"/>
          </a:xfrm>
          <a:prstGeom prst="roundRect">
            <a:avLst>
              <a:gd name="adj" fmla="val 30645"/>
            </a:avLst>
          </a:prstGeom>
          <a:solidFill>
            <a:srgbClr val="0BB165"/>
          </a:solidFill>
          <a:ln/>
        </p:spPr>
      </p:sp>
      <p:sp>
        <p:nvSpPr>
          <p:cNvPr id="12" name="Text 10"/>
          <p:cNvSpPr/>
          <p:nvPr/>
        </p:nvSpPr>
        <p:spPr>
          <a:xfrm>
            <a:off x="3057754" y="256032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02</a:t>
            </a:r>
            <a:endParaRPr lang="en-US" sz="1400" dirty="0"/>
          </a:p>
        </p:txBody>
      </p:sp>
      <p:sp>
        <p:nvSpPr>
          <p:cNvPr id="13" name="Text 11"/>
          <p:cNvSpPr/>
          <p:nvPr/>
        </p:nvSpPr>
        <p:spPr>
          <a:xfrm>
            <a:off x="2704795" y="3291840"/>
            <a:ext cx="1272845" cy="868680"/>
          </a:xfrm>
          <a:prstGeom prst="rect">
            <a:avLst/>
          </a:prstGeom>
          <a:noFill/>
          <a:ln/>
        </p:spPr>
        <p:txBody>
          <a:bodyPr wrap="square" lIns="0" tIns="0" rIns="0" bIns="0" rtlCol="0" anchor="t"/>
          <a:lstStyle/>
          <a:p>
            <a:pPr algn="ctr" indent="0" marL="0">
              <a:lnSpc>
                <a:spcPts val="1500"/>
              </a:lnSpc>
              <a:buNone/>
            </a:pPr>
            <a:r>
              <a:rPr lang="en-US" sz="1150" b="1" dirty="0">
                <a:solidFill>
                  <a:srgbClr val="0B243E"/>
                </a:solidFill>
                <a:latin typeface="Arial" pitchFamily="34" charset="0"/>
                <a:ea typeface="Arial" pitchFamily="34" charset="-122"/>
                <a:cs typeface="Arial" pitchFamily="34" charset="-120"/>
              </a:rPr>
              <a:t>Validation du modèle</a:t>
            </a:r>
            <a:endParaRPr lang="en-US" sz="1150" dirty="0"/>
          </a:p>
          <a:p>
            <a:pPr algn="ctr" indent="0" marL="0">
              <a:lnSpc>
                <a:spcPts val="1500"/>
              </a:lnSpc>
              <a:buNone/>
            </a:pPr>
            <a:r>
              <a:rPr lang="en-US" sz="1150" b="1" dirty="0">
                <a:solidFill>
                  <a:srgbClr val="0B243E"/>
                </a:solidFill>
                <a:latin typeface="Arial" pitchFamily="34" charset="0"/>
                <a:ea typeface="Arial" pitchFamily="34" charset="-122"/>
                <a:cs typeface="Arial" pitchFamily="34" charset="-120"/>
              </a:rPr>
              <a:t>opérationnel</a:t>
            </a:r>
            <a:endParaRPr lang="en-US" sz="1150" dirty="0"/>
          </a:p>
        </p:txBody>
      </p:sp>
      <p:sp>
        <p:nvSpPr>
          <p:cNvPr id="14" name="Text 12"/>
          <p:cNvSpPr/>
          <p:nvPr/>
        </p:nvSpPr>
        <p:spPr>
          <a:xfrm>
            <a:off x="2704795" y="4178808"/>
            <a:ext cx="1272845" cy="777240"/>
          </a:xfrm>
          <a:prstGeom prst="rect">
            <a:avLst/>
          </a:prstGeom>
          <a:noFill/>
          <a:ln/>
        </p:spPr>
        <p:txBody>
          <a:bodyPr wrap="square" lIns="0" tIns="0" rIns="0" bIns="0" rtlCol="0" anchor="t"/>
          <a:lstStyle/>
          <a:p>
            <a:pPr algn="ctr" indent="0" marL="0">
              <a:lnSpc>
                <a:spcPts val="1200"/>
              </a:lnSpc>
              <a:buNone/>
            </a:pPr>
            <a:r>
              <a:rPr lang="en-US" sz="900" dirty="0">
                <a:solidFill>
                  <a:srgbClr val="5C7186"/>
                </a:solidFill>
                <a:latin typeface="Arial" pitchFamily="34" charset="0"/>
                <a:ea typeface="Arial" pitchFamily="34" charset="-122"/>
                <a:cs typeface="Arial" pitchFamily="34" charset="-120"/>
              </a:rPr>
              <a:t>Parcours, responsabilités, règles transactionnelles et escalade.</a:t>
            </a:r>
            <a:endParaRPr lang="en-US" sz="900" dirty="0"/>
          </a:p>
        </p:txBody>
      </p:sp>
      <p:sp>
        <p:nvSpPr>
          <p:cNvPr id="15" name="Shape 13"/>
          <p:cNvSpPr/>
          <p:nvPr/>
        </p:nvSpPr>
        <p:spPr>
          <a:xfrm>
            <a:off x="4358030" y="2240280"/>
            <a:ext cx="1638605" cy="2880360"/>
          </a:xfrm>
          <a:prstGeom prst="roundRect">
            <a:avLst>
              <a:gd name="adj" fmla="val 8929"/>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16" name="Shape 14"/>
          <p:cNvSpPr/>
          <p:nvPr/>
        </p:nvSpPr>
        <p:spPr>
          <a:xfrm>
            <a:off x="4893869" y="2560320"/>
            <a:ext cx="566928" cy="566928"/>
          </a:xfrm>
          <a:prstGeom prst="roundRect">
            <a:avLst>
              <a:gd name="adj" fmla="val 30645"/>
            </a:avLst>
          </a:prstGeom>
          <a:solidFill>
            <a:srgbClr val="0BB165"/>
          </a:solidFill>
          <a:ln/>
        </p:spPr>
      </p:sp>
      <p:sp>
        <p:nvSpPr>
          <p:cNvPr id="17" name="Text 15"/>
          <p:cNvSpPr/>
          <p:nvPr/>
        </p:nvSpPr>
        <p:spPr>
          <a:xfrm>
            <a:off x="4893869" y="256032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03</a:t>
            </a:r>
            <a:endParaRPr lang="en-US" sz="1400" dirty="0"/>
          </a:p>
        </p:txBody>
      </p:sp>
      <p:sp>
        <p:nvSpPr>
          <p:cNvPr id="18" name="Text 16"/>
          <p:cNvSpPr/>
          <p:nvPr/>
        </p:nvSpPr>
        <p:spPr>
          <a:xfrm>
            <a:off x="4540910" y="3291840"/>
            <a:ext cx="1272845" cy="868680"/>
          </a:xfrm>
          <a:prstGeom prst="rect">
            <a:avLst/>
          </a:prstGeom>
          <a:noFill/>
          <a:ln/>
        </p:spPr>
        <p:txBody>
          <a:bodyPr wrap="square" lIns="0" tIns="0" rIns="0" bIns="0" rtlCol="0" anchor="t"/>
          <a:lstStyle/>
          <a:p>
            <a:pPr algn="ctr" indent="0" marL="0">
              <a:lnSpc>
                <a:spcPts val="1500"/>
              </a:lnSpc>
              <a:buNone/>
            </a:pPr>
            <a:r>
              <a:rPr lang="en-US" sz="1150" b="1" dirty="0">
                <a:solidFill>
                  <a:srgbClr val="0B243E"/>
                </a:solidFill>
                <a:latin typeface="Arial" pitchFamily="34" charset="0"/>
                <a:ea typeface="Arial" pitchFamily="34" charset="-122"/>
                <a:cs typeface="Arial" pitchFamily="34" charset="-120"/>
              </a:rPr>
              <a:t>Intégration API</a:t>
            </a:r>
            <a:endParaRPr lang="en-US" sz="1150" dirty="0"/>
          </a:p>
        </p:txBody>
      </p:sp>
      <p:sp>
        <p:nvSpPr>
          <p:cNvPr id="19" name="Text 17"/>
          <p:cNvSpPr/>
          <p:nvPr/>
        </p:nvSpPr>
        <p:spPr>
          <a:xfrm>
            <a:off x="4540910" y="4178808"/>
            <a:ext cx="1272845" cy="777240"/>
          </a:xfrm>
          <a:prstGeom prst="rect">
            <a:avLst/>
          </a:prstGeom>
          <a:noFill/>
          <a:ln/>
        </p:spPr>
        <p:txBody>
          <a:bodyPr wrap="square" lIns="0" tIns="0" rIns="0" bIns="0" rtlCol="0" anchor="t"/>
          <a:lstStyle/>
          <a:p>
            <a:pPr algn="ctr" indent="0" marL="0">
              <a:lnSpc>
                <a:spcPts val="1200"/>
              </a:lnSpc>
              <a:buNone/>
            </a:pPr>
            <a:r>
              <a:rPr lang="en-US" sz="900" dirty="0">
                <a:solidFill>
                  <a:srgbClr val="5C7186"/>
                </a:solidFill>
                <a:latin typeface="Arial" pitchFamily="34" charset="0"/>
                <a:ea typeface="Arial" pitchFamily="34" charset="-122"/>
                <a:cs typeface="Arial" pitchFamily="34" charset="-120"/>
              </a:rPr>
              <a:t>Connexion technique avec l'environnement Mobile Money.</a:t>
            </a:r>
            <a:endParaRPr lang="en-US" sz="900" dirty="0"/>
          </a:p>
        </p:txBody>
      </p:sp>
      <p:sp>
        <p:nvSpPr>
          <p:cNvPr id="20" name="Shape 18"/>
          <p:cNvSpPr/>
          <p:nvPr/>
        </p:nvSpPr>
        <p:spPr>
          <a:xfrm>
            <a:off x="6194146" y="2240280"/>
            <a:ext cx="1638605" cy="2880360"/>
          </a:xfrm>
          <a:prstGeom prst="roundRect">
            <a:avLst>
              <a:gd name="adj" fmla="val 8929"/>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21" name="Shape 19"/>
          <p:cNvSpPr/>
          <p:nvPr/>
        </p:nvSpPr>
        <p:spPr>
          <a:xfrm>
            <a:off x="6729984" y="2560320"/>
            <a:ext cx="566928" cy="566928"/>
          </a:xfrm>
          <a:prstGeom prst="roundRect">
            <a:avLst>
              <a:gd name="adj" fmla="val 30645"/>
            </a:avLst>
          </a:prstGeom>
          <a:solidFill>
            <a:srgbClr val="0BB165"/>
          </a:solidFill>
          <a:ln/>
        </p:spPr>
      </p:sp>
      <p:sp>
        <p:nvSpPr>
          <p:cNvPr id="22" name="Text 20"/>
          <p:cNvSpPr/>
          <p:nvPr/>
        </p:nvSpPr>
        <p:spPr>
          <a:xfrm>
            <a:off x="6729984" y="256032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04</a:t>
            </a:r>
            <a:endParaRPr lang="en-US" sz="1400" dirty="0"/>
          </a:p>
        </p:txBody>
      </p:sp>
      <p:sp>
        <p:nvSpPr>
          <p:cNvPr id="23" name="Text 21"/>
          <p:cNvSpPr/>
          <p:nvPr/>
        </p:nvSpPr>
        <p:spPr>
          <a:xfrm>
            <a:off x="6377026" y="3291840"/>
            <a:ext cx="1272845" cy="868680"/>
          </a:xfrm>
          <a:prstGeom prst="rect">
            <a:avLst/>
          </a:prstGeom>
          <a:noFill/>
          <a:ln/>
        </p:spPr>
        <p:txBody>
          <a:bodyPr wrap="square" lIns="0" tIns="0" rIns="0" bIns="0" rtlCol="0" anchor="t"/>
          <a:lstStyle/>
          <a:p>
            <a:pPr algn="ctr" indent="0" marL="0">
              <a:lnSpc>
                <a:spcPts val="1500"/>
              </a:lnSpc>
              <a:buNone/>
            </a:pPr>
            <a:r>
              <a:rPr lang="en-US" sz="1150" b="1" dirty="0">
                <a:solidFill>
                  <a:srgbClr val="0B243E"/>
                </a:solidFill>
                <a:latin typeface="Arial" pitchFamily="34" charset="0"/>
                <a:ea typeface="Arial" pitchFamily="34" charset="-122"/>
                <a:cs typeface="Arial" pitchFamily="34" charset="-120"/>
              </a:rPr>
              <a:t>Tests &amp; recette</a:t>
            </a:r>
            <a:endParaRPr lang="en-US" sz="1150" dirty="0"/>
          </a:p>
        </p:txBody>
      </p:sp>
      <p:sp>
        <p:nvSpPr>
          <p:cNvPr id="24" name="Text 22"/>
          <p:cNvSpPr/>
          <p:nvPr/>
        </p:nvSpPr>
        <p:spPr>
          <a:xfrm>
            <a:off x="6377026" y="4178808"/>
            <a:ext cx="1272845" cy="777240"/>
          </a:xfrm>
          <a:prstGeom prst="rect">
            <a:avLst/>
          </a:prstGeom>
          <a:noFill/>
          <a:ln/>
        </p:spPr>
        <p:txBody>
          <a:bodyPr wrap="square" lIns="0" tIns="0" rIns="0" bIns="0" rtlCol="0" anchor="t"/>
          <a:lstStyle/>
          <a:p>
            <a:pPr algn="ctr" indent="0" marL="0">
              <a:lnSpc>
                <a:spcPts val="1200"/>
              </a:lnSpc>
              <a:buNone/>
            </a:pPr>
            <a:r>
              <a:rPr lang="en-US" sz="900" dirty="0">
                <a:solidFill>
                  <a:srgbClr val="5C7186"/>
                </a:solidFill>
                <a:latin typeface="Arial" pitchFamily="34" charset="0"/>
                <a:ea typeface="Arial" pitchFamily="34" charset="-122"/>
                <a:cs typeface="Arial" pitchFamily="34" charset="-120"/>
              </a:rPr>
              <a:t>Scénarios fonctionnels, cas d'exception et validation conjointe.</a:t>
            </a:r>
            <a:endParaRPr lang="en-US" sz="900" dirty="0"/>
          </a:p>
        </p:txBody>
      </p:sp>
      <p:sp>
        <p:nvSpPr>
          <p:cNvPr id="25" name="Shape 23"/>
          <p:cNvSpPr/>
          <p:nvPr/>
        </p:nvSpPr>
        <p:spPr>
          <a:xfrm>
            <a:off x="8030261" y="2240280"/>
            <a:ext cx="1638605" cy="2880360"/>
          </a:xfrm>
          <a:prstGeom prst="roundRect">
            <a:avLst>
              <a:gd name="adj" fmla="val 8929"/>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26" name="Shape 24"/>
          <p:cNvSpPr/>
          <p:nvPr/>
        </p:nvSpPr>
        <p:spPr>
          <a:xfrm>
            <a:off x="8566099" y="2560320"/>
            <a:ext cx="566928" cy="566928"/>
          </a:xfrm>
          <a:prstGeom prst="roundRect">
            <a:avLst>
              <a:gd name="adj" fmla="val 30645"/>
            </a:avLst>
          </a:prstGeom>
          <a:solidFill>
            <a:srgbClr val="0BB165"/>
          </a:solidFill>
          <a:ln/>
        </p:spPr>
      </p:sp>
      <p:sp>
        <p:nvSpPr>
          <p:cNvPr id="27" name="Text 25"/>
          <p:cNvSpPr/>
          <p:nvPr/>
        </p:nvSpPr>
        <p:spPr>
          <a:xfrm>
            <a:off x="8566099" y="256032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05</a:t>
            </a:r>
            <a:endParaRPr lang="en-US" sz="1400" dirty="0"/>
          </a:p>
        </p:txBody>
      </p:sp>
      <p:sp>
        <p:nvSpPr>
          <p:cNvPr id="28" name="Text 26"/>
          <p:cNvSpPr/>
          <p:nvPr/>
        </p:nvSpPr>
        <p:spPr>
          <a:xfrm>
            <a:off x="8213141" y="3291840"/>
            <a:ext cx="1272845" cy="868680"/>
          </a:xfrm>
          <a:prstGeom prst="rect">
            <a:avLst/>
          </a:prstGeom>
          <a:noFill/>
          <a:ln/>
        </p:spPr>
        <p:txBody>
          <a:bodyPr wrap="square" lIns="0" tIns="0" rIns="0" bIns="0" rtlCol="0" anchor="t"/>
          <a:lstStyle/>
          <a:p>
            <a:pPr algn="ctr" indent="0" marL="0">
              <a:lnSpc>
                <a:spcPts val="1500"/>
              </a:lnSpc>
              <a:buNone/>
            </a:pPr>
            <a:r>
              <a:rPr lang="en-US" sz="1150" b="1" dirty="0">
                <a:solidFill>
                  <a:srgbClr val="0B243E"/>
                </a:solidFill>
                <a:latin typeface="Arial" pitchFamily="34" charset="0"/>
                <a:ea typeface="Arial" pitchFamily="34" charset="-122"/>
                <a:cs typeface="Arial" pitchFamily="34" charset="-120"/>
              </a:rPr>
              <a:t>Lancement du pilote</a:t>
            </a:r>
            <a:endParaRPr lang="en-US" sz="1150" dirty="0"/>
          </a:p>
          <a:p>
            <a:pPr algn="ctr" indent="0" marL="0">
              <a:lnSpc>
                <a:spcPts val="1500"/>
              </a:lnSpc>
              <a:buNone/>
            </a:pPr>
            <a:r>
              <a:rPr lang="en-US" sz="1150" b="1" dirty="0">
                <a:solidFill>
                  <a:srgbClr val="0B243E"/>
                </a:solidFill>
                <a:latin typeface="Arial" pitchFamily="34" charset="0"/>
                <a:ea typeface="Arial" pitchFamily="34" charset="-122"/>
                <a:cs typeface="Arial" pitchFamily="34" charset="-120"/>
              </a:rPr>
              <a:t>encadré</a:t>
            </a:r>
            <a:endParaRPr lang="en-US" sz="1150" dirty="0"/>
          </a:p>
        </p:txBody>
      </p:sp>
      <p:sp>
        <p:nvSpPr>
          <p:cNvPr id="29" name="Text 27"/>
          <p:cNvSpPr/>
          <p:nvPr/>
        </p:nvSpPr>
        <p:spPr>
          <a:xfrm>
            <a:off x="8213141" y="4178808"/>
            <a:ext cx="1272845" cy="777240"/>
          </a:xfrm>
          <a:prstGeom prst="rect">
            <a:avLst/>
          </a:prstGeom>
          <a:noFill/>
          <a:ln/>
        </p:spPr>
        <p:txBody>
          <a:bodyPr wrap="square" lIns="0" tIns="0" rIns="0" bIns="0" rtlCol="0" anchor="t"/>
          <a:lstStyle/>
          <a:p>
            <a:pPr algn="ctr" indent="0" marL="0">
              <a:lnSpc>
                <a:spcPts val="1200"/>
              </a:lnSpc>
              <a:buNone/>
            </a:pPr>
            <a:r>
              <a:rPr lang="en-US" sz="900" dirty="0">
                <a:solidFill>
                  <a:srgbClr val="5C7186"/>
                </a:solidFill>
                <a:latin typeface="Arial" pitchFamily="34" charset="0"/>
                <a:ea typeface="Arial" pitchFamily="34" charset="-122"/>
                <a:cs typeface="Arial" pitchFamily="34" charset="-120"/>
              </a:rPr>
              <a:t>Mise en service sur un périmètre limité et sous surveillance.</a:t>
            </a:r>
            <a:endParaRPr lang="en-US" sz="900" dirty="0"/>
          </a:p>
        </p:txBody>
      </p:sp>
      <p:sp>
        <p:nvSpPr>
          <p:cNvPr id="30" name="Shape 28"/>
          <p:cNvSpPr/>
          <p:nvPr/>
        </p:nvSpPr>
        <p:spPr>
          <a:xfrm>
            <a:off x="9866376" y="2240280"/>
            <a:ext cx="1638605" cy="2880360"/>
          </a:xfrm>
          <a:prstGeom prst="roundRect">
            <a:avLst>
              <a:gd name="adj" fmla="val 8929"/>
            </a:avLst>
          </a:prstGeom>
          <a:solidFill>
            <a:srgbClr val="FFFFFF"/>
          </a:solidFill>
          <a:ln w="12700">
            <a:solidFill>
              <a:srgbClr val="E1E9F0"/>
            </a:solidFill>
            <a:prstDash val="solid"/>
          </a:ln>
          <a:effectLst>
            <a:outerShdw sx="100000" sy="100000" kx="0" ky="0" algn="bl" rotWithShape="0" blurRad="177800" dist="38100" dir="5400000">
              <a:srgbClr val="0B243E">
                <a:alpha val="9000"/>
              </a:srgbClr>
            </a:outerShdw>
          </a:effectLst>
        </p:spPr>
      </p:sp>
      <p:sp>
        <p:nvSpPr>
          <p:cNvPr id="31" name="Shape 29"/>
          <p:cNvSpPr/>
          <p:nvPr/>
        </p:nvSpPr>
        <p:spPr>
          <a:xfrm>
            <a:off x="10402214" y="2560320"/>
            <a:ext cx="566928" cy="566928"/>
          </a:xfrm>
          <a:prstGeom prst="roundRect">
            <a:avLst>
              <a:gd name="adj" fmla="val 30645"/>
            </a:avLst>
          </a:prstGeom>
          <a:solidFill>
            <a:srgbClr val="0B243E"/>
          </a:solidFill>
          <a:ln/>
        </p:spPr>
      </p:sp>
      <p:sp>
        <p:nvSpPr>
          <p:cNvPr id="32" name="Text 30"/>
          <p:cNvSpPr/>
          <p:nvPr/>
        </p:nvSpPr>
        <p:spPr>
          <a:xfrm>
            <a:off x="10402214" y="256032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06</a:t>
            </a:r>
            <a:endParaRPr lang="en-US" sz="1400" dirty="0"/>
          </a:p>
        </p:txBody>
      </p:sp>
      <p:sp>
        <p:nvSpPr>
          <p:cNvPr id="33" name="Text 31"/>
          <p:cNvSpPr/>
          <p:nvPr/>
        </p:nvSpPr>
        <p:spPr>
          <a:xfrm>
            <a:off x="10049256" y="3291840"/>
            <a:ext cx="1272845" cy="868680"/>
          </a:xfrm>
          <a:prstGeom prst="rect">
            <a:avLst/>
          </a:prstGeom>
          <a:noFill/>
          <a:ln/>
        </p:spPr>
        <p:txBody>
          <a:bodyPr wrap="square" lIns="0" tIns="0" rIns="0" bIns="0" rtlCol="0" anchor="t"/>
          <a:lstStyle/>
          <a:p>
            <a:pPr algn="ctr" indent="0" marL="0">
              <a:lnSpc>
                <a:spcPts val="1500"/>
              </a:lnSpc>
              <a:buNone/>
            </a:pPr>
            <a:r>
              <a:rPr lang="en-US" sz="1150" b="1" dirty="0">
                <a:solidFill>
                  <a:srgbClr val="0B243E"/>
                </a:solidFill>
                <a:latin typeface="Arial" pitchFamily="34" charset="0"/>
                <a:ea typeface="Arial" pitchFamily="34" charset="-122"/>
                <a:cs typeface="Arial" pitchFamily="34" charset="-120"/>
              </a:rPr>
              <a:t>Revue à 90 jours</a:t>
            </a:r>
            <a:endParaRPr lang="en-US" sz="1150" dirty="0"/>
          </a:p>
        </p:txBody>
      </p:sp>
      <p:sp>
        <p:nvSpPr>
          <p:cNvPr id="34" name="Text 32"/>
          <p:cNvSpPr/>
          <p:nvPr/>
        </p:nvSpPr>
        <p:spPr>
          <a:xfrm>
            <a:off x="10049256" y="4178808"/>
            <a:ext cx="1272845" cy="777240"/>
          </a:xfrm>
          <a:prstGeom prst="rect">
            <a:avLst/>
          </a:prstGeom>
          <a:noFill/>
          <a:ln/>
        </p:spPr>
        <p:txBody>
          <a:bodyPr wrap="square" lIns="0" tIns="0" rIns="0" bIns="0" rtlCol="0" anchor="t"/>
          <a:lstStyle/>
          <a:p>
            <a:pPr algn="ctr" indent="0" marL="0">
              <a:lnSpc>
                <a:spcPts val="1200"/>
              </a:lnSpc>
              <a:buNone/>
            </a:pPr>
            <a:r>
              <a:rPr lang="en-US" sz="900" dirty="0">
                <a:solidFill>
                  <a:srgbClr val="5C7186"/>
                </a:solidFill>
                <a:latin typeface="Arial" pitchFamily="34" charset="0"/>
                <a:ea typeface="Arial" pitchFamily="34" charset="-122"/>
                <a:cs typeface="Arial" pitchFamily="34" charset="-120"/>
              </a:rPr>
              <a:t>Analyse des indicateurs et décision conjointe sur la suite.</a:t>
            </a:r>
            <a:endParaRPr lang="en-US" sz="900" dirty="0"/>
          </a:p>
        </p:txBody>
      </p:sp>
      <p:sp>
        <p:nvSpPr>
          <p:cNvPr id="35" name="Text 33"/>
          <p:cNvSpPr/>
          <p:nvPr/>
        </p:nvSpPr>
        <p:spPr>
          <a:xfrm>
            <a:off x="685800" y="5486400"/>
            <a:ext cx="10820095" cy="292608"/>
          </a:xfrm>
          <a:prstGeom prst="rect">
            <a:avLst/>
          </a:prstGeom>
          <a:noFill/>
          <a:ln/>
        </p:spPr>
        <p:txBody>
          <a:bodyPr wrap="square" lIns="0" tIns="0" rIns="0" bIns="0" rtlCol="0" anchor="ctr"/>
          <a:lstStyle/>
          <a:p>
            <a:pPr algn="ctr" indent="0" marL="0">
              <a:buNone/>
            </a:pPr>
            <a:r>
              <a:rPr lang="en-US" sz="1050" i="1" dirty="0">
                <a:solidFill>
                  <a:srgbClr val="5C7186"/>
                </a:solidFill>
                <a:latin typeface="Arial" pitchFamily="34" charset="0"/>
                <a:ea typeface="Arial" pitchFamily="34" charset="-122"/>
                <a:cs typeface="Arial" pitchFamily="34" charset="-120"/>
              </a:rPr>
              <a:t>Le calendrier détaillé de chaque étape sera arrêté conjointement lors du cadrage.</a:t>
            </a:r>
            <a:endParaRPr lang="en-US" sz="1050" dirty="0"/>
          </a:p>
        </p:txBody>
      </p:sp>
      <p:sp>
        <p:nvSpPr>
          <p:cNvPr id="36" name="Text 34"/>
          <p:cNvSpPr/>
          <p:nvPr/>
        </p:nvSpPr>
        <p:spPr>
          <a:xfrm>
            <a:off x="685800" y="6327648"/>
            <a:ext cx="7772400" cy="256032"/>
          </a:xfrm>
          <a:prstGeom prst="rect">
            <a:avLst/>
          </a:prstGeom>
          <a:noFill/>
          <a:ln/>
        </p:spPr>
        <p:txBody>
          <a:bodyPr wrap="square" lIns="0" tIns="0" rIns="0" bIns="0" rtlCol="0" anchor="ctr"/>
          <a:lstStyle/>
          <a:p>
            <a:pPr indent="0" marL="0">
              <a:buNone/>
            </a:pPr>
            <a:r>
              <a:rPr lang="en-US" sz="850" dirty="0">
                <a:solidFill>
                  <a:srgbClr val="9AAABA"/>
                </a:solidFill>
                <a:latin typeface="Arial" pitchFamily="34" charset="0"/>
                <a:ea typeface="Arial" pitchFamily="34" charset="-122"/>
                <a:cs typeface="Arial" pitchFamily="34" charset="-120"/>
              </a:rPr>
              <a:t>Cambiste × Moov Côte d'Ivoire  —  Proposition de pilote  —  Document confidentiel</a:t>
            </a:r>
            <a:endParaRPr lang="en-US" sz="850" dirty="0"/>
          </a:p>
        </p:txBody>
      </p:sp>
      <p:sp>
        <p:nvSpPr>
          <p:cNvPr id="37" name="Text 35"/>
          <p:cNvSpPr/>
          <p:nvPr/>
        </p:nvSpPr>
        <p:spPr>
          <a:xfrm>
            <a:off x="10591495" y="6327648"/>
            <a:ext cx="914400" cy="256032"/>
          </a:xfrm>
          <a:prstGeom prst="rect">
            <a:avLst/>
          </a:prstGeom>
          <a:noFill/>
          <a:ln/>
        </p:spPr>
        <p:txBody>
          <a:bodyPr wrap="square" lIns="0" tIns="0" rIns="0" bIns="0" rtlCol="0" anchor="ctr"/>
          <a:lstStyle/>
          <a:p>
            <a:pPr algn="r" indent="0" marL="0">
              <a:buNone/>
            </a:pPr>
            <a:r>
              <a:rPr lang="en-US" sz="850" b="1" dirty="0">
                <a:solidFill>
                  <a:srgbClr val="9AAABA"/>
                </a:solidFill>
                <a:latin typeface="Arial" pitchFamily="34" charset="0"/>
                <a:ea typeface="Arial" pitchFamily="34" charset="-122"/>
                <a:cs typeface="Arial" pitchFamily="34" charset="-120"/>
              </a:rPr>
              <a:t>09</a:t>
            </a:r>
            <a:endParaRPr lang="en-US" sz="850" dirty="0"/>
          </a:p>
        </p:txBody>
      </p:sp>
      <p:pic>
        <p:nvPicPr>
          <p:cNvPr id="38" name="Image 0" descr="/home/user/print-function-file-argument/deck/assets/mark.png">    </p:cNvPr>
          <p:cNvPicPr>
            <a:picLocks noChangeAspect="1"/>
          </p:cNvPicPr>
          <p:nvPr/>
        </p:nvPicPr>
        <p:blipFill>
          <a:blip r:embed="rId1"/>
          <a:stretch>
            <a:fillRect/>
          </a:stretch>
        </p:blipFill>
        <p:spPr>
          <a:xfrm>
            <a:off x="11213287" y="457200"/>
            <a:ext cx="292608" cy="228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43E"/>
        </a:solidFill>
      </p:bgPr>
    </p:bg>
    <p:spTree>
      <p:nvGrpSpPr>
        <p:cNvPr id="1" name=""/>
        <p:cNvGrpSpPr/>
        <p:nvPr/>
      </p:nvGrpSpPr>
      <p:grpSpPr>
        <a:xfrm>
          <a:off x="0" y="0"/>
          <a:ext cx="0" cy="0"/>
          <a:chOff x="0" y="0"/>
          <a:chExt cx="0" cy="0"/>
        </a:xfrm>
      </p:grpSpPr>
      <p:sp>
        <p:nvSpPr>
          <p:cNvPr id="2" name="Shape 0"/>
          <p:cNvSpPr/>
          <p:nvPr/>
        </p:nvSpPr>
        <p:spPr>
          <a:xfrm>
            <a:off x="9646920" y="-2103120"/>
            <a:ext cx="5852160" cy="5852160"/>
          </a:xfrm>
          <a:prstGeom prst="roundRect">
            <a:avLst>
              <a:gd name="adj" fmla="val 28125"/>
            </a:avLst>
          </a:prstGeom>
          <a:solidFill>
            <a:srgbClr val="12304F"/>
          </a:solidFill>
          <a:ln/>
        </p:spPr>
      </p:sp>
      <p:pic>
        <p:nvPicPr>
          <p:cNvPr id="3" name="Image 0" descr="/home/user/print-function-file-argument/deck/assets/logo_light.png">    </p:cNvPr>
          <p:cNvPicPr>
            <a:picLocks noChangeAspect="1"/>
          </p:cNvPicPr>
          <p:nvPr/>
        </p:nvPicPr>
        <p:blipFill>
          <a:blip r:embed="rId1"/>
          <a:stretch>
            <a:fillRect/>
          </a:stretch>
        </p:blipFill>
        <p:spPr>
          <a:xfrm>
            <a:off x="685800" y="640080"/>
            <a:ext cx="2011680" cy="311810"/>
          </a:xfrm>
          <a:prstGeom prst="rect">
            <a:avLst/>
          </a:prstGeom>
        </p:spPr>
      </p:pic>
      <p:sp>
        <p:nvSpPr>
          <p:cNvPr id="4" name="Text 1"/>
          <p:cNvSpPr/>
          <p:nvPr/>
        </p:nvSpPr>
        <p:spPr>
          <a:xfrm>
            <a:off x="685800" y="1783080"/>
            <a:ext cx="7315200" cy="237744"/>
          </a:xfrm>
          <a:prstGeom prst="rect">
            <a:avLst/>
          </a:prstGeom>
          <a:noFill/>
          <a:ln/>
        </p:spPr>
        <p:txBody>
          <a:bodyPr wrap="square" lIns="0" tIns="0" rIns="0" bIns="0" rtlCol="0" anchor="ctr"/>
          <a:lstStyle/>
          <a:p>
            <a:pPr indent="0" marL="0">
              <a:buNone/>
            </a:pPr>
            <a:r>
              <a:rPr lang="en-US" sz="1050" b="1" spc="200" kern="0" dirty="0">
                <a:solidFill>
                  <a:srgbClr val="0BB165"/>
                </a:solidFill>
                <a:latin typeface="Arial" pitchFamily="34" charset="0"/>
                <a:ea typeface="Arial" pitchFamily="34" charset="-122"/>
                <a:cs typeface="Arial" pitchFamily="34" charset="-120"/>
              </a:rPr>
              <a:t>PROCHAINE ÉTAPE</a:t>
            </a:r>
            <a:endParaRPr lang="en-US" sz="1050" dirty="0"/>
          </a:p>
        </p:txBody>
      </p:sp>
      <p:sp>
        <p:nvSpPr>
          <p:cNvPr id="5" name="Text 2"/>
          <p:cNvSpPr/>
          <p:nvPr/>
        </p:nvSpPr>
        <p:spPr>
          <a:xfrm>
            <a:off x="685800" y="2121408"/>
            <a:ext cx="8778240" cy="822960"/>
          </a:xfrm>
          <a:prstGeom prst="rect">
            <a:avLst/>
          </a:prstGeom>
          <a:noFill/>
          <a:ln/>
        </p:spPr>
        <p:txBody>
          <a:bodyPr wrap="square" lIns="0" tIns="0" rIns="0" bIns="0" rtlCol="0" anchor="ctr"/>
          <a:lstStyle/>
          <a:p>
            <a:pPr indent="0" marL="0">
              <a:buNone/>
            </a:pPr>
            <a:r>
              <a:rPr lang="en-US" sz="3800" b="1" spc="-60" kern="0" dirty="0">
                <a:solidFill>
                  <a:srgbClr val="FFFFFF"/>
                </a:solidFill>
                <a:latin typeface="Arial" pitchFamily="34" charset="0"/>
                <a:ea typeface="Arial" pitchFamily="34" charset="-122"/>
                <a:cs typeface="Arial" pitchFamily="34" charset="-120"/>
              </a:rPr>
              <a:t>Lançons le pilote Moov Côte d'Ivoire</a:t>
            </a:r>
            <a:endParaRPr lang="en-US" sz="3800" dirty="0"/>
          </a:p>
        </p:txBody>
      </p:sp>
      <p:sp>
        <p:nvSpPr>
          <p:cNvPr id="6" name="Text 3"/>
          <p:cNvSpPr/>
          <p:nvPr/>
        </p:nvSpPr>
        <p:spPr>
          <a:xfrm>
            <a:off x="685800" y="2999232"/>
            <a:ext cx="7863840" cy="777240"/>
          </a:xfrm>
          <a:prstGeom prst="rect">
            <a:avLst/>
          </a:prstGeom>
          <a:noFill/>
          <a:ln/>
        </p:spPr>
        <p:txBody>
          <a:bodyPr wrap="square" lIns="0" tIns="0" rIns="0" bIns="0" rtlCol="0" anchor="t"/>
          <a:lstStyle/>
          <a:p>
            <a:pPr indent="0" marL="0">
              <a:lnSpc>
                <a:spcPts val="2000"/>
              </a:lnSpc>
              <a:buNone/>
            </a:pPr>
            <a:r>
              <a:rPr lang="en-US" sz="1300" dirty="0">
                <a:solidFill>
                  <a:srgbClr val="93A9BF"/>
                </a:solidFill>
                <a:latin typeface="Arial" pitchFamily="34" charset="0"/>
                <a:ea typeface="Arial" pitchFamily="34" charset="-122"/>
                <a:cs typeface="Arial" pitchFamily="34" charset="-120"/>
              </a:rPr>
              <a:t>Cambiste propose d'engager avec Moov Côte d'Ivoire le cadrage commercial, conformité et technique nécessaire au lancement d'un pilote encadré de paiements transfrontaliers.</a:t>
            </a:r>
            <a:endParaRPr lang="en-US" sz="1300" dirty="0"/>
          </a:p>
        </p:txBody>
      </p:sp>
      <p:sp>
        <p:nvSpPr>
          <p:cNvPr id="7" name="Shape 4"/>
          <p:cNvSpPr/>
          <p:nvPr/>
        </p:nvSpPr>
        <p:spPr>
          <a:xfrm>
            <a:off x="685800" y="4023360"/>
            <a:ext cx="3301898" cy="1078992"/>
          </a:xfrm>
          <a:prstGeom prst="roundRect">
            <a:avLst>
              <a:gd name="adj" fmla="val 13559"/>
            </a:avLst>
          </a:prstGeom>
          <a:solidFill>
            <a:srgbClr val="12304F"/>
          </a:solidFill>
          <a:ln w="12700">
            <a:solidFill>
              <a:srgbClr val="1D4064"/>
            </a:solidFill>
            <a:prstDash val="solid"/>
          </a:ln>
        </p:spPr>
      </p:sp>
      <p:sp>
        <p:nvSpPr>
          <p:cNvPr id="8" name="Text 5"/>
          <p:cNvSpPr/>
          <p:nvPr/>
        </p:nvSpPr>
        <p:spPr>
          <a:xfrm>
            <a:off x="978408" y="4224528"/>
            <a:ext cx="731520" cy="274320"/>
          </a:xfrm>
          <a:prstGeom prst="rect">
            <a:avLst/>
          </a:prstGeom>
          <a:noFill/>
          <a:ln/>
        </p:spPr>
        <p:txBody>
          <a:bodyPr wrap="square" lIns="0" tIns="0" rIns="0" bIns="0" rtlCol="0" anchor="ctr"/>
          <a:lstStyle/>
          <a:p>
            <a:pPr indent="0" marL="0">
              <a:buNone/>
            </a:pPr>
            <a:r>
              <a:rPr lang="en-US" sz="1200" b="1" spc="50" kern="0" dirty="0">
                <a:solidFill>
                  <a:srgbClr val="0BB165"/>
                </a:solidFill>
                <a:latin typeface="Arial" pitchFamily="34" charset="0"/>
                <a:ea typeface="Arial" pitchFamily="34" charset="-122"/>
                <a:cs typeface="Arial" pitchFamily="34" charset="-120"/>
              </a:rPr>
              <a:t>01</a:t>
            </a:r>
            <a:endParaRPr lang="en-US" sz="1200" dirty="0"/>
          </a:p>
        </p:txBody>
      </p:sp>
      <p:sp>
        <p:nvSpPr>
          <p:cNvPr id="9" name="Text 6"/>
          <p:cNvSpPr/>
          <p:nvPr/>
        </p:nvSpPr>
        <p:spPr>
          <a:xfrm>
            <a:off x="978408" y="4535424"/>
            <a:ext cx="2716682" cy="457200"/>
          </a:xfrm>
          <a:prstGeom prst="rect">
            <a:avLst/>
          </a:prstGeom>
          <a:noFill/>
          <a:ln/>
        </p:spPr>
        <p:txBody>
          <a:bodyPr wrap="square" lIns="0" tIns="0" rIns="0" bIns="0" rtlCol="0" anchor="t"/>
          <a:lstStyle/>
          <a:p>
            <a:pPr indent="0" marL="0">
              <a:lnSpc>
                <a:spcPts val="1600"/>
              </a:lnSpc>
              <a:buNone/>
            </a:pPr>
            <a:r>
              <a:rPr lang="en-US" sz="1200" b="1" dirty="0">
                <a:solidFill>
                  <a:srgbClr val="FFFFFF"/>
                </a:solidFill>
                <a:latin typeface="Arial" pitchFamily="34" charset="0"/>
                <a:ea typeface="Arial" pitchFamily="34" charset="-122"/>
                <a:cs typeface="Arial" pitchFamily="34" charset="-120"/>
              </a:rPr>
              <a:t>Confirmer l'intérêt pour le pilote</a:t>
            </a:r>
            <a:endParaRPr lang="en-US" sz="1200" dirty="0"/>
          </a:p>
        </p:txBody>
      </p:sp>
      <p:sp>
        <p:nvSpPr>
          <p:cNvPr id="10" name="Shape 7"/>
          <p:cNvSpPr/>
          <p:nvPr/>
        </p:nvSpPr>
        <p:spPr>
          <a:xfrm>
            <a:off x="4444898" y="4023360"/>
            <a:ext cx="3301898" cy="1078992"/>
          </a:xfrm>
          <a:prstGeom prst="roundRect">
            <a:avLst>
              <a:gd name="adj" fmla="val 13559"/>
            </a:avLst>
          </a:prstGeom>
          <a:solidFill>
            <a:srgbClr val="12304F"/>
          </a:solidFill>
          <a:ln w="12700">
            <a:solidFill>
              <a:srgbClr val="1D4064"/>
            </a:solidFill>
            <a:prstDash val="solid"/>
          </a:ln>
        </p:spPr>
      </p:sp>
      <p:sp>
        <p:nvSpPr>
          <p:cNvPr id="11" name="Text 8"/>
          <p:cNvSpPr/>
          <p:nvPr/>
        </p:nvSpPr>
        <p:spPr>
          <a:xfrm>
            <a:off x="4737506" y="4224528"/>
            <a:ext cx="731520" cy="274320"/>
          </a:xfrm>
          <a:prstGeom prst="rect">
            <a:avLst/>
          </a:prstGeom>
          <a:noFill/>
          <a:ln/>
        </p:spPr>
        <p:txBody>
          <a:bodyPr wrap="square" lIns="0" tIns="0" rIns="0" bIns="0" rtlCol="0" anchor="ctr"/>
          <a:lstStyle/>
          <a:p>
            <a:pPr indent="0" marL="0">
              <a:buNone/>
            </a:pPr>
            <a:r>
              <a:rPr lang="en-US" sz="1200" b="1" spc="50" kern="0" dirty="0">
                <a:solidFill>
                  <a:srgbClr val="0BB165"/>
                </a:solidFill>
                <a:latin typeface="Arial" pitchFamily="34" charset="0"/>
                <a:ea typeface="Arial" pitchFamily="34" charset="-122"/>
                <a:cs typeface="Arial" pitchFamily="34" charset="-120"/>
              </a:rPr>
              <a:t>02</a:t>
            </a:r>
            <a:endParaRPr lang="en-US" sz="1200" dirty="0"/>
          </a:p>
        </p:txBody>
      </p:sp>
      <p:sp>
        <p:nvSpPr>
          <p:cNvPr id="12" name="Text 9"/>
          <p:cNvSpPr/>
          <p:nvPr/>
        </p:nvSpPr>
        <p:spPr>
          <a:xfrm>
            <a:off x="4737506" y="4535424"/>
            <a:ext cx="2716682" cy="457200"/>
          </a:xfrm>
          <a:prstGeom prst="rect">
            <a:avLst/>
          </a:prstGeom>
          <a:noFill/>
          <a:ln/>
        </p:spPr>
        <p:txBody>
          <a:bodyPr wrap="square" lIns="0" tIns="0" rIns="0" bIns="0" rtlCol="0" anchor="t"/>
          <a:lstStyle/>
          <a:p>
            <a:pPr indent="0" marL="0">
              <a:lnSpc>
                <a:spcPts val="1600"/>
              </a:lnSpc>
              <a:buNone/>
            </a:pPr>
            <a:r>
              <a:rPr lang="en-US" sz="1200" b="1" dirty="0">
                <a:solidFill>
                  <a:srgbClr val="FFFFFF"/>
                </a:solidFill>
                <a:latin typeface="Arial" pitchFamily="34" charset="0"/>
                <a:ea typeface="Arial" pitchFamily="34" charset="-122"/>
                <a:cs typeface="Arial" pitchFamily="34" charset="-120"/>
              </a:rPr>
              <a:t>Désigner les référents Business, Conformité et Technique</a:t>
            </a:r>
            <a:endParaRPr lang="en-US" sz="1200" dirty="0"/>
          </a:p>
        </p:txBody>
      </p:sp>
      <p:sp>
        <p:nvSpPr>
          <p:cNvPr id="13" name="Shape 10"/>
          <p:cNvSpPr/>
          <p:nvPr/>
        </p:nvSpPr>
        <p:spPr>
          <a:xfrm>
            <a:off x="8203997" y="4023360"/>
            <a:ext cx="3301898" cy="1078992"/>
          </a:xfrm>
          <a:prstGeom prst="roundRect">
            <a:avLst>
              <a:gd name="adj" fmla="val 13559"/>
            </a:avLst>
          </a:prstGeom>
          <a:solidFill>
            <a:srgbClr val="12304F"/>
          </a:solidFill>
          <a:ln w="12700">
            <a:solidFill>
              <a:srgbClr val="1D4064"/>
            </a:solidFill>
            <a:prstDash val="solid"/>
          </a:ln>
        </p:spPr>
      </p:sp>
      <p:sp>
        <p:nvSpPr>
          <p:cNvPr id="14" name="Text 11"/>
          <p:cNvSpPr/>
          <p:nvPr/>
        </p:nvSpPr>
        <p:spPr>
          <a:xfrm>
            <a:off x="8496605" y="4224528"/>
            <a:ext cx="731520" cy="274320"/>
          </a:xfrm>
          <a:prstGeom prst="rect">
            <a:avLst/>
          </a:prstGeom>
          <a:noFill/>
          <a:ln/>
        </p:spPr>
        <p:txBody>
          <a:bodyPr wrap="square" lIns="0" tIns="0" rIns="0" bIns="0" rtlCol="0" anchor="ctr"/>
          <a:lstStyle/>
          <a:p>
            <a:pPr indent="0" marL="0">
              <a:buNone/>
            </a:pPr>
            <a:r>
              <a:rPr lang="en-US" sz="1200" b="1" spc="50" kern="0" dirty="0">
                <a:solidFill>
                  <a:srgbClr val="0BB165"/>
                </a:solidFill>
                <a:latin typeface="Arial" pitchFamily="34" charset="0"/>
                <a:ea typeface="Arial" pitchFamily="34" charset="-122"/>
                <a:cs typeface="Arial" pitchFamily="34" charset="-120"/>
              </a:rPr>
              <a:t>03</a:t>
            </a:r>
            <a:endParaRPr lang="en-US" sz="1200" dirty="0"/>
          </a:p>
        </p:txBody>
      </p:sp>
      <p:sp>
        <p:nvSpPr>
          <p:cNvPr id="15" name="Text 12"/>
          <p:cNvSpPr/>
          <p:nvPr/>
        </p:nvSpPr>
        <p:spPr>
          <a:xfrm>
            <a:off x="8496605" y="4535424"/>
            <a:ext cx="2716682" cy="457200"/>
          </a:xfrm>
          <a:prstGeom prst="rect">
            <a:avLst/>
          </a:prstGeom>
          <a:noFill/>
          <a:ln/>
        </p:spPr>
        <p:txBody>
          <a:bodyPr wrap="square" lIns="0" tIns="0" rIns="0" bIns="0" rtlCol="0" anchor="t"/>
          <a:lstStyle/>
          <a:p>
            <a:pPr indent="0" marL="0">
              <a:lnSpc>
                <a:spcPts val="1600"/>
              </a:lnSpc>
              <a:buNone/>
            </a:pPr>
            <a:r>
              <a:rPr lang="en-US" sz="1200" b="1" dirty="0">
                <a:solidFill>
                  <a:srgbClr val="FFFFFF"/>
                </a:solidFill>
                <a:latin typeface="Arial" pitchFamily="34" charset="0"/>
                <a:ea typeface="Arial" pitchFamily="34" charset="-122"/>
                <a:cs typeface="Arial" pitchFamily="34" charset="-120"/>
              </a:rPr>
              <a:t>Planifier la réunion de lancement</a:t>
            </a:r>
            <a:endParaRPr lang="en-US" sz="1200" dirty="0"/>
          </a:p>
        </p:txBody>
      </p:sp>
      <p:sp>
        <p:nvSpPr>
          <p:cNvPr id="16" name="Shape 13"/>
          <p:cNvSpPr/>
          <p:nvPr/>
        </p:nvSpPr>
        <p:spPr>
          <a:xfrm>
            <a:off x="685800" y="5559552"/>
            <a:ext cx="4480560" cy="658368"/>
          </a:xfrm>
          <a:prstGeom prst="roundRect">
            <a:avLst>
              <a:gd name="adj" fmla="val 27778"/>
            </a:avLst>
          </a:prstGeom>
          <a:solidFill>
            <a:srgbClr val="0BB165"/>
          </a:solidFill>
          <a:ln/>
          <a:effectLst>
            <a:outerShdw sx="100000" sy="100000" kx="0" ky="0" algn="bl" rotWithShape="0" blurRad="254000" dist="50800" dir="5400000">
              <a:srgbClr val="0BB165">
                <a:alpha val="35000"/>
              </a:srgbClr>
            </a:outerShdw>
          </a:effectLst>
        </p:spPr>
      </p:sp>
      <p:sp>
        <p:nvSpPr>
          <p:cNvPr id="17" name="Text 14"/>
          <p:cNvSpPr/>
          <p:nvPr/>
        </p:nvSpPr>
        <p:spPr>
          <a:xfrm>
            <a:off x="685800" y="5559552"/>
            <a:ext cx="4480560" cy="658368"/>
          </a:xfrm>
          <a:prstGeom prst="rect">
            <a:avLst/>
          </a:prstGeom>
          <a:noFill/>
          <a:ln/>
        </p:spPr>
        <p:txBody>
          <a:bodyPr wrap="square" lIns="0" tIns="0" rIns="0" bIns="0" rtlCol="0" anchor="ctr"/>
          <a:lstStyle/>
          <a:p>
            <a:pPr algn="ctr" indent="0" marL="0">
              <a:buNone/>
            </a:pPr>
            <a:r>
              <a:rPr lang="en-US" sz="1350" b="1" spc="100" kern="0" dirty="0">
                <a:solidFill>
                  <a:srgbClr val="FFFFFF"/>
                </a:solidFill>
                <a:latin typeface="Arial" pitchFamily="34" charset="0"/>
                <a:ea typeface="Arial" pitchFamily="34" charset="-122"/>
                <a:cs typeface="Arial" pitchFamily="34" charset="-120"/>
              </a:rPr>
              <a:t>PASSER AU CADRAGE DU PILOTE</a:t>
            </a:r>
            <a:endParaRPr lang="en-US" sz="1350" dirty="0"/>
          </a:p>
        </p:txBody>
      </p:sp>
      <p:sp>
        <p:nvSpPr>
          <p:cNvPr id="18" name="Text 15"/>
          <p:cNvSpPr/>
          <p:nvPr/>
        </p:nvSpPr>
        <p:spPr>
          <a:xfrm>
            <a:off x="8579815" y="5559552"/>
            <a:ext cx="2926080" cy="658368"/>
          </a:xfrm>
          <a:prstGeom prst="rect">
            <a:avLst/>
          </a:prstGeom>
          <a:noFill/>
          <a:ln/>
        </p:spPr>
        <p:txBody>
          <a:bodyPr wrap="square" lIns="0" tIns="0" rIns="0" bIns="0" rtlCol="0" anchor="ctr"/>
          <a:lstStyle/>
          <a:p>
            <a:pPr algn="r" indent="0" marL="0">
              <a:buNone/>
            </a:pPr>
            <a:r>
              <a:rPr lang="en-US" sz="1100" b="1" spc="120" kern="0" dirty="0">
                <a:solidFill>
                  <a:srgbClr val="6C8299"/>
                </a:solidFill>
                <a:latin typeface="Arial" pitchFamily="34" charset="0"/>
                <a:ea typeface="Arial" pitchFamily="34" charset="-122"/>
                <a:cs typeface="Arial" pitchFamily="34" charset="-120"/>
              </a:rPr>
              <a:t>Limitless Africa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Cambiste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Cambiste x Moov Cote d'Ivoire - Proposition de pilote</dc:title>
  <dc:subject>PptxGenJS Presentation</dc:subject>
  <dc:creator>Cambiste</dc:creator>
  <cp:lastModifiedBy>Cambiste</cp:lastModifiedBy>
  <cp:revision>1</cp:revision>
  <dcterms:created xsi:type="dcterms:W3CDTF">2026-08-24T15:01:25Z</dcterms:created>
  <dcterms:modified xsi:type="dcterms:W3CDTF">2026-08-24T15:01:25Z</dcterms:modified>
</cp:coreProperties>
</file>